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6"/>
  </p:notesMasterIdLst>
  <p:handoutMasterIdLst>
    <p:handoutMasterId r:id="rId77"/>
  </p:handoutMasterIdLst>
  <p:sldIdLst>
    <p:sldId id="256" r:id="rId2"/>
    <p:sldId id="257" r:id="rId3"/>
    <p:sldId id="258" r:id="rId4"/>
    <p:sldId id="259" r:id="rId5"/>
    <p:sldId id="260" r:id="rId6"/>
    <p:sldId id="261" r:id="rId7"/>
    <p:sldId id="262" r:id="rId8"/>
    <p:sldId id="263" r:id="rId9"/>
    <p:sldId id="264" r:id="rId10"/>
    <p:sldId id="265" r:id="rId11"/>
    <p:sldId id="335" r:id="rId12"/>
    <p:sldId id="266" r:id="rId13"/>
    <p:sldId id="267" r:id="rId14"/>
    <p:sldId id="268" r:id="rId15"/>
    <p:sldId id="269" r:id="rId16"/>
    <p:sldId id="270" r:id="rId17"/>
    <p:sldId id="334"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342" r:id="rId37"/>
    <p:sldId id="289" r:id="rId38"/>
    <p:sldId id="290" r:id="rId39"/>
    <p:sldId id="291" r:id="rId40"/>
    <p:sldId id="292" r:id="rId41"/>
    <p:sldId id="293" r:id="rId42"/>
    <p:sldId id="294" r:id="rId43"/>
    <p:sldId id="345" r:id="rId44"/>
    <p:sldId id="337" r:id="rId45"/>
    <p:sldId id="343" r:id="rId46"/>
    <p:sldId id="344" r:id="rId47"/>
    <p:sldId id="296" r:id="rId48"/>
    <p:sldId id="298" r:id="rId49"/>
    <p:sldId id="299" r:id="rId50"/>
    <p:sldId id="300" r:id="rId51"/>
    <p:sldId id="358" r:id="rId52"/>
    <p:sldId id="346" r:id="rId53"/>
    <p:sldId id="302" r:id="rId54"/>
    <p:sldId id="347" r:id="rId55"/>
    <p:sldId id="348" r:id="rId56"/>
    <p:sldId id="349" r:id="rId57"/>
    <p:sldId id="304" r:id="rId58"/>
    <p:sldId id="303" r:id="rId59"/>
    <p:sldId id="305" r:id="rId60"/>
    <p:sldId id="306" r:id="rId61"/>
    <p:sldId id="307" r:id="rId62"/>
    <p:sldId id="365" r:id="rId63"/>
    <p:sldId id="360" r:id="rId64"/>
    <p:sldId id="361" r:id="rId65"/>
    <p:sldId id="362" r:id="rId66"/>
    <p:sldId id="363" r:id="rId67"/>
    <p:sldId id="364" r:id="rId68"/>
    <p:sldId id="366" r:id="rId69"/>
    <p:sldId id="367" r:id="rId70"/>
    <p:sldId id="369" r:id="rId71"/>
    <p:sldId id="370" r:id="rId72"/>
    <p:sldId id="368" r:id="rId73"/>
    <p:sldId id="372" r:id="rId74"/>
    <p:sldId id="357" r:id="rId7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F8F8"/>
    <a:srgbClr val="A7F49A"/>
    <a:srgbClr val="99CCFF"/>
    <a:srgbClr val="66FF99"/>
    <a:srgbClr val="009900"/>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6" d="100"/>
          <a:sy n="86" d="100"/>
        </p:scale>
        <p:origin x="-1494" y="-17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9906D2F-3584-40E3-B2BF-AF34394A7DA3}" type="datetimeFigureOut">
              <a:rPr lang="en-US" smtClean="0"/>
              <a:pPr/>
              <a:t>2/18/2026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smtClean="0"/>
              <a:t>Prof. Shaikh S. A.</a:t>
            </a: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DFB5B-08C3-4BCA-A983-9FC61D64F036}" type="slidenum">
              <a:rPr lang="en-US" smtClean="0"/>
              <a:pPr/>
              <a:t>‹#›</a:t>
            </a:fld>
            <a:endParaRPr lang="en-US"/>
          </a:p>
        </p:txBody>
      </p:sp>
    </p:spTree>
    <p:extLst>
      <p:ext uri="{BB962C8B-B14F-4D97-AF65-F5344CB8AC3E}">
        <p14:creationId xmlns:p14="http://schemas.microsoft.com/office/powerpoint/2010/main" val="3937061487"/>
      </p:ext>
    </p:extLst>
  </p:cSld>
  <p:clrMap bg1="lt1" tx1="dk1" bg2="lt2" tx2="dk2" accent1="accent1" accent2="accent2" accent3="accent3" accent4="accent4" accent5="accent5" accent6="accent6" hlink="hlink" folHlink="folHlink"/>
  <p:hf sldNum="0"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F1AFFA2-6E36-4E83-9D66-D185808D2A51}" type="datetimeFigureOut">
              <a:rPr lang="en-US" smtClean="0"/>
              <a:pPr/>
              <a:t>2/18/2026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smtClean="0"/>
              <a:t>Prof. Shaikh S. A.</a:t>
            </a: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8DED26F-EC1A-4CC9-9970-F8DCA2312F48}" type="slidenum">
              <a:rPr lang="en-US" smtClean="0"/>
              <a:pPr/>
              <a:t>‹#›</a:t>
            </a:fld>
            <a:endParaRPr lang="en-US"/>
          </a:p>
        </p:txBody>
      </p:sp>
    </p:spTree>
    <p:extLst>
      <p:ext uri="{BB962C8B-B14F-4D97-AF65-F5344CB8AC3E}">
        <p14:creationId xmlns:p14="http://schemas.microsoft.com/office/powerpoint/2010/main" val="2563481720"/>
      </p:ext>
    </p:extLst>
  </p:cSld>
  <p:clrMap bg1="lt1" tx1="dk1" bg2="lt2" tx2="dk2" accent1="accent1" accent2="accent2" accent3="accent3" accent4="accent4" accent5="accent5" accent6="accent6" hlink="hlink" folHlink="folHlink"/>
  <p:hf sldNum="0"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Prof. Shaikh S. A.</a:t>
            </a:r>
            <a:endParaRPr lang="en-US"/>
          </a:p>
        </p:txBody>
      </p:sp>
    </p:spTree>
    <p:extLst>
      <p:ext uri="{BB962C8B-B14F-4D97-AF65-F5344CB8AC3E}">
        <p14:creationId xmlns:p14="http://schemas.microsoft.com/office/powerpoint/2010/main" val="90915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1048744" name="Shape 21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48745" name="Shape 21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5" name="Footer Placeholder 4"/>
          <p:cNvSpPr>
            <a:spLocks noGrp="1"/>
          </p:cNvSpPr>
          <p:nvPr>
            <p:ph type="ftr" sz="quarter" idx="11"/>
          </p:nvPr>
        </p:nvSpPr>
        <p:spPr/>
        <p:txBody>
          <a:bodyPr/>
          <a:lstStyle/>
          <a:p>
            <a:r>
              <a:rPr lang="en-US" smtClean="0"/>
              <a:t>Prof. Shaikh S. A.</a:t>
            </a: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1048749" name="Shape 21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48750" name="Shape 21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rtl="0">
              <a:spcBef>
                <a:spcPts val="0"/>
              </a:spcBef>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19F1ABD-8F53-4154-B70C-7E72E702AAE1}" type="datetime1">
              <a:rPr lang="en-US" smtClean="0"/>
              <a:pPr/>
              <a:t>2/18/2026</a:t>
            </a:fld>
            <a:endParaRPr lang="en-US"/>
          </a:p>
        </p:txBody>
      </p:sp>
      <p:sp>
        <p:nvSpPr>
          <p:cNvPr id="5" name="Footer Placeholder 4"/>
          <p:cNvSpPr>
            <a:spLocks noGrp="1"/>
          </p:cNvSpPr>
          <p:nvPr>
            <p:ph type="ftr" sz="quarter" idx="11"/>
          </p:nvPr>
        </p:nvSpPr>
        <p:spPr/>
        <p:txBody>
          <a:bodyPr/>
          <a:lstStyle/>
          <a:p>
            <a:r>
              <a:rPr lang="en-US" smtClean="0"/>
              <a:t>Prof. S. A. Shaikh</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9B37C82-9E0D-47BC-A353-E261E9905096}" type="datetime1">
              <a:rPr lang="en-US" smtClean="0"/>
              <a:pPr/>
              <a:t>2/18/2026</a:t>
            </a:fld>
            <a:endParaRPr lang="en-US"/>
          </a:p>
        </p:txBody>
      </p:sp>
      <p:sp>
        <p:nvSpPr>
          <p:cNvPr id="5" name="Footer Placeholder 4"/>
          <p:cNvSpPr>
            <a:spLocks noGrp="1"/>
          </p:cNvSpPr>
          <p:nvPr>
            <p:ph type="ftr" sz="quarter" idx="11"/>
          </p:nvPr>
        </p:nvSpPr>
        <p:spPr/>
        <p:txBody>
          <a:bodyPr/>
          <a:lstStyle/>
          <a:p>
            <a:r>
              <a:rPr lang="en-US" smtClean="0"/>
              <a:t>Prof. S. A. Shaikh</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EB7681E-8F11-4D78-8BE7-CE149B8019B4}" type="datetime1">
              <a:rPr lang="en-US" smtClean="0"/>
              <a:pPr/>
              <a:t>2/18/2026</a:t>
            </a:fld>
            <a:endParaRPr lang="en-US"/>
          </a:p>
        </p:txBody>
      </p:sp>
      <p:sp>
        <p:nvSpPr>
          <p:cNvPr id="5" name="Footer Placeholder 4"/>
          <p:cNvSpPr>
            <a:spLocks noGrp="1"/>
          </p:cNvSpPr>
          <p:nvPr>
            <p:ph type="ftr" sz="quarter" idx="11"/>
          </p:nvPr>
        </p:nvSpPr>
        <p:spPr/>
        <p:txBody>
          <a:bodyPr/>
          <a:lstStyle/>
          <a:p>
            <a:r>
              <a:rPr lang="en-US" smtClean="0"/>
              <a:t>Prof. S. A. Shaikh</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24191CE-8A7B-4DDD-BCF6-364E5A607718}" type="datetime1">
              <a:rPr lang="en-US" smtClean="0"/>
              <a:pPr/>
              <a:t>2/18/2026</a:t>
            </a:fld>
            <a:endParaRPr lang="en-US"/>
          </a:p>
        </p:txBody>
      </p:sp>
      <p:sp>
        <p:nvSpPr>
          <p:cNvPr id="6" name="Footer Placeholder 5"/>
          <p:cNvSpPr>
            <a:spLocks noGrp="1"/>
          </p:cNvSpPr>
          <p:nvPr>
            <p:ph type="ftr" sz="quarter" idx="11"/>
          </p:nvPr>
        </p:nvSpPr>
        <p:spPr/>
        <p:txBody>
          <a:bodyPr/>
          <a:lstStyle/>
          <a:p>
            <a:r>
              <a:rPr lang="en-US" smtClean="0"/>
              <a:t>Prof. S. A. Shaikh</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403417E-90D1-4861-A18B-FA6496268F5D}" type="datetime1">
              <a:rPr lang="en-US" smtClean="0"/>
              <a:pPr/>
              <a:t>2/18/2026</a:t>
            </a:fld>
            <a:endParaRPr lang="en-US"/>
          </a:p>
        </p:txBody>
      </p:sp>
      <p:sp>
        <p:nvSpPr>
          <p:cNvPr id="8" name="Footer Placeholder 7"/>
          <p:cNvSpPr>
            <a:spLocks noGrp="1"/>
          </p:cNvSpPr>
          <p:nvPr>
            <p:ph type="ftr" sz="quarter" idx="11"/>
          </p:nvPr>
        </p:nvSpPr>
        <p:spPr/>
        <p:txBody>
          <a:bodyPr/>
          <a:lstStyle/>
          <a:p>
            <a:r>
              <a:rPr lang="en-US" smtClean="0"/>
              <a:t>Prof. S. A. Shaikh</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1C52A16-8C40-4437-822A-4F8A02B6A3CB}" type="datetime1">
              <a:rPr lang="en-US" smtClean="0"/>
              <a:pPr/>
              <a:t>2/18/2026</a:t>
            </a:fld>
            <a:endParaRPr lang="en-US"/>
          </a:p>
        </p:txBody>
      </p:sp>
      <p:sp>
        <p:nvSpPr>
          <p:cNvPr id="4" name="Footer Placeholder 3"/>
          <p:cNvSpPr>
            <a:spLocks noGrp="1"/>
          </p:cNvSpPr>
          <p:nvPr>
            <p:ph type="ftr" sz="quarter" idx="11"/>
          </p:nvPr>
        </p:nvSpPr>
        <p:spPr/>
        <p:txBody>
          <a:bodyPr/>
          <a:lstStyle/>
          <a:p>
            <a:r>
              <a:rPr lang="en-US" smtClean="0"/>
              <a:t>Prof. S. A. Shaikh</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62FBB1-6934-44E7-BFF9-A66AB79D1124}" type="datetime1">
              <a:rPr lang="en-US" smtClean="0"/>
              <a:pPr/>
              <a:t>2/18/2026</a:t>
            </a:fld>
            <a:endParaRPr lang="en-US"/>
          </a:p>
        </p:txBody>
      </p:sp>
      <p:sp>
        <p:nvSpPr>
          <p:cNvPr id="3" name="Footer Placeholder 2"/>
          <p:cNvSpPr>
            <a:spLocks noGrp="1"/>
          </p:cNvSpPr>
          <p:nvPr>
            <p:ph type="ftr" sz="quarter" idx="11"/>
          </p:nvPr>
        </p:nvSpPr>
        <p:spPr/>
        <p:txBody>
          <a:bodyPr/>
          <a:lstStyle/>
          <a:p>
            <a:r>
              <a:rPr lang="en-US" smtClean="0"/>
              <a:t>Prof. S. A. Shaikh</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E0774B9-77F5-4985-8A8F-4B782B3521FF}" type="datetime1">
              <a:rPr lang="en-US" smtClean="0"/>
              <a:pPr/>
              <a:t>2/18/2026</a:t>
            </a:fld>
            <a:endParaRPr lang="en-US"/>
          </a:p>
        </p:txBody>
      </p:sp>
      <p:sp>
        <p:nvSpPr>
          <p:cNvPr id="6" name="Footer Placeholder 5"/>
          <p:cNvSpPr>
            <a:spLocks noGrp="1"/>
          </p:cNvSpPr>
          <p:nvPr>
            <p:ph type="ftr" sz="quarter" idx="11"/>
          </p:nvPr>
        </p:nvSpPr>
        <p:spPr/>
        <p:txBody>
          <a:bodyPr/>
          <a:lstStyle/>
          <a:p>
            <a:r>
              <a:rPr lang="en-US" smtClean="0"/>
              <a:t>Prof. S. A. Shaikh</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1C03740-53A4-4066-AED9-ABD0CDBD833B}" type="datetime1">
              <a:rPr lang="en-US" smtClean="0"/>
              <a:pPr/>
              <a:t>2/18/2026</a:t>
            </a:fld>
            <a:endParaRPr lang="en-US"/>
          </a:p>
        </p:txBody>
      </p:sp>
      <p:sp>
        <p:nvSpPr>
          <p:cNvPr id="6" name="Footer Placeholder 5"/>
          <p:cNvSpPr>
            <a:spLocks noGrp="1"/>
          </p:cNvSpPr>
          <p:nvPr>
            <p:ph type="ftr" sz="quarter" idx="11"/>
          </p:nvPr>
        </p:nvSpPr>
        <p:spPr/>
        <p:txBody>
          <a:bodyPr/>
          <a:lstStyle/>
          <a:p>
            <a:r>
              <a:rPr lang="en-US" smtClean="0"/>
              <a:t>Prof. S. A. Shaikh</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44080A-D75B-45B5-9479-111F7DE57809}" type="datetime1">
              <a:rPr lang="en-US" smtClean="0"/>
              <a:pPr/>
              <a:t>2/18/2026</a:t>
            </a:fld>
            <a:endParaRPr lang="en-US"/>
          </a:p>
        </p:txBody>
      </p:sp>
      <p:sp>
        <p:nvSpPr>
          <p:cNvPr id="5" name="Footer Placeholder 4"/>
          <p:cNvSpPr>
            <a:spLocks noGrp="1"/>
          </p:cNvSpPr>
          <p:nvPr>
            <p:ph type="ftr" sz="quarter" idx="11"/>
          </p:nvPr>
        </p:nvSpPr>
        <p:spPr/>
        <p:txBody>
          <a:bodyPr/>
          <a:lstStyle/>
          <a:p>
            <a:r>
              <a:rPr lang="en-US" smtClean="0"/>
              <a:t>Prof. S. A. Shaikh</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FECEF-F10C-41E2-935A-112B7B8EF975}" type="datetime1">
              <a:rPr lang="en-US" smtClean="0"/>
              <a:pPr/>
              <a:t>2/18/2026</a:t>
            </a:fld>
            <a:endParaRPr lang="en-US"/>
          </a:p>
        </p:txBody>
      </p:sp>
      <p:sp>
        <p:nvSpPr>
          <p:cNvPr id="5" name="Footer Placeholder 4"/>
          <p:cNvSpPr>
            <a:spLocks noGrp="1"/>
          </p:cNvSpPr>
          <p:nvPr>
            <p:ph type="ftr" sz="quarter" idx="11"/>
          </p:nvPr>
        </p:nvSpPr>
        <p:spPr/>
        <p:txBody>
          <a:bodyPr/>
          <a:lstStyle/>
          <a:p>
            <a:r>
              <a:rPr lang="en-US" smtClean="0"/>
              <a:t>Prof. S. A. Shaikh</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6"/>
        <p:cNvGrpSpPr/>
        <p:nvPr/>
      </p:nvGrpSpPr>
      <p:grpSpPr>
        <a:xfrm>
          <a:off x="0" y="0"/>
          <a:ext cx="0" cy="0"/>
          <a:chOff x="0" y="0"/>
          <a:chExt cx="0" cy="0"/>
        </a:xfrm>
      </p:grpSpPr>
      <p:sp>
        <p:nvSpPr>
          <p:cNvPr id="1048656" name="Shape 17"/>
          <p:cNvSpPr txBox="1">
            <a:spLocks noGrp="1"/>
          </p:cNvSpPr>
          <p:nvPr>
            <p:ph type="title"/>
          </p:nvPr>
        </p:nvSpPr>
        <p:spPr>
          <a:xfrm>
            <a:off x="311700" y="593367"/>
            <a:ext cx="8520600" cy="763600"/>
          </a:xfrm>
          <a:prstGeom prst="rect">
            <a:avLst/>
          </a:prstGeom>
        </p:spPr>
        <p:txBody>
          <a:bodyPr wrap="square" lIns="91425" tIns="91425" rIns="91425" bIns="91425" anchor="t" anchorCtr="0"/>
          <a:lstStyle>
            <a:lvl1pPr lvl="0">
              <a:spcBef>
                <a:spcPts val="0"/>
              </a:spcBef>
              <a:buSzPts val="2800"/>
              <a:buNone/>
            </a:lvl1pPr>
            <a:lvl2pPr lvl="1">
              <a:spcBef>
                <a:spcPts val="0"/>
              </a:spcBef>
              <a:buSzPts val="2800"/>
              <a:buNone/>
            </a:lvl2pPr>
            <a:lvl3pPr lvl="2">
              <a:spcBef>
                <a:spcPts val="0"/>
              </a:spcBef>
              <a:buSzPts val="2800"/>
              <a:buNone/>
            </a:lvl3pPr>
            <a:lvl4pPr lvl="3">
              <a:spcBef>
                <a:spcPts val="0"/>
              </a:spcBef>
              <a:buSzPts val="2800"/>
              <a:buNone/>
            </a:lvl4pPr>
            <a:lvl5pPr lvl="4">
              <a:spcBef>
                <a:spcPts val="0"/>
              </a:spcBef>
              <a:buSzPts val="2800"/>
              <a:buNone/>
            </a:lvl5pPr>
            <a:lvl6pPr lvl="5">
              <a:spcBef>
                <a:spcPts val="0"/>
              </a:spcBef>
              <a:buSzPts val="2800"/>
              <a:buNone/>
            </a:lvl6pPr>
            <a:lvl7pPr lvl="6">
              <a:spcBef>
                <a:spcPts val="0"/>
              </a:spcBef>
              <a:buSzPts val="2800"/>
              <a:buNone/>
            </a:lvl7pPr>
            <a:lvl8pPr lvl="7">
              <a:spcBef>
                <a:spcPts val="0"/>
              </a:spcBef>
              <a:buSzPts val="2800"/>
              <a:buNone/>
            </a:lvl8pPr>
            <a:lvl9pPr lvl="8">
              <a:spcBef>
                <a:spcPts val="0"/>
              </a:spcBef>
              <a:buSzPts val="2800"/>
              <a:buNone/>
            </a:lvl9pPr>
          </a:lstStyle>
          <a:p>
            <a:endParaRPr/>
          </a:p>
        </p:txBody>
      </p:sp>
      <p:sp>
        <p:nvSpPr>
          <p:cNvPr id="1048657" name="Shape 18"/>
          <p:cNvSpPr txBox="1">
            <a:spLocks noGrp="1"/>
          </p:cNvSpPr>
          <p:nvPr>
            <p:ph type="body" idx="1"/>
          </p:nvPr>
        </p:nvSpPr>
        <p:spPr>
          <a:xfrm>
            <a:off x="311700" y="1536633"/>
            <a:ext cx="8520600" cy="4555200"/>
          </a:xfrm>
          <a:prstGeom prst="rect">
            <a:avLst/>
          </a:prstGeom>
        </p:spPr>
        <p:txBody>
          <a:bodyPr wrap="square" lIns="91425" tIns="91425" rIns="91425" bIns="91425" anchor="t" anchorCtr="0"/>
          <a:lstStyle>
            <a:lvl1pPr lvl="0">
              <a:spcBef>
                <a:spcPts val="0"/>
              </a:spcBef>
              <a:buSzPts val="1800"/>
              <a:buChar char="●"/>
            </a:lvl1pPr>
            <a:lvl2pPr lvl="1">
              <a:spcBef>
                <a:spcPts val="0"/>
              </a:spcBef>
              <a:buSzPts val="1400"/>
              <a:buChar char="○"/>
            </a:lvl2pPr>
            <a:lvl3pPr lvl="2">
              <a:spcBef>
                <a:spcPts val="0"/>
              </a:spcBef>
              <a:buSzPts val="1400"/>
              <a:buChar char="■"/>
            </a:lvl3pPr>
            <a:lvl4pPr lvl="3">
              <a:spcBef>
                <a:spcPts val="0"/>
              </a:spcBef>
              <a:buSzPts val="1400"/>
              <a:buChar char="●"/>
            </a:lvl4pPr>
            <a:lvl5pPr lvl="4">
              <a:spcBef>
                <a:spcPts val="0"/>
              </a:spcBef>
              <a:buSzPts val="1400"/>
              <a:buChar char="○"/>
            </a:lvl5pPr>
            <a:lvl6pPr lvl="5">
              <a:spcBef>
                <a:spcPts val="0"/>
              </a:spcBef>
              <a:buSzPts val="1400"/>
              <a:buChar char="■"/>
            </a:lvl6pPr>
            <a:lvl7pPr lvl="6">
              <a:spcBef>
                <a:spcPts val="0"/>
              </a:spcBef>
              <a:buSzPts val="1400"/>
              <a:buChar char="●"/>
            </a:lvl7pPr>
            <a:lvl8pPr lvl="7">
              <a:spcBef>
                <a:spcPts val="0"/>
              </a:spcBef>
              <a:buSzPts val="1400"/>
              <a:buChar char="○"/>
            </a:lvl8pPr>
            <a:lvl9pPr lvl="8">
              <a:spcBef>
                <a:spcPts val="0"/>
              </a:spcBef>
              <a:buSzPts val="1400"/>
              <a:buChar char="■"/>
            </a:lvl9pPr>
          </a:lstStyle>
          <a:p>
            <a:endParaRPr/>
          </a:p>
        </p:txBody>
      </p:sp>
      <p:sp>
        <p:nvSpPr>
          <p:cNvPr id="1048658" name="Shape 19"/>
          <p:cNvSpPr txBox="1">
            <a:spLocks noGrp="1"/>
          </p:cNvSpPr>
          <p:nvPr>
            <p:ph type="sldNum" idx="12"/>
          </p:nvPr>
        </p:nvSpPr>
        <p:spPr>
          <a:xfrm>
            <a:off x="8472458" y="6217623"/>
            <a:ext cx="548700" cy="5248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
              <a:t>‹#›</a:t>
            </a:fld>
            <a:endParaRPr lang="en"/>
          </a:p>
        </p:txBody>
      </p:sp>
    </p:spTree>
    <p:extLst>
      <p:ext uri="{BB962C8B-B14F-4D97-AF65-F5344CB8AC3E}">
        <p14:creationId xmlns:p14="http://schemas.microsoft.com/office/powerpoint/2010/main" val="35794993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F64173-A2B9-4983-8AE9-3765D3451E5C}" type="datetime1">
              <a:rPr lang="en-US" smtClean="0"/>
              <a:pPr/>
              <a:t>2/18/2026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Prof. S. A. Shaikh</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8.gi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838199"/>
          </a:xfrm>
        </p:spPr>
        <p:txBody>
          <a:bodyPr>
            <a:noAutofit/>
          </a:bodyPr>
          <a:lstStyle/>
          <a:p>
            <a:pPr>
              <a:lnSpc>
                <a:spcPct val="150000"/>
              </a:lnSpc>
            </a:pPr>
            <a:r>
              <a:rPr lang="en-US" sz="2400" b="1" dirty="0" smtClean="0"/>
              <a:t/>
            </a:r>
            <a:br>
              <a:rPr lang="en-US" sz="2400" b="1" dirty="0" smtClean="0"/>
            </a:br>
            <a:r>
              <a:rPr lang="en-US" sz="3000" b="1" dirty="0" smtClean="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UNIT III: ARM7 Based Microcontrollers LPC </a:t>
            </a:r>
            <a:r>
              <a:rPr lang="en-US" sz="30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2148</a:t>
            </a:r>
            <a:r>
              <a:rPr lang="en-US" sz="3200" dirty="0" smtClean="0">
                <a:latin typeface="Times New Roman" pitchFamily="18" charset="0"/>
                <a:cs typeface="Times New Roman" pitchFamily="18" charset="0"/>
              </a:rPr>
              <a:t/>
            </a:r>
            <a:br>
              <a:rPr lang="en-US" sz="3200" dirty="0" smtClean="0">
                <a:latin typeface="Times New Roman" pitchFamily="18" charset="0"/>
                <a:cs typeface="Times New Roman" pitchFamily="18" charset="0"/>
              </a:rPr>
            </a:br>
            <a:endParaRPr lang="en-US" sz="3200" dirty="0">
              <a:latin typeface="Times New Roman" pitchFamily="18" charset="0"/>
              <a:cs typeface="Times New Roman" pitchFamily="18" charset="0"/>
            </a:endParaRPr>
          </a:p>
        </p:txBody>
      </p:sp>
      <p:sp>
        <p:nvSpPr>
          <p:cNvPr id="3" name="Subtitle 2"/>
          <p:cNvSpPr>
            <a:spLocks noGrp="1"/>
          </p:cNvSpPr>
          <p:nvPr>
            <p:ph type="subTitle" idx="1"/>
          </p:nvPr>
        </p:nvSpPr>
        <p:spPr>
          <a:xfrm>
            <a:off x="304800" y="990600"/>
            <a:ext cx="8686800" cy="5410200"/>
          </a:xfrm>
        </p:spPr>
        <p:txBody>
          <a:bodyPr>
            <a:noAutofit/>
          </a:bodyPr>
          <a:lstStyle/>
          <a:p>
            <a:pPr algn="l"/>
            <a:r>
              <a:rPr lang="en-US" sz="1050" b="1" i="1" dirty="0" smtClean="0"/>
              <a:t>		                         </a:t>
            </a:r>
            <a:r>
              <a:rPr lang="en-US" dirty="0" smtClean="0">
                <a:solidFill>
                  <a:schemeClr val="tx1"/>
                </a:solidFill>
                <a:effectLst>
                  <a:outerShdw blurRad="38100" dist="38100" dir="2700000" algn="tl">
                    <a:srgbClr val="000000">
                      <a:alpha val="43137"/>
                    </a:srgbClr>
                  </a:outerShdw>
                </a:effectLst>
                <a:latin typeface="Aharoni" pitchFamily="2" charset="-79"/>
                <a:cs typeface="Aharoni" pitchFamily="2" charset="-79"/>
              </a:rPr>
              <a:t>Contents</a:t>
            </a:r>
            <a:endParaRPr lang="en-US" sz="1400" dirty="0" smtClean="0">
              <a:solidFill>
                <a:schemeClr val="tx1"/>
              </a:solidFill>
              <a:latin typeface="Aharoni" pitchFamily="2" charset="-79"/>
              <a:cs typeface="Aharoni" pitchFamily="2" charset="-79"/>
            </a:endParaRPr>
          </a:p>
          <a:p>
            <a:pPr lvl="0" algn="l" hangingPunct="0"/>
            <a:r>
              <a:rPr lang="en-US" dirty="0">
                <a:solidFill>
                  <a:srgbClr val="000000"/>
                </a:solidFill>
                <a:latin typeface="Times New Roman"/>
              </a:rPr>
              <a:t>ARM7 Based Microcontroller LPC2148: </a:t>
            </a:r>
            <a:endParaRPr lang="en-US" dirty="0" smtClean="0">
              <a:solidFill>
                <a:srgbClr val="000000"/>
              </a:solidFill>
              <a:latin typeface="Times New Roman"/>
            </a:endParaRPr>
          </a:p>
          <a:p>
            <a:pPr lvl="0" algn="l" hangingPunct="0"/>
            <a:r>
              <a:rPr lang="en-US" dirty="0" smtClean="0">
                <a:solidFill>
                  <a:srgbClr val="000000"/>
                </a:solidFill>
                <a:latin typeface="Times New Roman"/>
              </a:rPr>
              <a:t>Features</a:t>
            </a:r>
            <a:r>
              <a:rPr lang="en-US" dirty="0">
                <a:solidFill>
                  <a:srgbClr val="000000"/>
                </a:solidFill>
                <a:latin typeface="Times New Roman"/>
              </a:rPr>
              <a:t>, Architecture its </a:t>
            </a:r>
            <a:r>
              <a:rPr lang="en-US" dirty="0" smtClean="0">
                <a:solidFill>
                  <a:srgbClr val="000000"/>
                </a:solidFill>
                <a:latin typeface="Times New Roman"/>
              </a:rPr>
              <a:t>Description</a:t>
            </a:r>
          </a:p>
          <a:p>
            <a:pPr lvl="0" algn="l" hangingPunct="0"/>
            <a:r>
              <a:rPr lang="en-US" dirty="0" smtClean="0">
                <a:solidFill>
                  <a:srgbClr val="000000"/>
                </a:solidFill>
                <a:latin typeface="Times New Roman"/>
              </a:rPr>
              <a:t>System </a:t>
            </a:r>
            <a:r>
              <a:rPr lang="en-US" dirty="0">
                <a:solidFill>
                  <a:srgbClr val="000000"/>
                </a:solidFill>
                <a:latin typeface="Times New Roman"/>
              </a:rPr>
              <a:t>Control Block ( PLL and VPB divider), </a:t>
            </a:r>
            <a:endParaRPr lang="en-US" dirty="0" smtClean="0">
              <a:solidFill>
                <a:srgbClr val="000000"/>
              </a:solidFill>
              <a:latin typeface="Times New Roman"/>
            </a:endParaRPr>
          </a:p>
          <a:p>
            <a:pPr lvl="0" algn="l" hangingPunct="0"/>
            <a:r>
              <a:rPr lang="en-US" dirty="0" smtClean="0">
                <a:solidFill>
                  <a:srgbClr val="000000"/>
                </a:solidFill>
                <a:latin typeface="Times New Roman"/>
              </a:rPr>
              <a:t>GPIO</a:t>
            </a:r>
            <a:r>
              <a:rPr lang="en-US" dirty="0">
                <a:solidFill>
                  <a:srgbClr val="000000"/>
                </a:solidFill>
                <a:latin typeface="Times New Roman"/>
              </a:rPr>
              <a:t>, Pin Connect Block, </a:t>
            </a:r>
            <a:endParaRPr lang="en-US" dirty="0" smtClean="0">
              <a:solidFill>
                <a:srgbClr val="000000"/>
              </a:solidFill>
              <a:latin typeface="Times New Roman"/>
            </a:endParaRPr>
          </a:p>
          <a:p>
            <a:pPr lvl="0" algn="l" hangingPunct="0"/>
            <a:r>
              <a:rPr lang="en-US" dirty="0" smtClean="0">
                <a:solidFill>
                  <a:srgbClr val="000000"/>
                </a:solidFill>
                <a:latin typeface="Times New Roman"/>
              </a:rPr>
              <a:t>timer</a:t>
            </a:r>
            <a:r>
              <a:rPr lang="en-US" dirty="0">
                <a:solidFill>
                  <a:srgbClr val="000000"/>
                </a:solidFill>
                <a:latin typeface="Times New Roman"/>
              </a:rPr>
              <a:t>, </a:t>
            </a:r>
            <a:endParaRPr lang="en-US" dirty="0" smtClean="0">
              <a:solidFill>
                <a:srgbClr val="000000"/>
              </a:solidFill>
              <a:latin typeface="Times New Roman"/>
            </a:endParaRPr>
          </a:p>
          <a:p>
            <a:pPr lvl="0" algn="l" hangingPunct="0"/>
            <a:r>
              <a:rPr lang="en-US" dirty="0" smtClean="0">
                <a:solidFill>
                  <a:srgbClr val="000000"/>
                </a:solidFill>
                <a:latin typeface="Times New Roman"/>
              </a:rPr>
              <a:t>interfacing </a:t>
            </a:r>
            <a:r>
              <a:rPr lang="en-US" dirty="0">
                <a:solidFill>
                  <a:srgbClr val="000000"/>
                </a:solidFill>
                <a:latin typeface="Times New Roman"/>
              </a:rPr>
              <a:t>with LED, LCD, Relay, Buzzer, Motion sensor, soil moisture sensor. </a:t>
            </a:r>
            <a:endParaRPr lang="en-US" b="1" dirty="0" smtClean="0">
              <a:solidFill>
                <a:schemeClr val="tx1"/>
              </a:solidFill>
            </a:endParaRPr>
          </a:p>
        </p:txBody>
      </p:sp>
      <p:sp>
        <p:nvSpPr>
          <p:cNvPr id="6" name="Footer Placeholder 5"/>
          <p:cNvSpPr>
            <a:spLocks noGrp="1"/>
          </p:cNvSpPr>
          <p:nvPr>
            <p:ph type="ftr" sz="quarter" idx="11"/>
          </p:nvPr>
        </p:nvSpPr>
        <p:spPr>
          <a:xfrm>
            <a:off x="3048000" y="6492875"/>
            <a:ext cx="2895600" cy="365125"/>
          </a:xfrm>
        </p:spPr>
        <p:txBody>
          <a:bodyPr/>
          <a:lstStyle/>
          <a:p>
            <a:r>
              <a:rPr lang="en-US" altLang="en-US" b="1" dirty="0"/>
              <a:t>Dr. S. S. </a:t>
            </a:r>
            <a:r>
              <a:rPr lang="en-US" altLang="en-US" b="1" dirty="0" err="1"/>
              <a:t>Lavhate</a:t>
            </a:r>
            <a:endParaRPr lang="en-US" altLang="en-US"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533400"/>
          </a:xfrm>
        </p:spPr>
        <p:txBody>
          <a:bodyPr>
            <a:normAutofit fontScale="90000"/>
          </a:bodyPr>
          <a:lstStyle/>
          <a:p>
            <a:r>
              <a:rPr lang="en-US" b="1" u="sng" dirty="0" smtClean="0">
                <a:latin typeface="Times New Roman" panose="02020603050405020304" pitchFamily="18" charset="0"/>
                <a:cs typeface="Times New Roman" panose="02020603050405020304" pitchFamily="18" charset="0"/>
              </a:rPr>
              <a:t> </a:t>
            </a:r>
            <a:br>
              <a:rPr lang="en-US" b="1" u="sng" dirty="0" smtClean="0">
                <a:latin typeface="Times New Roman" panose="02020603050405020304" pitchFamily="18" charset="0"/>
                <a:cs typeface="Times New Roman" panose="02020603050405020304" pitchFamily="18" charset="0"/>
              </a:rPr>
            </a:br>
            <a:r>
              <a:rPr lang="en-US" b="1" dirty="0" smtClean="0">
                <a:latin typeface="Times New Roman" panose="02020603050405020304" pitchFamily="18" charset="0"/>
                <a:cs typeface="Times New Roman" panose="02020603050405020304" pitchFamily="18" charset="0"/>
              </a:rPr>
              <a:t>Features of LPC2148:-</a:t>
            </a:r>
            <a:r>
              <a:rPr lang="en-US" sz="3200" dirty="0" smtClean="0">
                <a:latin typeface="Times New Roman" panose="02020603050405020304" pitchFamily="18" charset="0"/>
                <a:cs typeface="Times New Roman" panose="02020603050405020304" pitchFamily="18" charset="0"/>
              </a:rPr>
              <a:t/>
            </a:r>
            <a:br>
              <a:rPr lang="en-US" sz="3200" dirty="0" smtClean="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555170"/>
            <a:ext cx="9144000" cy="6302829"/>
          </a:xfrm>
        </p:spPr>
        <p:txBody>
          <a:bodyPr>
            <a:noAutofit/>
          </a:bodyPr>
          <a:lstStyle/>
          <a:p>
            <a:r>
              <a:rPr lang="en-US" sz="1800" b="1" baseline="30000" dirty="0" smtClean="0">
                <a:latin typeface="Times New Roman" panose="02020603050405020304" pitchFamily="18" charset="0"/>
                <a:cs typeface="Times New Roman" panose="02020603050405020304" pitchFamily="18" charset="0"/>
              </a:rPr>
              <a:t></a:t>
            </a:r>
            <a:r>
              <a:rPr lang="en-US" sz="1800" b="1" dirty="0" smtClean="0">
                <a:latin typeface="Times New Roman" panose="02020603050405020304" pitchFamily="18" charset="0"/>
                <a:cs typeface="Times New Roman" panose="02020603050405020304" pitchFamily="18" charset="0"/>
              </a:rPr>
              <a:t> PACKAGE:   6/32-bit ARM7TDMI-S microcontroller in a tiny LQFP64 package.</a:t>
            </a:r>
          </a:p>
          <a:p>
            <a:pPr lvl="0" hangingPunct="0"/>
            <a:r>
              <a:rPr lang="en-US" sz="1800" b="1" dirty="0" smtClean="0">
                <a:latin typeface="Times New Roman" panose="02020603050405020304" pitchFamily="18" charset="0"/>
                <a:cs typeface="Times New Roman" panose="02020603050405020304" pitchFamily="18" charset="0"/>
              </a:rPr>
              <a:t>MEMORY: </a:t>
            </a:r>
            <a:r>
              <a:rPr lang="en-US" sz="1800" b="1" baseline="30000" dirty="0" smtClean="0">
                <a:latin typeface="Times New Roman" panose="02020603050405020304" pitchFamily="18" charset="0"/>
                <a:cs typeface="Times New Roman" panose="02020603050405020304" pitchFamily="18" charset="0"/>
              </a:rPr>
              <a:t> </a:t>
            </a:r>
            <a:endParaRPr lang="en-US" sz="1800" b="1" dirty="0" smtClean="0">
              <a:latin typeface="Times New Roman" panose="02020603050405020304" pitchFamily="18" charset="0"/>
              <a:cs typeface="Times New Roman" panose="02020603050405020304" pitchFamily="18" charset="0"/>
            </a:endParaRPr>
          </a:p>
          <a:p>
            <a:pPr lvl="1" hangingPunct="0"/>
            <a:r>
              <a:rPr lang="en-US" sz="1800" b="1" dirty="0" smtClean="0">
                <a:latin typeface="Times New Roman" panose="02020603050405020304" pitchFamily="18" charset="0"/>
                <a:cs typeface="Times New Roman" panose="02020603050405020304" pitchFamily="18" charset="0"/>
              </a:rPr>
              <a:t>32 </a:t>
            </a:r>
            <a:r>
              <a:rPr lang="en-US" sz="1800" b="1" dirty="0" err="1" smtClean="0">
                <a:latin typeface="Times New Roman" panose="02020603050405020304" pitchFamily="18" charset="0"/>
                <a:cs typeface="Times New Roman" panose="02020603050405020304" pitchFamily="18" charset="0"/>
              </a:rPr>
              <a:t>kB</a:t>
            </a:r>
            <a:r>
              <a:rPr lang="en-US" sz="1800" b="1" dirty="0" smtClean="0">
                <a:latin typeface="Times New Roman" panose="02020603050405020304" pitchFamily="18" charset="0"/>
                <a:cs typeface="Times New Roman" panose="02020603050405020304" pitchFamily="18" charset="0"/>
              </a:rPr>
              <a:t> of on-chip static RAM </a:t>
            </a:r>
          </a:p>
          <a:p>
            <a:pPr lvl="1" hangingPunct="0"/>
            <a:r>
              <a:rPr lang="en-US" sz="1800" b="1" dirty="0" smtClean="0">
                <a:latin typeface="Times New Roman" panose="02020603050405020304" pitchFamily="18" charset="0"/>
                <a:cs typeface="Times New Roman" panose="02020603050405020304" pitchFamily="18" charset="0"/>
              </a:rPr>
              <a:t>512 </a:t>
            </a:r>
            <a:r>
              <a:rPr lang="en-US" sz="1800" b="1" dirty="0" err="1" smtClean="0">
                <a:latin typeface="Times New Roman" panose="02020603050405020304" pitchFamily="18" charset="0"/>
                <a:cs typeface="Times New Roman" panose="02020603050405020304" pitchFamily="18" charset="0"/>
              </a:rPr>
              <a:t>kB</a:t>
            </a:r>
            <a:r>
              <a:rPr lang="en-US" sz="1800" b="1" dirty="0" smtClean="0">
                <a:latin typeface="Times New Roman" panose="02020603050405020304" pitchFamily="18" charset="0"/>
                <a:cs typeface="Times New Roman" panose="02020603050405020304" pitchFamily="18" charset="0"/>
              </a:rPr>
              <a:t> of on-chip flash program memory. </a:t>
            </a:r>
            <a:r>
              <a:rPr lang="en-US" sz="1800" b="1" baseline="30000" dirty="0" smtClean="0">
                <a:latin typeface="Times New Roman" panose="02020603050405020304" pitchFamily="18" charset="0"/>
                <a:cs typeface="Times New Roman" panose="02020603050405020304" pitchFamily="18" charset="0"/>
              </a:rPr>
              <a:t> </a:t>
            </a:r>
            <a:endParaRPr lang="en-US" sz="1800" b="1" dirty="0" smtClean="0">
              <a:latin typeface="Times New Roman" panose="02020603050405020304" pitchFamily="18" charset="0"/>
              <a:cs typeface="Times New Roman" panose="02020603050405020304" pitchFamily="18" charset="0"/>
            </a:endParaRPr>
          </a:p>
          <a:p>
            <a:pPr lvl="0" hangingPunct="0"/>
            <a:r>
              <a:rPr lang="en-US" sz="1800" b="1" dirty="0" smtClean="0">
                <a:latin typeface="Times New Roman" panose="02020603050405020304" pitchFamily="18" charset="0"/>
                <a:cs typeface="Times New Roman" panose="02020603050405020304" pitchFamily="18" charset="0"/>
              </a:rPr>
              <a:t>SPEED:     128 bit wide interface/accelerator enables high speed 60 MHz </a:t>
            </a:r>
          </a:p>
          <a:p>
            <a:pPr lvl="0" hangingPunct="0"/>
            <a:r>
              <a:rPr lang="en-US" sz="1800" b="1" dirty="0" smtClean="0">
                <a:latin typeface="Times New Roman" panose="02020603050405020304" pitchFamily="18" charset="0"/>
                <a:cs typeface="Times New Roman" panose="02020603050405020304" pitchFamily="18" charset="0"/>
              </a:rPr>
              <a:t>In-System / In-Application Programming (ISP/IAP) via on-chip boot-loader software. </a:t>
            </a:r>
          </a:p>
          <a:p>
            <a:pPr lvl="0" hangingPunct="0"/>
            <a:r>
              <a:rPr lang="en-US" sz="1800" b="1" dirty="0" smtClean="0">
                <a:latin typeface="Times New Roman" panose="02020603050405020304" pitchFamily="18" charset="0"/>
                <a:cs typeface="Times New Roman" panose="02020603050405020304" pitchFamily="18" charset="0"/>
              </a:rPr>
              <a:t>Single flash sector or full chip erase in 400 ms and programming of 256 bytes in 1ms. </a:t>
            </a:r>
          </a:p>
          <a:p>
            <a:pPr lvl="0" hangingPunct="0"/>
            <a:r>
              <a:rPr lang="en-US" sz="1800" b="1" dirty="0" smtClean="0">
                <a:latin typeface="Times New Roman" panose="02020603050405020304" pitchFamily="18" charset="0"/>
                <a:cs typeface="Times New Roman" panose="02020603050405020304" pitchFamily="18" charset="0"/>
              </a:rPr>
              <a:t>USB 2.0 Full Speed compliant Device Controller with 2kB of endpoint RAM. </a:t>
            </a:r>
            <a:r>
              <a:rPr lang="en-US" sz="1800" b="1" baseline="30000" dirty="0" smtClean="0">
                <a:latin typeface="Times New Roman" panose="02020603050405020304" pitchFamily="18" charset="0"/>
                <a:cs typeface="Times New Roman" panose="02020603050405020304" pitchFamily="18" charset="0"/>
              </a:rPr>
              <a:t> </a:t>
            </a:r>
            <a:endParaRPr lang="en-US" sz="1800" b="1" dirty="0" smtClean="0">
              <a:latin typeface="Times New Roman" panose="02020603050405020304" pitchFamily="18" charset="0"/>
              <a:cs typeface="Times New Roman" panose="02020603050405020304" pitchFamily="18" charset="0"/>
            </a:endParaRPr>
          </a:p>
          <a:p>
            <a:pPr lvl="0" hangingPunct="0"/>
            <a:r>
              <a:rPr lang="en-US" sz="1800" b="1" dirty="0" smtClean="0">
                <a:latin typeface="Times New Roman" panose="02020603050405020304" pitchFamily="18" charset="0"/>
                <a:cs typeface="Times New Roman" panose="02020603050405020304" pitchFamily="18" charset="0"/>
              </a:rPr>
              <a:t>In addition, the LPC2146/8 provides 8kB of on-chip RAM accessible to USB by DMA. </a:t>
            </a:r>
          </a:p>
          <a:p>
            <a:pPr lvl="0" hangingPunct="0"/>
            <a:r>
              <a:rPr lang="en-US" sz="1800" b="1" dirty="0" smtClean="0">
                <a:latin typeface="Times New Roman" panose="02020603050405020304" pitchFamily="18" charset="0"/>
                <a:cs typeface="Times New Roman" panose="02020603050405020304" pitchFamily="18" charset="0"/>
              </a:rPr>
              <a:t>ADC:  Two 10-bit A/D converters(AD0 and AD1) provide a total of  14 analog inputs</a:t>
            </a:r>
          </a:p>
          <a:p>
            <a:pPr lvl="1" hangingPunct="0"/>
            <a:r>
              <a:rPr lang="en-US" sz="1800" b="1" dirty="0" smtClean="0">
                <a:latin typeface="Times New Roman" panose="02020603050405020304" pitchFamily="18" charset="0"/>
                <a:cs typeface="Times New Roman" panose="02020603050405020304" pitchFamily="18" charset="0"/>
              </a:rPr>
              <a:t>Conversion times as low as 2.44μs per channel. </a:t>
            </a:r>
            <a:r>
              <a:rPr lang="en-US" sz="1800" b="1" baseline="30000" dirty="0" smtClean="0">
                <a:latin typeface="Times New Roman" panose="02020603050405020304" pitchFamily="18" charset="0"/>
                <a:cs typeface="Times New Roman" panose="02020603050405020304" pitchFamily="18" charset="0"/>
              </a:rPr>
              <a:t> </a:t>
            </a:r>
            <a:endParaRPr lang="en-US" sz="1800" b="1" dirty="0" smtClean="0">
              <a:latin typeface="Times New Roman" panose="02020603050405020304" pitchFamily="18" charset="0"/>
              <a:cs typeface="Times New Roman" panose="02020603050405020304" pitchFamily="18" charset="0"/>
            </a:endParaRPr>
          </a:p>
          <a:p>
            <a:pPr lvl="0" hangingPunct="0"/>
            <a:r>
              <a:rPr lang="en-US" sz="1800" b="1" dirty="0" smtClean="0">
                <a:latin typeface="Times New Roman" panose="02020603050405020304" pitchFamily="18" charset="0"/>
                <a:cs typeface="Times New Roman" panose="02020603050405020304" pitchFamily="18" charset="0"/>
              </a:rPr>
              <a:t>DAC:      Single 10-bit D/A converter provides variable analog output </a:t>
            </a:r>
          </a:p>
          <a:p>
            <a:pPr lvl="0" hangingPunct="0"/>
            <a:r>
              <a:rPr lang="en-US" sz="1800" b="1" dirty="0" smtClean="0">
                <a:latin typeface="Times New Roman" panose="02020603050405020304" pitchFamily="18" charset="0"/>
                <a:cs typeface="Times New Roman" panose="02020603050405020304" pitchFamily="18" charset="0"/>
              </a:rPr>
              <a:t>TIMERS: </a:t>
            </a:r>
          </a:p>
          <a:p>
            <a:pPr lvl="1" hangingPunct="0"/>
            <a:r>
              <a:rPr lang="en-US" sz="1800" b="1" dirty="0" smtClean="0">
                <a:latin typeface="Times New Roman" panose="02020603050405020304" pitchFamily="18" charset="0"/>
                <a:cs typeface="Times New Roman" panose="02020603050405020304" pitchFamily="18" charset="0"/>
              </a:rPr>
              <a:t>Two 32-bit timers/external event counters </a:t>
            </a:r>
          </a:p>
          <a:p>
            <a:pPr lvl="1" hangingPunct="0"/>
            <a:r>
              <a:rPr lang="en-US" sz="1800" b="1" dirty="0" smtClean="0">
                <a:latin typeface="Times New Roman" panose="02020603050405020304" pitchFamily="18" charset="0"/>
                <a:cs typeface="Times New Roman" panose="02020603050405020304" pitchFamily="18" charset="0"/>
              </a:rPr>
              <a:t>Each timer with four capture and four compare channels </a:t>
            </a:r>
          </a:p>
          <a:p>
            <a:pPr lvl="1" hangingPunct="0"/>
            <a:r>
              <a:rPr lang="en-US" sz="1800" b="1" dirty="0" smtClean="0">
                <a:latin typeface="Times New Roman" panose="02020603050405020304" pitchFamily="18" charset="0"/>
                <a:cs typeface="Times New Roman" panose="02020603050405020304" pitchFamily="18" charset="0"/>
              </a:rPr>
              <a:t>PWM unit (six outputs) </a:t>
            </a:r>
          </a:p>
          <a:p>
            <a:pPr lvl="1" hangingPunct="0"/>
            <a:r>
              <a:rPr lang="en-US" sz="1800" b="1" dirty="0" smtClean="0">
                <a:latin typeface="Times New Roman" panose="02020603050405020304" pitchFamily="18" charset="0"/>
                <a:cs typeface="Times New Roman" panose="02020603050405020304" pitchFamily="18" charset="0"/>
              </a:rPr>
              <a:t>Watchdog timer </a:t>
            </a:r>
          </a:p>
          <a:p>
            <a:endParaRPr lang="en-US" sz="9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rmAutofit fontScale="90000"/>
          </a:bodyPr>
          <a:lstStyle/>
          <a:p>
            <a:r>
              <a:rPr lang="en-US" b="1" u="sng" dirty="0" smtClean="0">
                <a:latin typeface="Times New Roman" panose="02020603050405020304" pitchFamily="18" charset="0"/>
                <a:cs typeface="Times New Roman" panose="02020603050405020304" pitchFamily="18" charset="0"/>
              </a:rPr>
              <a:t/>
            </a:r>
            <a:br>
              <a:rPr lang="en-US" b="1" u="sng" dirty="0" smtClean="0">
                <a:latin typeface="Times New Roman" panose="02020603050405020304" pitchFamily="18" charset="0"/>
                <a:cs typeface="Times New Roman" panose="02020603050405020304" pitchFamily="18" charset="0"/>
              </a:rPr>
            </a:br>
            <a:r>
              <a:rPr lang="en-US" sz="3600" b="1" dirty="0" smtClean="0">
                <a:latin typeface="Times New Roman" panose="02020603050405020304" pitchFamily="18" charset="0"/>
                <a:cs typeface="Times New Roman" panose="02020603050405020304" pitchFamily="18" charset="0"/>
              </a:rPr>
              <a:t>Features of LPC2148  Cont…</a:t>
            </a:r>
            <a:r>
              <a:rPr lang="en-US" sz="2700" dirty="0" smtClean="0">
                <a:latin typeface="Times New Roman" panose="02020603050405020304" pitchFamily="18" charset="0"/>
                <a:cs typeface="Times New Roman" panose="02020603050405020304" pitchFamily="18" charset="0"/>
              </a:rPr>
              <a:t/>
            </a:r>
            <a:br>
              <a:rPr lang="en-US" sz="2700" dirty="0" smtClean="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457200"/>
            <a:ext cx="9144000" cy="6172200"/>
          </a:xfrm>
        </p:spPr>
        <p:txBody>
          <a:bodyPr>
            <a:noAutofit/>
          </a:bodyPr>
          <a:lstStyle/>
          <a:p>
            <a:pPr lvl="0" hangingPunct="0"/>
            <a:r>
              <a:rPr lang="en-US" sz="1600" b="1" dirty="0" smtClean="0">
                <a:latin typeface="Times New Roman" panose="02020603050405020304" pitchFamily="18" charset="0"/>
                <a:cs typeface="Times New Roman" panose="02020603050405020304" pitchFamily="18" charset="0"/>
              </a:rPr>
              <a:t>RTC: </a:t>
            </a:r>
          </a:p>
          <a:p>
            <a:pPr lvl="1" hangingPunct="0"/>
            <a:r>
              <a:rPr lang="en-US" sz="1600" b="1" dirty="0" smtClean="0">
                <a:latin typeface="Times New Roman" panose="02020603050405020304" pitchFamily="18" charset="0"/>
                <a:cs typeface="Times New Roman" panose="02020603050405020304" pitchFamily="18" charset="0"/>
              </a:rPr>
              <a:t>Low power real-time clock with independent power and dedicated 32 kHz clock input. </a:t>
            </a:r>
          </a:p>
          <a:p>
            <a:pPr lvl="0" hangingPunct="0"/>
            <a:r>
              <a:rPr lang="en-US" sz="1600" b="1" dirty="0" smtClean="0">
                <a:latin typeface="Times New Roman" panose="02020603050405020304" pitchFamily="18" charset="0"/>
                <a:cs typeface="Times New Roman" panose="02020603050405020304" pitchFamily="18" charset="0"/>
              </a:rPr>
              <a:t>SERIAL INTERFACES: </a:t>
            </a:r>
          </a:p>
          <a:p>
            <a:pPr lvl="1" hangingPunct="0"/>
            <a:r>
              <a:rPr lang="en-US" sz="1600" b="1" dirty="0" smtClean="0">
                <a:latin typeface="Times New Roman" panose="02020603050405020304" pitchFamily="18" charset="0"/>
                <a:cs typeface="Times New Roman" panose="02020603050405020304" pitchFamily="18" charset="0"/>
              </a:rPr>
              <a:t>I2C-bus: </a:t>
            </a:r>
          </a:p>
          <a:p>
            <a:r>
              <a:rPr lang="en-US" sz="1600" b="1" dirty="0" smtClean="0">
                <a:latin typeface="Times New Roman" panose="02020603050405020304" pitchFamily="18" charset="0"/>
                <a:cs typeface="Times New Roman" panose="02020603050405020304" pitchFamily="18" charset="0"/>
              </a:rPr>
              <a:t>Two Fast I2C-bus with 400 </a:t>
            </a:r>
            <a:r>
              <a:rPr lang="en-US" sz="1600" b="1" dirty="0" err="1" smtClean="0">
                <a:latin typeface="Times New Roman" panose="02020603050405020304" pitchFamily="18" charset="0"/>
                <a:cs typeface="Times New Roman" panose="02020603050405020304" pitchFamily="18" charset="0"/>
              </a:rPr>
              <a:t>kbit</a:t>
            </a:r>
            <a:r>
              <a:rPr lang="en-US" sz="1600" b="1" dirty="0" smtClean="0">
                <a:latin typeface="Times New Roman" panose="02020603050405020304" pitchFamily="18" charset="0"/>
                <a:cs typeface="Times New Roman" panose="02020603050405020304" pitchFamily="18" charset="0"/>
              </a:rPr>
              <a:t>/s</a:t>
            </a:r>
          </a:p>
          <a:p>
            <a:pPr lvl="1" hangingPunct="0"/>
            <a:r>
              <a:rPr lang="en-US" sz="1600" b="1" dirty="0" smtClean="0">
                <a:latin typeface="Times New Roman" panose="02020603050405020304" pitchFamily="18" charset="0"/>
                <a:cs typeface="Times New Roman" panose="02020603050405020304" pitchFamily="18" charset="0"/>
              </a:rPr>
              <a:t>Serial communication: Two UARTs (16C550) </a:t>
            </a:r>
          </a:p>
          <a:p>
            <a:pPr lvl="1" hangingPunct="0"/>
            <a:r>
              <a:rPr lang="en-US" sz="1600" b="1" dirty="0" smtClean="0">
                <a:latin typeface="Times New Roman" panose="02020603050405020304" pitchFamily="18" charset="0"/>
                <a:cs typeface="Times New Roman" panose="02020603050405020304" pitchFamily="18" charset="0"/>
              </a:rPr>
              <a:t>SPI (Serial Peripheral Interface) and SSP(Synchronous Serial Port) with buffering and variable data length capabilities </a:t>
            </a:r>
          </a:p>
          <a:p>
            <a:pPr lvl="0" hangingPunct="0"/>
            <a:r>
              <a:rPr lang="en-US" sz="1600" b="1" dirty="0" smtClean="0">
                <a:latin typeface="Times New Roman" panose="02020603050405020304" pitchFamily="18" charset="0"/>
                <a:cs typeface="Times New Roman" panose="02020603050405020304" pitchFamily="18" charset="0"/>
              </a:rPr>
              <a:t>FAST GPIO: Up to 45 of 5 V tolerant fast general purpose I/O pins in a tiny LQFP64 </a:t>
            </a:r>
          </a:p>
          <a:p>
            <a:pPr lvl="0" hangingPunct="0"/>
            <a:r>
              <a:rPr lang="en-US" sz="1600" b="1" dirty="0" smtClean="0">
                <a:latin typeface="Times New Roman" panose="02020603050405020304" pitchFamily="18" charset="0"/>
                <a:cs typeface="Times New Roman" panose="02020603050405020304" pitchFamily="18" charset="0"/>
              </a:rPr>
              <a:t>INTERRUPTS: </a:t>
            </a:r>
          </a:p>
          <a:p>
            <a:pPr lvl="1" hangingPunct="0"/>
            <a:r>
              <a:rPr lang="en-US" sz="1600" b="1" dirty="0" smtClean="0">
                <a:latin typeface="Times New Roman" panose="02020603050405020304" pitchFamily="18" charset="0"/>
                <a:cs typeface="Times New Roman" panose="02020603050405020304" pitchFamily="18" charset="0"/>
              </a:rPr>
              <a:t>Vectored interrupt controller with 16 configurable priorities and vector addresses. </a:t>
            </a:r>
          </a:p>
          <a:p>
            <a:pPr lvl="1" hangingPunct="0"/>
            <a:r>
              <a:rPr lang="en-US" sz="1600" b="1" dirty="0" smtClean="0">
                <a:latin typeface="Times New Roman" panose="02020603050405020304" pitchFamily="18" charset="0"/>
                <a:cs typeface="Times New Roman" panose="02020603050405020304" pitchFamily="18" charset="0"/>
              </a:rPr>
              <a:t>9 edge or level sensitive external interrupt pins available. </a:t>
            </a:r>
          </a:p>
          <a:p>
            <a:pPr lvl="0" hangingPunct="0"/>
            <a:r>
              <a:rPr lang="en-US" sz="1600" b="1" dirty="0" smtClean="0">
                <a:latin typeface="Times New Roman" panose="02020603050405020304" pitchFamily="18" charset="0"/>
                <a:cs typeface="Times New Roman" panose="02020603050405020304" pitchFamily="18" charset="0"/>
              </a:rPr>
              <a:t>60 MHz maximum CPU clock available from programmable on-chip PLL with settling time of 100 </a:t>
            </a:r>
            <a:r>
              <a:rPr lang="en-US" sz="1600" b="1" dirty="0" err="1" smtClean="0">
                <a:latin typeface="Times New Roman" panose="02020603050405020304" pitchFamily="18" charset="0"/>
                <a:cs typeface="Times New Roman" panose="02020603050405020304" pitchFamily="18" charset="0"/>
              </a:rPr>
              <a:t>μs</a:t>
            </a:r>
            <a:r>
              <a:rPr lang="en-US" sz="1600" b="1" dirty="0" smtClean="0">
                <a:latin typeface="Times New Roman" panose="02020603050405020304" pitchFamily="18" charset="0"/>
                <a:cs typeface="Times New Roman" panose="02020603050405020304" pitchFamily="18" charset="0"/>
              </a:rPr>
              <a:t>. </a:t>
            </a:r>
          </a:p>
          <a:p>
            <a:pPr lvl="0" hangingPunct="0"/>
            <a:r>
              <a:rPr lang="en-US" sz="1600" b="1" dirty="0" smtClean="0">
                <a:latin typeface="Times New Roman" panose="02020603050405020304" pitchFamily="18" charset="0"/>
                <a:cs typeface="Times New Roman" panose="02020603050405020304" pitchFamily="18" charset="0"/>
              </a:rPr>
              <a:t>OSCILLATOR: </a:t>
            </a:r>
          </a:p>
          <a:p>
            <a:pPr lvl="1" hangingPunct="0"/>
            <a:r>
              <a:rPr lang="en-US" sz="1600" b="1" dirty="0" smtClean="0">
                <a:latin typeface="Times New Roman" panose="02020603050405020304" pitchFamily="18" charset="0"/>
                <a:cs typeface="Times New Roman" panose="02020603050405020304" pitchFamily="18" charset="0"/>
              </a:rPr>
              <a:t>On-chip integrated oscillator operates with an external crystal in range from 1 MHz to 30 MHz and with an external oscillator up to 50 MHz </a:t>
            </a:r>
          </a:p>
          <a:p>
            <a:pPr lvl="0" hangingPunct="0"/>
            <a:r>
              <a:rPr lang="en-US" sz="1600" b="1" dirty="0" smtClean="0">
                <a:latin typeface="Times New Roman" panose="02020603050405020304" pitchFamily="18" charset="0"/>
                <a:cs typeface="Times New Roman" panose="02020603050405020304" pitchFamily="18" charset="0"/>
              </a:rPr>
              <a:t>POWER SAVING MODES: </a:t>
            </a:r>
          </a:p>
          <a:p>
            <a:pPr lvl="1" hangingPunct="0"/>
            <a:r>
              <a:rPr lang="en-US" sz="1600" b="1" dirty="0" smtClean="0">
                <a:latin typeface="Times New Roman" panose="02020603050405020304" pitchFamily="18" charset="0"/>
                <a:cs typeface="Times New Roman" panose="02020603050405020304" pitchFamily="18" charset="0"/>
              </a:rPr>
              <a:t>Idle mode </a:t>
            </a:r>
            <a:r>
              <a:rPr lang="en-US" sz="1600" b="1" baseline="30000" dirty="0" smtClean="0">
                <a:latin typeface="Times New Roman" panose="02020603050405020304" pitchFamily="18" charset="0"/>
                <a:cs typeface="Times New Roman" panose="02020603050405020304" pitchFamily="18" charset="0"/>
              </a:rPr>
              <a:t> </a:t>
            </a:r>
            <a:endParaRPr lang="en-US" sz="1600" b="1" dirty="0" smtClean="0">
              <a:latin typeface="Times New Roman" panose="02020603050405020304" pitchFamily="18" charset="0"/>
              <a:cs typeface="Times New Roman" panose="02020603050405020304" pitchFamily="18" charset="0"/>
            </a:endParaRPr>
          </a:p>
          <a:p>
            <a:pPr lvl="1" hangingPunct="0"/>
            <a:r>
              <a:rPr lang="en-US" sz="1600" b="1" dirty="0" smtClean="0">
                <a:latin typeface="Times New Roman" panose="02020603050405020304" pitchFamily="18" charset="0"/>
                <a:cs typeface="Times New Roman" panose="02020603050405020304" pitchFamily="18" charset="0"/>
              </a:rPr>
              <a:t>Power-down mode </a:t>
            </a:r>
          </a:p>
          <a:p>
            <a:pPr lvl="0" hangingPunct="0"/>
            <a:r>
              <a:rPr lang="en-US" sz="1600" b="1" dirty="0" smtClean="0">
                <a:latin typeface="Times New Roman" panose="02020603050405020304" pitchFamily="18" charset="0"/>
                <a:cs typeface="Times New Roman" panose="02020603050405020304" pitchFamily="18" charset="0"/>
              </a:rPr>
              <a:t>CPU operating voltage range of 3.0 V to 3.6 V (3.3 V ± 10 %) with 5 V tolerant I/O pads. </a:t>
            </a:r>
          </a:p>
          <a:p>
            <a:endParaRPr lang="en-US" sz="1600" b="1" dirty="0">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p:txBody>
          <a:bodyPr/>
          <a:lstStyle/>
          <a:p>
            <a:r>
              <a:rPr lang="en-US" altLang="en-US" b="1" dirty="0"/>
              <a:t>Dr. S. S. </a:t>
            </a:r>
            <a:r>
              <a:rPr lang="en-US" altLang="en-US" b="1" dirty="0" err="1"/>
              <a:t>Lavhate</a:t>
            </a:r>
            <a:endParaRPr lang="en-US" altLang="en-US" b="1"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381000"/>
          </a:xfrm>
        </p:spPr>
        <p:txBody>
          <a:bodyPr>
            <a:noAutofit/>
          </a:bodyPr>
          <a:lstStyle/>
          <a:p>
            <a:r>
              <a:rPr lang="en-US" sz="2800" b="1" dirty="0" smtClean="0"/>
              <a:t>Architecture of LPC2148 (Block Diagram and Its Description):</a:t>
            </a:r>
            <a:endParaRPr lang="en-US" sz="2800" dirty="0"/>
          </a:p>
        </p:txBody>
      </p:sp>
      <p:pic>
        <p:nvPicPr>
          <p:cNvPr id="4" name="Content Placeholder 3"/>
          <p:cNvPicPr>
            <a:picLocks noGrp="1"/>
          </p:cNvPicPr>
          <p:nvPr>
            <p:ph idx="1"/>
          </p:nvPr>
        </p:nvPicPr>
        <p:blipFill>
          <a:blip r:embed="rId2" cstate="print"/>
          <a:srcRect/>
          <a:stretch>
            <a:fillRect/>
          </a:stretch>
        </p:blipFill>
        <p:spPr bwMode="auto">
          <a:xfrm>
            <a:off x="1066800" y="381000"/>
            <a:ext cx="7162800" cy="6477000"/>
          </a:xfrm>
          <a:prstGeom prst="rect">
            <a:avLst/>
          </a:prstGeom>
          <a:noFill/>
        </p:spPr>
      </p:pic>
      <p:sp>
        <p:nvSpPr>
          <p:cNvPr id="5" name="Footer Placeholder 4"/>
          <p:cNvSpPr>
            <a:spLocks noGrp="1"/>
          </p:cNvSpPr>
          <p:nvPr>
            <p:ph type="ftr" sz="quarter" idx="11"/>
          </p:nvPr>
        </p:nvSpPr>
        <p:spPr/>
        <p:txBody>
          <a:bodyPr/>
          <a:lstStyle/>
          <a:p>
            <a:r>
              <a:rPr lang="en-US" altLang="en-US" b="1" dirty="0"/>
              <a:t>Dr. S. S. </a:t>
            </a:r>
            <a:r>
              <a:rPr lang="en-US" altLang="en-US" b="1" dirty="0" err="1"/>
              <a:t>Lavhate</a:t>
            </a:r>
            <a:endParaRPr lang="en-US" altLang="en-US" b="1"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87362"/>
          </a:xfrm>
        </p:spPr>
        <p:txBody>
          <a:bodyPr>
            <a:noAutofit/>
          </a:bodyPr>
          <a:lstStyle/>
          <a:p>
            <a:r>
              <a:rPr lang="en-US" sz="3600" b="1" dirty="0" smtClean="0"/>
              <a:t>Architecture of LPC2148  Cont…..</a:t>
            </a:r>
            <a:endParaRPr lang="en-US" sz="3600" dirty="0"/>
          </a:p>
        </p:txBody>
      </p:sp>
      <p:sp>
        <p:nvSpPr>
          <p:cNvPr id="3" name="Content Placeholder 2"/>
          <p:cNvSpPr>
            <a:spLocks noGrp="1"/>
          </p:cNvSpPr>
          <p:nvPr>
            <p:ph idx="1"/>
          </p:nvPr>
        </p:nvSpPr>
        <p:spPr>
          <a:xfrm>
            <a:off x="0" y="473074"/>
            <a:ext cx="8991600" cy="6613525"/>
          </a:xfrm>
        </p:spPr>
        <p:txBody>
          <a:bodyPr>
            <a:noAutofit/>
          </a:bodyPr>
          <a:lstStyle/>
          <a:p>
            <a:pPr marL="227013" lvl="0" indent="-227013" algn="just" hangingPunct="0"/>
            <a:r>
              <a:rPr lang="en-US" sz="1900" dirty="0" smtClean="0">
                <a:latin typeface="Times New Roman" panose="02020603050405020304" pitchFamily="18" charset="0"/>
                <a:cs typeface="Times New Roman" panose="02020603050405020304" pitchFamily="18" charset="0"/>
              </a:rPr>
              <a:t>The LPC2148 is a general purpose 32bit microprocessor which offers high performance and very low power consumption. </a:t>
            </a:r>
          </a:p>
          <a:p>
            <a:pPr marL="227013" lvl="0" indent="-227013" algn="just" hangingPunct="0"/>
            <a:r>
              <a:rPr lang="en-US" sz="1900" dirty="0" smtClean="0">
                <a:latin typeface="Times New Roman" panose="02020603050405020304" pitchFamily="18" charset="0"/>
                <a:cs typeface="Times New Roman" panose="02020603050405020304" pitchFamily="18" charset="0"/>
              </a:rPr>
              <a:t>The architecture is based on Reduced Instruction Set Computer (RISC) principles, and the instruction set and related decode mechanism are much simpler than those of micro programmed Complex Instruction Set Computers (CISC).This simplicity results in a high instruction throughput and impressive real time interrupt response from a small and cost-effective processor core. </a:t>
            </a:r>
          </a:p>
          <a:p>
            <a:pPr marL="227013" lvl="0" indent="-227013" algn="just" hangingPunct="0"/>
            <a:r>
              <a:rPr lang="en-US" sz="1900" dirty="0" smtClean="0">
                <a:latin typeface="Times New Roman" panose="02020603050405020304" pitchFamily="18" charset="0"/>
                <a:cs typeface="Times New Roman" panose="02020603050405020304" pitchFamily="18" charset="0"/>
              </a:rPr>
              <a:t>Pipeline techniques are employed so that all parts of the processing and memory systems can operate continuously. </a:t>
            </a:r>
          </a:p>
          <a:p>
            <a:pPr marL="227013" lvl="0" indent="-227013" algn="just" hangingPunct="0"/>
            <a:r>
              <a:rPr lang="en-US" sz="1900" dirty="0" smtClean="0">
                <a:latin typeface="Times New Roman" panose="02020603050405020304" pitchFamily="18" charset="0"/>
                <a:cs typeface="Times New Roman" panose="02020603050405020304" pitchFamily="18" charset="0"/>
              </a:rPr>
              <a:t>The key idea behind Thumb is that of a super reduced instruction set. Essentially, the LPC2148 processor has two instruction sets: The standard 32bit ARM set </a:t>
            </a:r>
          </a:p>
          <a:p>
            <a:pPr marL="227013" indent="-227013" algn="just"/>
            <a:r>
              <a:rPr lang="en-US" sz="1900" dirty="0" smtClean="0">
                <a:latin typeface="Times New Roman" panose="02020603050405020304" pitchFamily="18" charset="0"/>
                <a:cs typeface="Times New Roman" panose="02020603050405020304" pitchFamily="18" charset="0"/>
              </a:rPr>
              <a:t>16bit Thumb set:</a:t>
            </a:r>
          </a:p>
          <a:p>
            <a:pPr marL="227013" lvl="0" indent="-227013" algn="just" hangingPunct="0"/>
            <a:r>
              <a:rPr lang="en-US" sz="1900" dirty="0" smtClean="0">
                <a:latin typeface="Times New Roman" panose="02020603050405020304" pitchFamily="18" charset="0"/>
                <a:cs typeface="Times New Roman" panose="02020603050405020304" pitchFamily="18" charset="0"/>
              </a:rPr>
              <a:t>The Thumb </a:t>
            </a:r>
            <a:r>
              <a:rPr lang="en-US" sz="1900" dirty="0" err="1" smtClean="0">
                <a:latin typeface="Times New Roman" panose="02020603050405020304" pitchFamily="18" charset="0"/>
                <a:cs typeface="Times New Roman" panose="02020603050405020304" pitchFamily="18" charset="0"/>
              </a:rPr>
              <a:t>set‟s</a:t>
            </a:r>
            <a:r>
              <a:rPr lang="en-US" sz="1900" dirty="0" smtClean="0">
                <a:latin typeface="Times New Roman" panose="02020603050405020304" pitchFamily="18" charset="0"/>
                <a:cs typeface="Times New Roman" panose="02020603050405020304" pitchFamily="18" charset="0"/>
              </a:rPr>
              <a:t> 16-bit instruction length allows it to approach twice the density of standard ARM code while retaining most of the ARM‟s performance advantage over a traditional 16-bit processor using 16-bit registers. </a:t>
            </a:r>
          </a:p>
          <a:p>
            <a:pPr marL="227013" lvl="0" indent="-227013" algn="just" hangingPunct="0"/>
            <a:r>
              <a:rPr lang="en-US" sz="1900" dirty="0" smtClean="0">
                <a:latin typeface="Times New Roman" panose="02020603050405020304" pitchFamily="18" charset="0"/>
                <a:cs typeface="Times New Roman" panose="02020603050405020304" pitchFamily="18" charset="0"/>
              </a:rPr>
              <a:t>This is possible because Thumb code operates on the same 32-bit register set as ARM code. </a:t>
            </a:r>
          </a:p>
          <a:p>
            <a:pPr marL="227013" lvl="0" indent="-227013" algn="just" hangingPunct="0"/>
            <a:r>
              <a:rPr lang="en-US" sz="1900" dirty="0" smtClean="0">
                <a:latin typeface="Times New Roman" panose="02020603050405020304" pitchFamily="18" charset="0"/>
                <a:cs typeface="Times New Roman" panose="02020603050405020304" pitchFamily="18" charset="0"/>
              </a:rPr>
              <a:t>Thumb code is able to provide up to 65 % of the code size of ARM, and 160 % of the performance of an equivalent ARM processor connected to a 16-bit memory system </a:t>
            </a:r>
          </a:p>
          <a:p>
            <a:endParaRPr lang="en-US" sz="1800" b="1" dirty="0"/>
          </a:p>
        </p:txBody>
      </p:sp>
      <p:sp>
        <p:nvSpPr>
          <p:cNvPr id="5" name="Footer Placeholder 4"/>
          <p:cNvSpPr>
            <a:spLocks noGrp="1"/>
          </p:cNvSpPr>
          <p:nvPr>
            <p:ph type="ftr" sz="quarter" idx="11"/>
          </p:nvPr>
        </p:nvSpPr>
        <p:spPr/>
        <p:txBody>
          <a:bodyPr/>
          <a:lstStyle/>
          <a:p>
            <a:r>
              <a:rPr lang="en-US" altLang="en-US" b="1" dirty="0"/>
              <a:t>Dr. S. S. </a:t>
            </a:r>
            <a:r>
              <a:rPr lang="en-US" altLang="en-US" b="1" dirty="0" err="1"/>
              <a:t>Lavhate</a:t>
            </a:r>
            <a:endParaRPr lang="en-US" altLang="en-US" b="1"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11162"/>
          </a:xfrm>
        </p:spPr>
        <p:txBody>
          <a:bodyPr>
            <a:noAutofit/>
          </a:bodyPr>
          <a:lstStyle/>
          <a:p>
            <a:r>
              <a:rPr lang="en-US" sz="3800" b="1" dirty="0" smtClean="0">
                <a:latin typeface="Times New Roman" panose="02020603050405020304" pitchFamily="18" charset="0"/>
                <a:cs typeface="Times New Roman" panose="02020603050405020304" pitchFamily="18" charset="0"/>
              </a:rPr>
              <a:t>Architecture of LPC2148  Cont…..</a:t>
            </a:r>
            <a:endParaRPr lang="en-US" sz="3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440191"/>
            <a:ext cx="8915400" cy="6248400"/>
          </a:xfrm>
        </p:spPr>
        <p:txBody>
          <a:bodyPr>
            <a:noAutofit/>
          </a:bodyPr>
          <a:lstStyle/>
          <a:p>
            <a:pPr marL="227013" indent="-227013" algn="just"/>
            <a:r>
              <a:rPr lang="en-US" sz="1800" b="1" dirty="0" smtClean="0">
                <a:latin typeface="Times New Roman" panose="02020603050405020304" pitchFamily="18" charset="0"/>
                <a:cs typeface="Times New Roman" panose="02020603050405020304" pitchFamily="18" charset="0"/>
              </a:rPr>
              <a:t>On-Chip Flash Memory</a:t>
            </a:r>
            <a:endParaRPr lang="en-US" sz="1800" dirty="0" smtClean="0">
              <a:latin typeface="Times New Roman" panose="02020603050405020304" pitchFamily="18" charset="0"/>
              <a:cs typeface="Times New Roman" panose="02020603050405020304" pitchFamily="18" charset="0"/>
            </a:endParaRPr>
          </a:p>
          <a:p>
            <a:pPr marL="227013" lvl="0" indent="-227013" algn="just" hangingPunct="0"/>
            <a:r>
              <a:rPr lang="en-US" sz="1800" dirty="0" smtClean="0">
                <a:latin typeface="Times New Roman" panose="02020603050405020304" pitchFamily="18" charset="0"/>
                <a:cs typeface="Times New Roman" panose="02020603050405020304" pitchFamily="18" charset="0"/>
              </a:rPr>
              <a:t>The LPC2148 incorporate a 512 </a:t>
            </a:r>
            <a:r>
              <a:rPr lang="en-US" sz="1800" dirty="0" err="1" smtClean="0">
                <a:latin typeface="Times New Roman" panose="02020603050405020304" pitchFamily="18" charset="0"/>
                <a:cs typeface="Times New Roman" panose="02020603050405020304" pitchFamily="18" charset="0"/>
              </a:rPr>
              <a:t>kB</a:t>
            </a:r>
            <a:r>
              <a:rPr lang="en-US" sz="1800" dirty="0" smtClean="0">
                <a:latin typeface="Times New Roman" panose="02020603050405020304" pitchFamily="18" charset="0"/>
                <a:cs typeface="Times New Roman" panose="02020603050405020304" pitchFamily="18" charset="0"/>
              </a:rPr>
              <a:t> flash memory system. </a:t>
            </a:r>
          </a:p>
          <a:p>
            <a:pPr marL="227013" lvl="0" indent="-227013" algn="just" hangingPunct="0"/>
            <a:r>
              <a:rPr lang="en-US" sz="1800" dirty="0" smtClean="0">
                <a:latin typeface="Times New Roman" panose="02020603050405020304" pitchFamily="18" charset="0"/>
                <a:cs typeface="Times New Roman" panose="02020603050405020304" pitchFamily="18" charset="0"/>
              </a:rPr>
              <a:t>This memory may be used for both code and data storage </a:t>
            </a:r>
          </a:p>
          <a:p>
            <a:pPr marL="227013" indent="-227013" algn="just"/>
            <a:r>
              <a:rPr lang="en-US" sz="1800" b="1" dirty="0" smtClean="0">
                <a:latin typeface="Times New Roman" panose="02020603050405020304" pitchFamily="18" charset="0"/>
                <a:cs typeface="Times New Roman" panose="02020603050405020304" pitchFamily="18" charset="0"/>
              </a:rPr>
              <a:t>Interrupt Controller</a:t>
            </a:r>
            <a:endParaRPr lang="en-US" sz="1800" dirty="0" smtClean="0">
              <a:latin typeface="Times New Roman" panose="02020603050405020304" pitchFamily="18" charset="0"/>
              <a:cs typeface="Times New Roman" panose="02020603050405020304" pitchFamily="18" charset="0"/>
            </a:endParaRPr>
          </a:p>
          <a:p>
            <a:pPr marL="227013" indent="-227013" algn="just" hangingPunct="0"/>
            <a:r>
              <a:rPr lang="en-US" sz="1800" dirty="0" smtClean="0">
                <a:latin typeface="Times New Roman" panose="02020603050405020304" pitchFamily="18" charset="0"/>
                <a:cs typeface="Times New Roman" panose="02020603050405020304" pitchFamily="18" charset="0"/>
              </a:rPr>
              <a:t>The Vectored Interrupt Controller (VIC) accepts all of the interrupt request inputs and categorizes them as:</a:t>
            </a:r>
          </a:p>
          <a:p>
            <a:pPr marL="227013" lvl="0" indent="-227013" algn="just" hangingPunct="0"/>
            <a:r>
              <a:rPr lang="en-US" sz="1800" dirty="0" smtClean="0">
                <a:latin typeface="Times New Roman" panose="02020603050405020304" pitchFamily="18" charset="0"/>
                <a:cs typeface="Times New Roman" panose="02020603050405020304" pitchFamily="18" charset="0"/>
              </a:rPr>
              <a:t>Fast Interrupt Request (FIQ): have the highest priority </a:t>
            </a:r>
          </a:p>
          <a:p>
            <a:pPr marL="227013" lvl="0" indent="-227013" algn="just" hangingPunct="0"/>
            <a:r>
              <a:rPr lang="en-US" sz="1800" dirty="0" smtClean="0">
                <a:latin typeface="Times New Roman" panose="02020603050405020304" pitchFamily="18" charset="0"/>
                <a:cs typeface="Times New Roman" panose="02020603050405020304" pitchFamily="18" charset="0"/>
              </a:rPr>
              <a:t>Vectored Interrupt Request (IRQ): have the middle priority </a:t>
            </a:r>
          </a:p>
          <a:p>
            <a:pPr marL="227013" lvl="0" indent="-227013" algn="just" hangingPunct="0"/>
            <a:r>
              <a:rPr lang="en-US" sz="1800" dirty="0" smtClean="0">
                <a:latin typeface="Times New Roman" panose="02020603050405020304" pitchFamily="18" charset="0"/>
                <a:cs typeface="Times New Roman" panose="02020603050405020304" pitchFamily="18" charset="0"/>
              </a:rPr>
              <a:t>Non vectored IRQ: have the lowest priority </a:t>
            </a:r>
          </a:p>
          <a:p>
            <a:pPr marL="227013" indent="-227013" algn="just"/>
            <a:r>
              <a:rPr lang="en-US" sz="1800" b="1" dirty="0" smtClean="0">
                <a:latin typeface="Times New Roman" panose="02020603050405020304" pitchFamily="18" charset="0"/>
                <a:cs typeface="Times New Roman" panose="02020603050405020304" pitchFamily="18" charset="0"/>
              </a:rPr>
              <a:t>Fast General Purpose Parallel I/O(GPIO)</a:t>
            </a:r>
            <a:r>
              <a:rPr lang="en-US" sz="1800" dirty="0" smtClean="0">
                <a:latin typeface="Times New Roman" panose="02020603050405020304" pitchFamily="18" charset="0"/>
                <a:cs typeface="Times New Roman" panose="02020603050405020304" pitchFamily="18" charset="0"/>
              </a:rPr>
              <a:t> </a:t>
            </a:r>
          </a:p>
          <a:p>
            <a:pPr marL="227013" indent="-227013" algn="just" hangingPunct="0"/>
            <a:r>
              <a:rPr lang="en-US" sz="1800" dirty="0" smtClean="0">
                <a:latin typeface="Times New Roman" panose="02020603050405020304" pitchFamily="18" charset="0"/>
                <a:cs typeface="Times New Roman" panose="02020603050405020304" pitchFamily="18" charset="0"/>
              </a:rPr>
              <a:t>Device pins that are not connected to a specific peripheral function are controlled by the GPIO registers.</a:t>
            </a:r>
          </a:p>
          <a:p>
            <a:pPr marL="227013" lvl="0" indent="-227013" algn="just" hangingPunct="0"/>
            <a:r>
              <a:rPr lang="en-US" sz="1800" dirty="0" smtClean="0">
                <a:latin typeface="Times New Roman" panose="02020603050405020304" pitchFamily="18" charset="0"/>
                <a:cs typeface="Times New Roman" panose="02020603050405020304" pitchFamily="18" charset="0"/>
              </a:rPr>
              <a:t>Pins may be dynamically configured as inputs or outputs </a:t>
            </a:r>
          </a:p>
          <a:p>
            <a:pPr marL="227013" lvl="0" indent="-227013" algn="just" hangingPunct="0"/>
            <a:r>
              <a:rPr lang="en-US" sz="1800" dirty="0" smtClean="0">
                <a:latin typeface="Times New Roman" panose="02020603050405020304" pitchFamily="18" charset="0"/>
                <a:cs typeface="Times New Roman" panose="02020603050405020304" pitchFamily="18" charset="0"/>
              </a:rPr>
              <a:t>All GPIO registers are byte addressable. </a:t>
            </a:r>
          </a:p>
          <a:p>
            <a:pPr marL="227013" lvl="0" indent="-227013" algn="just" hangingPunct="0"/>
            <a:r>
              <a:rPr lang="en-US" sz="1800" dirty="0" smtClean="0">
                <a:latin typeface="Times New Roman" panose="02020603050405020304" pitchFamily="18" charset="0"/>
                <a:cs typeface="Times New Roman" panose="02020603050405020304" pitchFamily="18" charset="0"/>
              </a:rPr>
              <a:t>Entire port value can be written in one instruction</a:t>
            </a:r>
          </a:p>
          <a:p>
            <a:pPr marL="227013" indent="-227013" algn="just"/>
            <a:r>
              <a:rPr lang="en-US" sz="1800" b="1" dirty="0" smtClean="0">
                <a:latin typeface="Times New Roman" panose="02020603050405020304" pitchFamily="18" charset="0"/>
                <a:cs typeface="Times New Roman" panose="02020603050405020304" pitchFamily="18" charset="0"/>
              </a:rPr>
              <a:t>10 bit ADC</a:t>
            </a:r>
            <a:endParaRPr lang="en-US" sz="1800" dirty="0" smtClean="0">
              <a:latin typeface="Times New Roman" panose="02020603050405020304" pitchFamily="18" charset="0"/>
              <a:cs typeface="Times New Roman" panose="02020603050405020304" pitchFamily="18" charset="0"/>
            </a:endParaRPr>
          </a:p>
          <a:p>
            <a:pPr marL="227013" lvl="0" indent="-227013" algn="just" hangingPunct="0"/>
            <a:r>
              <a:rPr lang="en-US" sz="1800" dirty="0" smtClean="0">
                <a:latin typeface="Times New Roman" panose="02020603050405020304" pitchFamily="18" charset="0"/>
                <a:cs typeface="Times New Roman" panose="02020603050405020304" pitchFamily="18" charset="0"/>
              </a:rPr>
              <a:t>The LPC2148 contains two analog to digital converters. </a:t>
            </a:r>
          </a:p>
          <a:p>
            <a:pPr marL="227013" lvl="0" indent="-227013" algn="just" hangingPunct="0"/>
            <a:r>
              <a:rPr lang="en-US" sz="1800" dirty="0" smtClean="0">
                <a:latin typeface="Times New Roman" panose="02020603050405020304" pitchFamily="18" charset="0"/>
                <a:cs typeface="Times New Roman" panose="02020603050405020304" pitchFamily="18" charset="0"/>
              </a:rPr>
              <a:t>These converters are single 10bit successive approximation analog to digital converters. </a:t>
            </a:r>
          </a:p>
          <a:p>
            <a:pPr marL="227013" indent="-227013" algn="just"/>
            <a:r>
              <a:rPr lang="en-US" sz="1800" dirty="0" smtClean="0">
                <a:latin typeface="Times New Roman" panose="02020603050405020304" pitchFamily="18" charset="0"/>
                <a:cs typeface="Times New Roman" panose="02020603050405020304" pitchFamily="18" charset="0"/>
              </a:rPr>
              <a:t>While ADC0 has six channels, ADC1 has eight channels. Therefore, total number of available ADC inputs </a:t>
            </a:r>
            <a:r>
              <a:rPr lang="en-US" sz="1700" dirty="0" smtClean="0">
                <a:latin typeface="Times New Roman" panose="02020603050405020304" pitchFamily="18" charset="0"/>
                <a:cs typeface="Times New Roman" panose="02020603050405020304" pitchFamily="18" charset="0"/>
              </a:rPr>
              <a:t>for LPC2148 is 14. </a:t>
            </a:r>
          </a:p>
          <a:p>
            <a:pPr lvl="0" algn="just" hangingPunct="0"/>
            <a:endParaRPr lang="en-US" sz="16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11162"/>
          </a:xfrm>
        </p:spPr>
        <p:txBody>
          <a:bodyPr>
            <a:noAutofit/>
          </a:bodyPr>
          <a:lstStyle/>
          <a:p>
            <a:r>
              <a:rPr lang="en-US" sz="4000" b="1" dirty="0" smtClean="0">
                <a:latin typeface="Times New Roman" panose="02020603050405020304" pitchFamily="18" charset="0"/>
                <a:cs typeface="Times New Roman" panose="02020603050405020304" pitchFamily="18" charset="0"/>
              </a:rPr>
              <a:t>Architecture of LPC2148  Cont…..</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9144000" cy="5791200"/>
          </a:xfrm>
        </p:spPr>
        <p:txBody>
          <a:bodyPr>
            <a:noAutofit/>
          </a:bodyPr>
          <a:lstStyle/>
          <a:p>
            <a:r>
              <a:rPr lang="en-US" sz="1800" b="1" dirty="0" smtClean="0">
                <a:latin typeface="Times New Roman" panose="02020603050405020304" pitchFamily="18" charset="0"/>
                <a:cs typeface="Times New Roman" panose="02020603050405020304" pitchFamily="18" charset="0"/>
              </a:rPr>
              <a:t>10 bit DAC</a:t>
            </a:r>
            <a:endParaRPr lang="en-US" sz="1800" dirty="0" smtClean="0">
              <a:latin typeface="Times New Roman" panose="02020603050405020304" pitchFamily="18" charset="0"/>
              <a:cs typeface="Times New Roman" panose="02020603050405020304" pitchFamily="18" charset="0"/>
            </a:endParaRPr>
          </a:p>
          <a:p>
            <a:pPr lvl="0" hangingPunct="0"/>
            <a:r>
              <a:rPr lang="en-US" sz="1800" dirty="0" smtClean="0">
                <a:latin typeface="Times New Roman" panose="02020603050405020304" pitchFamily="18" charset="0"/>
                <a:cs typeface="Times New Roman" panose="02020603050405020304" pitchFamily="18" charset="0"/>
              </a:rPr>
              <a:t>The DAC enables the LPC2148 to generate a variable analog output. </a:t>
            </a:r>
          </a:p>
          <a:p>
            <a:pPr lvl="0" hangingPunct="0"/>
            <a:r>
              <a:rPr lang="en-US" sz="1800" dirty="0" smtClean="0">
                <a:latin typeface="Times New Roman" panose="02020603050405020304" pitchFamily="18" charset="0"/>
                <a:cs typeface="Times New Roman" panose="02020603050405020304" pitchFamily="18" charset="0"/>
              </a:rPr>
              <a:t>The maximum DAC output voltage is the VREF voltage </a:t>
            </a:r>
          </a:p>
          <a:p>
            <a:r>
              <a:rPr lang="en-US" sz="1800" b="1" dirty="0" smtClean="0">
                <a:latin typeface="Times New Roman" panose="02020603050405020304" pitchFamily="18" charset="0"/>
                <a:cs typeface="Times New Roman" panose="02020603050405020304" pitchFamily="18" charset="0"/>
              </a:rPr>
              <a:t>UARTs (Universal Asynchronous Receiver and Transmitter)</a:t>
            </a:r>
            <a:endParaRPr lang="en-US" sz="1800" dirty="0" smtClean="0">
              <a:latin typeface="Times New Roman" panose="02020603050405020304" pitchFamily="18" charset="0"/>
              <a:cs typeface="Times New Roman" panose="02020603050405020304" pitchFamily="18" charset="0"/>
            </a:endParaRPr>
          </a:p>
          <a:p>
            <a:pPr lvl="0" hangingPunct="0"/>
            <a:r>
              <a:rPr lang="en-US" sz="1800" dirty="0" smtClean="0">
                <a:latin typeface="Times New Roman" panose="02020603050405020304" pitchFamily="18" charset="0"/>
                <a:cs typeface="Times New Roman" panose="02020603050405020304" pitchFamily="18" charset="0"/>
              </a:rPr>
              <a:t>The LPC2148 contains two UARTs, UART0 and UART1 </a:t>
            </a:r>
          </a:p>
          <a:p>
            <a:pPr lvl="0" hangingPunct="0"/>
            <a:r>
              <a:rPr lang="en-US" sz="1800" dirty="0" smtClean="0">
                <a:latin typeface="Times New Roman" panose="02020603050405020304" pitchFamily="18" charset="0"/>
                <a:cs typeface="Times New Roman" panose="02020603050405020304" pitchFamily="18" charset="0"/>
              </a:rPr>
              <a:t>16 byte Receive and Transmit FIFOs (First In First Out)  </a:t>
            </a:r>
          </a:p>
          <a:p>
            <a:pPr lvl="0" hangingPunct="0"/>
            <a:r>
              <a:rPr lang="en-US" sz="1800" dirty="0" smtClean="0">
                <a:latin typeface="Times New Roman" panose="02020603050405020304" pitchFamily="18" charset="0"/>
                <a:cs typeface="Times New Roman" panose="02020603050405020304" pitchFamily="18" charset="0"/>
              </a:rPr>
              <a:t>Built-in fractional baud rate generator covering wide range of baud rates without a need for external crystals of particular values </a:t>
            </a:r>
          </a:p>
          <a:p>
            <a:r>
              <a:rPr lang="en-US" sz="1800" b="1" dirty="0" smtClean="0">
                <a:latin typeface="Times New Roman" panose="02020603050405020304" pitchFamily="18" charset="0"/>
                <a:cs typeface="Times New Roman" panose="02020603050405020304" pitchFamily="18" charset="0"/>
              </a:rPr>
              <a:t>I2CBus serial I/O Controller</a:t>
            </a:r>
            <a:endParaRPr lang="en-US" sz="1800" dirty="0" smtClean="0">
              <a:latin typeface="Times New Roman" panose="02020603050405020304" pitchFamily="18" charset="0"/>
              <a:cs typeface="Times New Roman" panose="02020603050405020304" pitchFamily="18" charset="0"/>
            </a:endParaRPr>
          </a:p>
          <a:p>
            <a:pPr lvl="0" hangingPunct="0"/>
            <a:r>
              <a:rPr lang="en-US" sz="1800" dirty="0" smtClean="0">
                <a:latin typeface="Times New Roman" panose="02020603050405020304" pitchFamily="18" charset="0"/>
                <a:cs typeface="Times New Roman" panose="02020603050405020304" pitchFamily="18" charset="0"/>
              </a:rPr>
              <a:t>The LPC2148 contains two I2Cbus controllers. </a:t>
            </a:r>
          </a:p>
          <a:p>
            <a:pPr lvl="0" hangingPunct="0"/>
            <a:r>
              <a:rPr lang="en-US" sz="1800" dirty="0" smtClean="0">
                <a:latin typeface="Times New Roman" panose="02020603050405020304" pitchFamily="18" charset="0"/>
                <a:cs typeface="Times New Roman" panose="02020603050405020304" pitchFamily="18" charset="0"/>
              </a:rPr>
              <a:t>The I2Cbus is bidirectional </a:t>
            </a:r>
          </a:p>
          <a:p>
            <a:pPr lvl="0" hangingPunct="0"/>
            <a:r>
              <a:rPr lang="en-US" sz="1800" dirty="0" smtClean="0">
                <a:latin typeface="Times New Roman" panose="02020603050405020304" pitchFamily="18" charset="0"/>
                <a:cs typeface="Times New Roman" panose="02020603050405020304" pitchFamily="18" charset="0"/>
              </a:rPr>
              <a:t>For inter IC control using only two wires: A serial clock line (SCL), A serial data line (SDL) </a:t>
            </a:r>
          </a:p>
          <a:p>
            <a:r>
              <a:rPr lang="en-US" sz="1800" b="1" dirty="0" smtClean="0">
                <a:latin typeface="Times New Roman" panose="02020603050405020304" pitchFamily="18" charset="0"/>
                <a:cs typeface="Times New Roman" panose="02020603050405020304" pitchFamily="18" charset="0"/>
              </a:rPr>
              <a:t>SPI (Serial Peripheral Interface) I/O Controller</a:t>
            </a:r>
            <a:endParaRPr lang="en-US" sz="1800" dirty="0" smtClean="0">
              <a:latin typeface="Times New Roman" panose="02020603050405020304" pitchFamily="18" charset="0"/>
              <a:cs typeface="Times New Roman" panose="02020603050405020304" pitchFamily="18" charset="0"/>
            </a:endParaRPr>
          </a:p>
          <a:p>
            <a:pPr lvl="0" hangingPunct="0"/>
            <a:r>
              <a:rPr lang="en-US" sz="1800" dirty="0" smtClean="0">
                <a:latin typeface="Times New Roman" panose="02020603050405020304" pitchFamily="18" charset="0"/>
                <a:cs typeface="Times New Roman" panose="02020603050405020304" pitchFamily="18" charset="0"/>
              </a:rPr>
              <a:t>The LPC2148 contains one SPI controller. </a:t>
            </a:r>
          </a:p>
          <a:p>
            <a:pPr lvl="0" hangingPunct="0"/>
            <a:r>
              <a:rPr lang="en-US" sz="1800" dirty="0" smtClean="0">
                <a:latin typeface="Times New Roman" panose="02020603050405020304" pitchFamily="18" charset="0"/>
                <a:cs typeface="Times New Roman" panose="02020603050405020304" pitchFamily="18" charset="0"/>
              </a:rPr>
              <a:t>The SPI is a full duplex serial interface, designed to handle multiple masters and slaves connected to a given bus. </a:t>
            </a:r>
          </a:p>
          <a:p>
            <a:pPr lvl="0" hangingPunct="0"/>
            <a:r>
              <a:rPr lang="en-US" sz="1800" dirty="0" smtClean="0">
                <a:latin typeface="Times New Roman" panose="02020603050405020304" pitchFamily="18" charset="0"/>
                <a:cs typeface="Times New Roman" panose="02020603050405020304" pitchFamily="18" charset="0"/>
              </a:rPr>
              <a:t>Only a single master and a single slave can communicate on the interface during a given data transfer </a:t>
            </a:r>
          </a:p>
          <a:p>
            <a:endParaRPr lang="en-US" sz="21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normAutofit/>
          </a:bodyPr>
          <a:lstStyle/>
          <a:p>
            <a:r>
              <a:rPr lang="en-US" sz="3600" b="1" dirty="0" smtClean="0">
                <a:latin typeface="Times New Roman" panose="02020603050405020304" pitchFamily="18" charset="0"/>
                <a:cs typeface="Times New Roman" panose="02020603050405020304" pitchFamily="18" charset="0"/>
              </a:rPr>
              <a:t>Architecture of LPC2148  Cont…..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812800"/>
            <a:ext cx="8991600" cy="5410200"/>
          </a:xfrm>
        </p:spPr>
        <p:txBody>
          <a:bodyPr>
            <a:noAutofit/>
          </a:bodyPr>
          <a:lstStyle/>
          <a:p>
            <a:pPr algn="just"/>
            <a:r>
              <a:rPr lang="en-US" sz="2400" b="1" dirty="0" smtClean="0">
                <a:latin typeface="Times New Roman" panose="02020603050405020304" pitchFamily="18" charset="0"/>
                <a:cs typeface="Times New Roman" panose="02020603050405020304" pitchFamily="18" charset="0"/>
              </a:rPr>
              <a:t>Crystal Oscillator</a:t>
            </a:r>
            <a:endParaRPr lang="en-US" sz="2400" dirty="0" smtClean="0">
              <a:latin typeface="Times New Roman" panose="02020603050405020304" pitchFamily="18" charset="0"/>
              <a:cs typeface="Times New Roman" panose="02020603050405020304" pitchFamily="18" charset="0"/>
            </a:endParaRPr>
          </a:p>
          <a:p>
            <a:pPr algn="just" hangingPunct="0"/>
            <a:r>
              <a:rPr lang="en-US" sz="2400" dirty="0" smtClean="0">
                <a:latin typeface="Times New Roman" panose="02020603050405020304" pitchFamily="18" charset="0"/>
                <a:cs typeface="Times New Roman" panose="02020603050405020304" pitchFamily="18" charset="0"/>
              </a:rPr>
              <a:t>On chip integrated oscillator operates with external crystal in range of 1 MHz to 25 </a:t>
            </a:r>
            <a:r>
              <a:rPr lang="en-US" sz="2400" dirty="0" err="1" smtClean="0">
                <a:latin typeface="Times New Roman" panose="02020603050405020304" pitchFamily="18" charset="0"/>
                <a:cs typeface="Times New Roman" panose="02020603050405020304" pitchFamily="18" charset="0"/>
              </a:rPr>
              <a:t>MHz.</a:t>
            </a:r>
            <a:endParaRPr lang="en-US" sz="2400" dirty="0" smtClean="0">
              <a:latin typeface="Times New Roman" panose="02020603050405020304" pitchFamily="18" charset="0"/>
              <a:cs typeface="Times New Roman" panose="02020603050405020304" pitchFamily="18" charset="0"/>
            </a:endParaRPr>
          </a:p>
          <a:p>
            <a:pPr algn="just"/>
            <a:r>
              <a:rPr lang="en-US" sz="2400" b="1" dirty="0" smtClean="0">
                <a:latin typeface="Times New Roman" panose="02020603050405020304" pitchFamily="18" charset="0"/>
                <a:cs typeface="Times New Roman" panose="02020603050405020304" pitchFamily="18" charset="0"/>
              </a:rPr>
              <a:t>Watchdog timer</a:t>
            </a:r>
            <a:endParaRPr lang="en-US" sz="2400" dirty="0" smtClean="0">
              <a:latin typeface="Times New Roman" panose="02020603050405020304" pitchFamily="18" charset="0"/>
              <a:cs typeface="Times New Roman" panose="02020603050405020304" pitchFamily="18" charset="0"/>
            </a:endParaRPr>
          </a:p>
          <a:p>
            <a:pPr algn="just" hangingPunct="0"/>
            <a:r>
              <a:rPr lang="en-US" sz="2400" dirty="0" smtClean="0">
                <a:latin typeface="Times New Roman" panose="02020603050405020304" pitchFamily="18" charset="0"/>
                <a:cs typeface="Times New Roman" panose="02020603050405020304" pitchFamily="18" charset="0"/>
              </a:rPr>
              <a:t>The purpose of the watchdog is to reset the microcontroller within a reasonable amount of time if it enters an erroneous state.</a:t>
            </a:r>
          </a:p>
          <a:p>
            <a:pPr algn="just"/>
            <a:r>
              <a:rPr lang="en-US" sz="2400" b="1" dirty="0" smtClean="0">
                <a:latin typeface="Times New Roman" panose="02020603050405020304" pitchFamily="18" charset="0"/>
                <a:cs typeface="Times New Roman" panose="02020603050405020304" pitchFamily="18" charset="0"/>
              </a:rPr>
              <a:t>Real-time clock</a:t>
            </a:r>
            <a:endParaRPr lang="en-US" sz="2400" dirty="0" smtClean="0">
              <a:latin typeface="Times New Roman" panose="02020603050405020304" pitchFamily="18" charset="0"/>
              <a:cs typeface="Times New Roman" panose="02020603050405020304" pitchFamily="18" charset="0"/>
            </a:endParaRPr>
          </a:p>
          <a:p>
            <a:pPr lvl="0" algn="just" hangingPunct="0"/>
            <a:r>
              <a:rPr lang="en-US" sz="2400" dirty="0" smtClean="0">
                <a:latin typeface="Times New Roman" panose="02020603050405020304" pitchFamily="18" charset="0"/>
                <a:cs typeface="Times New Roman" panose="02020603050405020304" pitchFamily="18" charset="0"/>
              </a:rPr>
              <a:t>Measures the passage of time to maintain a calendar and clock. </a:t>
            </a:r>
          </a:p>
          <a:p>
            <a:pPr lvl="0" algn="just" hangingPunct="0"/>
            <a:r>
              <a:rPr lang="en-US" sz="2400" dirty="0" smtClean="0">
                <a:latin typeface="Times New Roman" panose="02020603050405020304" pitchFamily="18" charset="0"/>
                <a:cs typeface="Times New Roman" panose="02020603050405020304" pitchFamily="18" charset="0"/>
              </a:rPr>
              <a:t>Ultra-low power design to support battery powered systems. </a:t>
            </a:r>
          </a:p>
          <a:p>
            <a:pPr lvl="0" algn="just" hangingPunct="0"/>
            <a:r>
              <a:rPr lang="en-US" sz="2400" dirty="0" smtClean="0">
                <a:latin typeface="Times New Roman" panose="02020603050405020304" pitchFamily="18" charset="0"/>
                <a:cs typeface="Times New Roman" panose="02020603050405020304" pitchFamily="18" charset="0"/>
              </a:rPr>
              <a:t>Provides Seconds, Minutes, Hours, Day of Month, Month, Year, Day of Week, and Day of Year</a:t>
            </a:r>
          </a:p>
          <a:p>
            <a:pPr algn="just"/>
            <a:endParaRPr 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577" y="13855"/>
            <a:ext cx="8991600" cy="533400"/>
          </a:xfrm>
        </p:spPr>
        <p:txBody>
          <a:bodyPr>
            <a:normAutofit fontScale="90000"/>
          </a:bodyPr>
          <a:lstStyle/>
          <a:p>
            <a:r>
              <a:rPr lang="en-US" b="1" u="sng" dirty="0" smtClean="0">
                <a:latin typeface="Times New Roman" panose="02020603050405020304" pitchFamily="18" charset="0"/>
                <a:cs typeface="Times New Roman" panose="02020603050405020304" pitchFamily="18" charset="0"/>
              </a:rPr>
              <a:t/>
            </a:r>
            <a:br>
              <a:rPr lang="en-US" b="1" u="sng" dirty="0" smtClean="0">
                <a:latin typeface="Times New Roman" panose="02020603050405020304" pitchFamily="18" charset="0"/>
                <a:cs typeface="Times New Roman" panose="02020603050405020304" pitchFamily="18" charset="0"/>
              </a:rPr>
            </a:br>
            <a:r>
              <a:rPr lang="en-US" sz="3600" b="1" dirty="0" smtClean="0">
                <a:latin typeface="Times New Roman" panose="02020603050405020304" pitchFamily="18" charset="0"/>
                <a:cs typeface="Times New Roman" panose="02020603050405020304" pitchFamily="18" charset="0"/>
              </a:rPr>
              <a:t>System Control block (PLL &amp; VPB Divider)</a:t>
            </a:r>
            <a:r>
              <a:rPr lang="en-US" sz="3100" dirty="0" smtClean="0">
                <a:latin typeface="Times New Roman" panose="02020603050405020304" pitchFamily="18" charset="0"/>
                <a:cs typeface="Times New Roman" panose="02020603050405020304" pitchFamily="18" charset="0"/>
              </a:rPr>
              <a:t/>
            </a:r>
            <a:br>
              <a:rPr lang="en-US" sz="3100" dirty="0" smtClean="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200" y="609600"/>
            <a:ext cx="9067800" cy="6248400"/>
          </a:xfrm>
        </p:spPr>
        <p:txBody>
          <a:bodyPr>
            <a:noAutofit/>
          </a:bodyPr>
          <a:lstStyle/>
          <a:p>
            <a:pPr algn="just"/>
            <a:r>
              <a:rPr lang="en-US" sz="1700" b="1" dirty="0" smtClean="0">
                <a:latin typeface="Times New Roman" pitchFamily="18" charset="0"/>
                <a:cs typeface="Times New Roman" pitchFamily="18" charset="0"/>
              </a:rPr>
              <a:t> </a:t>
            </a:r>
            <a:r>
              <a:rPr lang="en-US" sz="1700" dirty="0" smtClean="0">
                <a:latin typeface="Times New Roman" pitchFamily="18" charset="0"/>
                <a:cs typeface="Times New Roman" pitchFamily="18" charset="0"/>
              </a:rPr>
              <a:t>The System Control Block includes several system features and control registers for a number of functions that are not related to specific peripheral devices. These include:</a:t>
            </a:r>
          </a:p>
          <a:p>
            <a:pPr algn="just"/>
            <a:r>
              <a:rPr lang="en-US" sz="1700" b="1" dirty="0" smtClean="0">
                <a:latin typeface="Times New Roman" pitchFamily="18" charset="0"/>
                <a:cs typeface="Times New Roman" pitchFamily="18" charset="0"/>
              </a:rPr>
              <a:t>Crystal Oscillator</a:t>
            </a:r>
            <a:r>
              <a:rPr lang="en-US" sz="1700" dirty="0" smtClean="0">
                <a:latin typeface="Times New Roman" pitchFamily="18" charset="0"/>
                <a:cs typeface="Times New Roman" pitchFamily="18" charset="0"/>
              </a:rPr>
              <a:t>:   On-chip integrated oscillator operates with external crystal in range of 1 MHz to 25 MHz </a:t>
            </a:r>
          </a:p>
          <a:p>
            <a:pPr lvl="0" algn="just" hangingPunct="0"/>
            <a:r>
              <a:rPr lang="en-US" sz="1700" b="1" dirty="0" smtClean="0">
                <a:latin typeface="Times New Roman" pitchFamily="18" charset="0"/>
                <a:cs typeface="Times New Roman" pitchFamily="18" charset="0"/>
              </a:rPr>
              <a:t>External Interrupt Inputs: </a:t>
            </a:r>
          </a:p>
          <a:p>
            <a:pPr lvl="1" algn="just" hangingPunct="0"/>
            <a:r>
              <a:rPr lang="en-US" sz="1700" b="1" dirty="0" smtClean="0">
                <a:latin typeface="Times New Roman" pitchFamily="18" charset="0"/>
                <a:cs typeface="Times New Roman" pitchFamily="18" charset="0"/>
              </a:rPr>
              <a:t>The LPC2148 includes four External Interrupt Inputs as selectable pin functions. </a:t>
            </a:r>
          </a:p>
          <a:p>
            <a:pPr lvl="1" algn="just" hangingPunct="0"/>
            <a:r>
              <a:rPr lang="en-US" sz="1700" b="1" dirty="0" smtClean="0">
                <a:latin typeface="Times New Roman" pitchFamily="18" charset="0"/>
                <a:cs typeface="Times New Roman" pitchFamily="18" charset="0"/>
              </a:rPr>
              <a:t>The External Interrupt Inputs can optionally be used to wake up the processor from Power-down mode. </a:t>
            </a:r>
          </a:p>
          <a:p>
            <a:pPr lvl="0" algn="just" hangingPunct="0"/>
            <a:r>
              <a:rPr lang="en-US" sz="1700" b="1" dirty="0" smtClean="0">
                <a:latin typeface="Times New Roman" pitchFamily="18" charset="0"/>
                <a:cs typeface="Times New Roman" pitchFamily="18" charset="0"/>
              </a:rPr>
              <a:t>Memory Mapping Control: </a:t>
            </a:r>
          </a:p>
          <a:p>
            <a:pPr lvl="1" algn="just" hangingPunct="0"/>
            <a:r>
              <a:rPr lang="en-US" sz="1700" b="1" dirty="0" smtClean="0">
                <a:latin typeface="Times New Roman" pitchFamily="18" charset="0"/>
                <a:cs typeface="Times New Roman" pitchFamily="18" charset="0"/>
              </a:rPr>
              <a:t>The Memory Mapping Control alters the mapping of the interrupt vectors that appear beginning at address 0x0000 0000. </a:t>
            </a:r>
          </a:p>
          <a:p>
            <a:pPr lvl="1" algn="just" hangingPunct="0"/>
            <a:r>
              <a:rPr lang="en-US" sz="1700" b="1" dirty="0" smtClean="0">
                <a:latin typeface="Times New Roman" pitchFamily="18" charset="0"/>
                <a:cs typeface="Times New Roman" pitchFamily="18" charset="0"/>
              </a:rPr>
              <a:t>This allows code running in different memory spaces to have control of the interrupts. </a:t>
            </a:r>
          </a:p>
          <a:p>
            <a:pPr lvl="0" algn="just" hangingPunct="0"/>
            <a:r>
              <a:rPr lang="en-US" sz="1700" b="1" dirty="0" smtClean="0">
                <a:latin typeface="Times New Roman" pitchFamily="18" charset="0"/>
                <a:cs typeface="Times New Roman" pitchFamily="18" charset="0"/>
              </a:rPr>
              <a:t>Power Control: </a:t>
            </a:r>
          </a:p>
          <a:p>
            <a:pPr lvl="1" algn="just" hangingPunct="0"/>
            <a:r>
              <a:rPr lang="en-US" sz="1700" b="1" dirty="0" smtClean="0">
                <a:latin typeface="Times New Roman" pitchFamily="18" charset="0"/>
                <a:cs typeface="Times New Roman" pitchFamily="18" charset="0"/>
              </a:rPr>
              <a:t>The LPC2141/2/4/6/8 supports two reduced power modes: Idle mode and Power-down mode </a:t>
            </a:r>
          </a:p>
          <a:p>
            <a:pPr lvl="1" algn="just" hangingPunct="0"/>
            <a:r>
              <a:rPr lang="en-US" sz="1700" b="1" dirty="0" smtClean="0">
                <a:latin typeface="Times New Roman" pitchFamily="18" charset="0"/>
                <a:cs typeface="Times New Roman" pitchFamily="18" charset="0"/>
              </a:rPr>
              <a:t>The Power Control function contains two registers PCON (Power Control Register), PCONP (Power Control for Peripherals Register) </a:t>
            </a:r>
          </a:p>
          <a:p>
            <a:pPr lvl="0" algn="just" hangingPunct="0"/>
            <a:r>
              <a:rPr lang="en-US" sz="1700" b="1" dirty="0" smtClean="0">
                <a:latin typeface="Times New Roman" pitchFamily="18" charset="0"/>
                <a:cs typeface="Times New Roman" pitchFamily="18" charset="0"/>
              </a:rPr>
              <a:t>Reset: </a:t>
            </a:r>
          </a:p>
          <a:p>
            <a:pPr lvl="0" algn="just" hangingPunct="0"/>
            <a:r>
              <a:rPr lang="en-US" sz="1700" b="1" dirty="0" smtClean="0">
                <a:latin typeface="Times New Roman" pitchFamily="18" charset="0"/>
                <a:cs typeface="Times New Roman" pitchFamily="18" charset="0"/>
              </a:rPr>
              <a:t>PLL  </a:t>
            </a:r>
          </a:p>
          <a:p>
            <a:pPr lvl="0" algn="just" hangingPunct="0"/>
            <a:r>
              <a:rPr lang="en-US" sz="1700" b="1" dirty="0" smtClean="0">
                <a:latin typeface="Times New Roman" pitchFamily="18" charset="0"/>
                <a:cs typeface="Times New Roman" pitchFamily="18" charset="0"/>
              </a:rPr>
              <a:t>VPB Divider </a:t>
            </a:r>
          </a:p>
          <a:p>
            <a:pPr lvl="1" hangingPunct="0"/>
            <a:endParaRPr lang="en-US" sz="1100" b="1" dirty="0" smtClean="0">
              <a:latin typeface="Times New Roman" pitchFamily="18" charset="0"/>
              <a:cs typeface="Times New Roman" pitchFamily="18" charset="0"/>
            </a:endParaRPr>
          </a:p>
          <a:p>
            <a:endParaRPr lang="en-US" sz="18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fontScale="90000"/>
          </a:bodyPr>
          <a:lstStyle/>
          <a:p>
            <a:r>
              <a:rPr lang="en-US" sz="3600" b="1" dirty="0" smtClean="0"/>
              <a:t>PLL (Phased Lock Loop):</a:t>
            </a:r>
            <a:r>
              <a:rPr lang="en-US" sz="3600" dirty="0" smtClean="0"/>
              <a:t/>
            </a:r>
            <a:br>
              <a:rPr lang="en-US" sz="3600" dirty="0" smtClean="0"/>
            </a:br>
            <a:r>
              <a:rPr lang="en-US" dirty="0" smtClean="0"/>
              <a:t> </a:t>
            </a:r>
            <a:br>
              <a:rPr lang="en-US" dirty="0" smtClean="0"/>
            </a:br>
            <a:endParaRPr lang="en-US" dirty="0"/>
          </a:p>
        </p:txBody>
      </p:sp>
      <p:sp>
        <p:nvSpPr>
          <p:cNvPr id="3" name="Content Placeholder 2"/>
          <p:cNvSpPr>
            <a:spLocks noGrp="1"/>
          </p:cNvSpPr>
          <p:nvPr>
            <p:ph idx="1"/>
          </p:nvPr>
        </p:nvSpPr>
        <p:spPr>
          <a:xfrm>
            <a:off x="0" y="609600"/>
            <a:ext cx="8991600" cy="6248400"/>
          </a:xfrm>
        </p:spPr>
        <p:txBody>
          <a:bodyPr>
            <a:normAutofit fontScale="62500" lnSpcReduction="20000"/>
          </a:bodyPr>
          <a:lstStyle/>
          <a:p>
            <a:pPr marL="0" indent="4763" algn="just">
              <a:buNone/>
            </a:pPr>
            <a:r>
              <a:rPr lang="en-US" dirty="0" smtClean="0">
                <a:latin typeface="Times New Roman" panose="02020603050405020304" pitchFamily="18" charset="0"/>
                <a:cs typeface="Times New Roman" panose="02020603050405020304" pitchFamily="18" charset="0"/>
              </a:rPr>
              <a:t>PLL is a closed loop control system to generate high frequency by multiplying with given factor to the input frequency.</a:t>
            </a:r>
          </a:p>
          <a:p>
            <a:pPr algn="just"/>
            <a:endParaRPr lang="en-US" dirty="0" smtClean="0"/>
          </a:p>
          <a:p>
            <a:pPr algn="just"/>
            <a:endParaRPr lang="en-US" dirty="0" smtClean="0"/>
          </a:p>
          <a:p>
            <a:pPr algn="just"/>
            <a:endParaRPr lang="en-US" dirty="0" smtClean="0"/>
          </a:p>
          <a:p>
            <a:pPr algn="just"/>
            <a:endParaRPr lang="en-US" dirty="0" smtClean="0"/>
          </a:p>
          <a:p>
            <a:pPr algn="just"/>
            <a:endParaRPr lang="en-US" dirty="0" smtClean="0"/>
          </a:p>
          <a:p>
            <a:pPr algn="just"/>
            <a:endParaRPr lang="en-US" dirty="0" smtClean="0"/>
          </a:p>
          <a:p>
            <a:pPr algn="just"/>
            <a:endParaRPr lang="en-US" dirty="0" smtClean="0"/>
          </a:p>
          <a:p>
            <a:pPr algn="just"/>
            <a:endParaRPr lang="en-US" dirty="0" smtClean="0"/>
          </a:p>
          <a:p>
            <a:pPr marL="290513" lvl="0" indent="-276225" algn="just" fontAlgn="base">
              <a:spcBef>
                <a:spcPct val="0"/>
              </a:spcBef>
              <a:spcAft>
                <a:spcPct val="0"/>
              </a:spcAft>
              <a:buFontTx/>
              <a:buChar char="•"/>
              <a:tabLst>
                <a:tab pos="798513" algn="l"/>
              </a:tabLst>
            </a:pPr>
            <a:r>
              <a:rPr lang="en-US" dirty="0" smtClean="0">
                <a:latin typeface="Times New Roman" panose="02020603050405020304" pitchFamily="18" charset="0"/>
                <a:ea typeface="Times New Roman" panose="02020603050405020304" pitchFamily="18" charset="0"/>
                <a:cs typeface="Times New Roman" panose="02020603050405020304" pitchFamily="18" charset="0"/>
              </a:rPr>
              <a:t>There are two PLL modules in the LPC2141/2/4/6/8 microcontroller.  The PLL0 is used to generate the CCLK clock (system clock) while the PLL1 has to supply the clock for the USB at the fixed rate of 48 MHz </a:t>
            </a:r>
            <a:endParaRPr lang="en-US" sz="1400" dirty="0" smtClean="0">
              <a:latin typeface="Times New Roman" panose="02020603050405020304" pitchFamily="18" charset="0"/>
              <a:cs typeface="Times New Roman" panose="02020603050405020304" pitchFamily="18" charset="0"/>
            </a:endParaRPr>
          </a:p>
          <a:p>
            <a:pPr marL="290513" lvl="0" indent="-276225" algn="just" eaLnBrk="0" fontAlgn="base" hangingPunct="0">
              <a:spcBef>
                <a:spcPct val="0"/>
              </a:spcBef>
              <a:spcAft>
                <a:spcPct val="0"/>
              </a:spcAft>
              <a:buFontTx/>
              <a:buChar char="•"/>
              <a:tabLst>
                <a:tab pos="798513" algn="l"/>
              </a:tabLst>
            </a:pPr>
            <a:r>
              <a:rPr lang="en-US" dirty="0" smtClean="0">
                <a:latin typeface="Times New Roman" panose="02020603050405020304" pitchFamily="18" charset="0"/>
                <a:ea typeface="Times New Roman" pitchFamily="18" charset="0"/>
                <a:cs typeface="Times New Roman" panose="02020603050405020304" pitchFamily="18" charset="0"/>
              </a:rPr>
              <a:t>The PLL0 and PLL1 accept an input clock frequency in the range of 10MHz to 25 MHz only. The input frequency is multiplied up the range of 10 MHz to 60 MHz for the CCLK and 48 MHz for the USB clock using a Current Controlled Oscillators (CCO). </a:t>
            </a:r>
            <a:endParaRPr lang="en-US" sz="1400" dirty="0" smtClean="0">
              <a:latin typeface="Times New Roman" panose="02020603050405020304" pitchFamily="18" charset="0"/>
              <a:cs typeface="Times New Roman" panose="02020603050405020304" pitchFamily="18" charset="0"/>
            </a:endParaRPr>
          </a:p>
          <a:p>
            <a:pPr marL="290513" lvl="0" indent="-276225" algn="just" eaLnBrk="0" fontAlgn="base" hangingPunct="0">
              <a:spcBef>
                <a:spcPct val="0"/>
              </a:spcBef>
              <a:spcAft>
                <a:spcPct val="0"/>
              </a:spcAft>
              <a:buFontTx/>
              <a:buChar char="•"/>
              <a:tabLst>
                <a:tab pos="798513" algn="l"/>
              </a:tabLst>
            </a:pPr>
            <a:r>
              <a:rPr lang="en-US" dirty="0" smtClean="0">
                <a:latin typeface="Times New Roman" panose="02020603050405020304" pitchFamily="18" charset="0"/>
                <a:ea typeface="Times New Roman" pitchFamily="18" charset="0"/>
                <a:cs typeface="Times New Roman" panose="02020603050405020304" pitchFamily="18" charset="0"/>
              </a:rPr>
              <a:t>The multiplier can be an integer value from 1 to 6 due to the upper frequency limit of the CPU. </a:t>
            </a:r>
            <a:endParaRPr lang="en-US" sz="1400" dirty="0" smtClean="0">
              <a:latin typeface="Times New Roman" panose="02020603050405020304" pitchFamily="18" charset="0"/>
              <a:cs typeface="Times New Roman" panose="02020603050405020304" pitchFamily="18" charset="0"/>
            </a:endParaRPr>
          </a:p>
          <a:p>
            <a:pPr marL="290513" lvl="0" indent="-276225" algn="just" eaLnBrk="0" fontAlgn="base" hangingPunct="0">
              <a:spcBef>
                <a:spcPct val="0"/>
              </a:spcBef>
              <a:spcAft>
                <a:spcPct val="0"/>
              </a:spcAft>
              <a:buFontTx/>
              <a:buChar char="•"/>
              <a:tabLst>
                <a:tab pos="798513" algn="l"/>
              </a:tabLst>
            </a:pPr>
            <a:r>
              <a:rPr lang="en-US" dirty="0" smtClean="0">
                <a:latin typeface="Times New Roman" panose="02020603050405020304" pitchFamily="18" charset="0"/>
                <a:ea typeface="Times New Roman" pitchFamily="18" charset="0"/>
                <a:cs typeface="Times New Roman" panose="02020603050405020304" pitchFamily="18" charset="0"/>
              </a:rPr>
              <a:t>The output divider may be set to divide by 2, 4, 8, or 16 to produce the output clock. </a:t>
            </a:r>
            <a:endParaRPr lang="en-US" sz="1400" dirty="0" smtClean="0">
              <a:latin typeface="Times New Roman" panose="02020603050405020304" pitchFamily="18" charset="0"/>
              <a:cs typeface="Times New Roman" panose="02020603050405020304" pitchFamily="18" charset="0"/>
            </a:endParaRPr>
          </a:p>
          <a:p>
            <a:pPr marL="290513" lvl="0" indent="-276225" algn="just" eaLnBrk="0" fontAlgn="base" hangingPunct="0">
              <a:spcBef>
                <a:spcPct val="0"/>
              </a:spcBef>
              <a:spcAft>
                <a:spcPct val="0"/>
              </a:spcAft>
              <a:buFontTx/>
              <a:buChar char="•"/>
              <a:tabLst>
                <a:tab pos="798513" algn="l"/>
              </a:tabLst>
            </a:pPr>
            <a:r>
              <a:rPr lang="en-US" dirty="0" smtClean="0">
                <a:latin typeface="Times New Roman" panose="02020603050405020304" pitchFamily="18" charset="0"/>
                <a:ea typeface="Times New Roman" pitchFamily="18" charset="0"/>
                <a:cs typeface="Times New Roman" panose="02020603050405020304" pitchFamily="18" charset="0"/>
              </a:rPr>
              <a:t>Since the minimum output divider value is 2, it is insured that the PLL output has a 50% duty cycle </a:t>
            </a:r>
            <a:endParaRPr lang="en-US" sz="4000" dirty="0" smtClean="0">
              <a:latin typeface="Times New Roman" panose="02020603050405020304" pitchFamily="18" charset="0"/>
              <a:cs typeface="Times New Roman" panose="02020603050405020304" pitchFamily="18" charset="0"/>
            </a:endParaRPr>
          </a:p>
          <a:p>
            <a:pPr algn="just"/>
            <a:endParaRPr lang="en-US" dirty="0"/>
          </a:p>
        </p:txBody>
      </p:sp>
      <p:pic>
        <p:nvPicPr>
          <p:cNvPr id="4" name="Picture 3"/>
          <p:cNvPicPr/>
          <p:nvPr/>
        </p:nvPicPr>
        <p:blipFill>
          <a:blip r:embed="rId2" cstate="print"/>
          <a:srcRect/>
          <a:stretch>
            <a:fillRect/>
          </a:stretch>
        </p:blipFill>
        <p:spPr bwMode="auto">
          <a:xfrm>
            <a:off x="1219200" y="1219200"/>
            <a:ext cx="6858000" cy="2286000"/>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Autofit/>
          </a:bodyPr>
          <a:lstStyle/>
          <a:p>
            <a:r>
              <a:rPr lang="en-US" b="1" dirty="0" smtClean="0">
                <a:latin typeface="Times New Roman" panose="02020603050405020304" pitchFamily="18" charset="0"/>
                <a:cs typeface="Times New Roman" panose="02020603050405020304" pitchFamily="18" charset="0"/>
              </a:rPr>
              <a:t>PLL Architecture</a:t>
            </a:r>
            <a:endParaRPr lang="en-US" b="1" dirty="0">
              <a:latin typeface="Times New Roman" panose="02020603050405020304" pitchFamily="18" charset="0"/>
              <a:cs typeface="Times New Roman" panose="02020603050405020304" pitchFamily="18" charset="0"/>
            </a:endParaRPr>
          </a:p>
        </p:txBody>
      </p:sp>
      <p:pic>
        <p:nvPicPr>
          <p:cNvPr id="2050" name="Picture 2"/>
          <p:cNvPicPr>
            <a:picLocks noGrp="1" noChangeAspect="1" noChangeArrowheads="1"/>
          </p:cNvPicPr>
          <p:nvPr>
            <p:ph idx="1"/>
          </p:nvPr>
        </p:nvPicPr>
        <p:blipFill>
          <a:blip r:embed="rId2" cstate="print"/>
          <a:srcRect/>
          <a:stretch>
            <a:fillRect/>
          </a:stretch>
        </p:blipFill>
        <p:spPr bwMode="auto">
          <a:xfrm>
            <a:off x="381000" y="1219200"/>
            <a:ext cx="8534400" cy="5334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cstate="print"/>
          <a:srcRect/>
          <a:stretch>
            <a:fillRect/>
          </a:stretch>
        </p:blipFill>
        <p:spPr bwMode="auto">
          <a:xfrm>
            <a:off x="2438400" y="682523"/>
            <a:ext cx="4648200" cy="2743199"/>
          </a:xfrm>
          <a:prstGeom prst="rect">
            <a:avLst/>
          </a:prstGeom>
          <a:noFill/>
        </p:spPr>
      </p:pic>
      <p:graphicFrame>
        <p:nvGraphicFramePr>
          <p:cNvPr id="5" name="Content Placeholder 3"/>
          <p:cNvGraphicFramePr>
            <a:graphicFrameLocks/>
          </p:cNvGraphicFramePr>
          <p:nvPr>
            <p:extLst>
              <p:ext uri="{D42A27DB-BD31-4B8C-83A1-F6EECF244321}">
                <p14:modId xmlns:p14="http://schemas.microsoft.com/office/powerpoint/2010/main" val="753301499"/>
              </p:ext>
            </p:extLst>
          </p:nvPr>
        </p:nvGraphicFramePr>
        <p:xfrm>
          <a:off x="1225549" y="3635828"/>
          <a:ext cx="7073901" cy="3200401"/>
        </p:xfrm>
        <a:graphic>
          <a:graphicData uri="http://schemas.openxmlformats.org/drawingml/2006/table">
            <a:tbl>
              <a:tblPr/>
              <a:tblGrid>
                <a:gridCol w="83386">
                  <a:extLst>
                    <a:ext uri="{9D8B030D-6E8A-4147-A177-3AD203B41FA5}">
                      <a16:colId xmlns="" xmlns:a16="http://schemas.microsoft.com/office/drawing/2014/main" val="20000"/>
                    </a:ext>
                  </a:extLst>
                </a:gridCol>
                <a:gridCol w="1028426">
                  <a:extLst>
                    <a:ext uri="{9D8B030D-6E8A-4147-A177-3AD203B41FA5}">
                      <a16:colId xmlns="" xmlns:a16="http://schemas.microsoft.com/office/drawing/2014/main" val="20001"/>
                    </a:ext>
                  </a:extLst>
                </a:gridCol>
                <a:gridCol w="83386">
                  <a:extLst>
                    <a:ext uri="{9D8B030D-6E8A-4147-A177-3AD203B41FA5}">
                      <a16:colId xmlns="" xmlns:a16="http://schemas.microsoft.com/office/drawing/2014/main" val="20002"/>
                    </a:ext>
                  </a:extLst>
                </a:gridCol>
                <a:gridCol w="277953">
                  <a:extLst>
                    <a:ext uri="{9D8B030D-6E8A-4147-A177-3AD203B41FA5}">
                      <a16:colId xmlns="" xmlns:a16="http://schemas.microsoft.com/office/drawing/2014/main" val="20003"/>
                    </a:ext>
                  </a:extLst>
                </a:gridCol>
                <a:gridCol w="4864175">
                  <a:extLst>
                    <a:ext uri="{9D8B030D-6E8A-4147-A177-3AD203B41FA5}">
                      <a16:colId xmlns="" xmlns:a16="http://schemas.microsoft.com/office/drawing/2014/main" val="20004"/>
                    </a:ext>
                  </a:extLst>
                </a:gridCol>
                <a:gridCol w="83386">
                  <a:extLst>
                    <a:ext uri="{9D8B030D-6E8A-4147-A177-3AD203B41FA5}">
                      <a16:colId xmlns="" xmlns:a16="http://schemas.microsoft.com/office/drawing/2014/main" val="20005"/>
                    </a:ext>
                  </a:extLst>
                </a:gridCol>
                <a:gridCol w="305748">
                  <a:extLst>
                    <a:ext uri="{9D8B030D-6E8A-4147-A177-3AD203B41FA5}">
                      <a16:colId xmlns="" xmlns:a16="http://schemas.microsoft.com/office/drawing/2014/main" val="20006"/>
                    </a:ext>
                  </a:extLst>
                </a:gridCol>
                <a:gridCol w="83386">
                  <a:extLst>
                    <a:ext uri="{9D8B030D-6E8A-4147-A177-3AD203B41FA5}">
                      <a16:colId xmlns="" xmlns:a16="http://schemas.microsoft.com/office/drawing/2014/main" val="20007"/>
                    </a:ext>
                  </a:extLst>
                </a:gridCol>
                <a:gridCol w="236260">
                  <a:extLst>
                    <a:ext uri="{9D8B030D-6E8A-4147-A177-3AD203B41FA5}">
                      <a16:colId xmlns="" xmlns:a16="http://schemas.microsoft.com/office/drawing/2014/main" val="20008"/>
                    </a:ext>
                  </a:extLst>
                </a:gridCol>
                <a:gridCol w="27795">
                  <a:extLst>
                    <a:ext uri="{9D8B030D-6E8A-4147-A177-3AD203B41FA5}">
                      <a16:colId xmlns="" xmlns:a16="http://schemas.microsoft.com/office/drawing/2014/main" val="20009"/>
                    </a:ext>
                  </a:extLst>
                </a:gridCol>
              </a:tblGrid>
              <a:tr h="282316">
                <a:tc>
                  <a:txBody>
                    <a:bodyPr/>
                    <a:lstStyle/>
                    <a:p>
                      <a:pPr marL="0" marR="0">
                        <a:lnSpc>
                          <a:spcPct val="115000"/>
                        </a:lnSpc>
                        <a:spcBef>
                          <a:spcPts val="0"/>
                        </a:spcBef>
                        <a:spcAft>
                          <a:spcPts val="0"/>
                        </a:spcAft>
                      </a:pPr>
                      <a:endParaRPr lang="en-US" sz="1200" dirty="0">
                        <a:latin typeface="Times New Roman"/>
                        <a:ea typeface="Times New Roman"/>
                        <a:cs typeface="Times New Roman"/>
                      </a:endParaRPr>
                    </a:p>
                  </a:txBody>
                  <a:tcPr marL="0" marR="0" marT="0" marB="0" anchor="b">
                    <a:lnL w="12700" cap="flat" cmpd="sng" algn="ctr">
                      <a:solidFill>
                        <a:srgbClr val="404040"/>
                      </a:solidFill>
                      <a:prstDash val="solid"/>
                      <a:round/>
                      <a:headEnd type="none" w="med" len="med"/>
                      <a:tailEnd type="none" w="med" len="med"/>
                    </a:lnL>
                    <a:lnR>
                      <a:noFill/>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solidFill>
                      <a:srgbClr val="000000"/>
                    </a:solidFill>
                  </a:tcPr>
                </a:tc>
                <a:tc>
                  <a:txBody>
                    <a:bodyPr/>
                    <a:lstStyle/>
                    <a:p>
                      <a:pPr marL="152400" marR="0">
                        <a:lnSpc>
                          <a:spcPts val="1605"/>
                        </a:lnSpc>
                        <a:spcBef>
                          <a:spcPts val="0"/>
                        </a:spcBef>
                        <a:spcAft>
                          <a:spcPts val="0"/>
                        </a:spcAft>
                      </a:pPr>
                      <a:r>
                        <a:rPr lang="en-US" sz="1400" b="1">
                          <a:solidFill>
                            <a:srgbClr val="FFFFFF"/>
                          </a:solidFill>
                          <a:latin typeface="Times New Roman"/>
                          <a:ea typeface="Times New Roman"/>
                          <a:cs typeface="Times New Roman"/>
                        </a:rPr>
                        <a:t>Element</a:t>
                      </a:r>
                      <a:endParaRPr lang="en-US" sz="1100">
                        <a:latin typeface="Calibri"/>
                        <a:ea typeface="Times New Roman"/>
                        <a:cs typeface="Times New Roman"/>
                      </a:endParaRPr>
                    </a:p>
                  </a:txBody>
                  <a:tcPr marL="0" marR="0" marT="0" marB="0" anchor="b">
                    <a:lnL>
                      <a:noFill/>
                    </a:lnL>
                    <a:lnR>
                      <a:noFill/>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solidFill>
                      <a:srgbClr val="000000"/>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solidFill>
                      <a:srgbClr val="000000"/>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solidFill>
                      <a:srgbClr val="000000"/>
                    </a:solidFill>
                  </a:tcPr>
                </a:tc>
                <a:tc gridSpan="3">
                  <a:txBody>
                    <a:bodyPr/>
                    <a:lstStyle/>
                    <a:p>
                      <a:pPr marL="1955800" marR="0">
                        <a:lnSpc>
                          <a:spcPts val="1605"/>
                        </a:lnSpc>
                        <a:spcBef>
                          <a:spcPts val="0"/>
                        </a:spcBef>
                        <a:spcAft>
                          <a:spcPts val="0"/>
                        </a:spcAft>
                      </a:pPr>
                      <a:r>
                        <a:rPr lang="en-US" sz="1400" b="1" dirty="0">
                          <a:solidFill>
                            <a:srgbClr val="FFFFFF"/>
                          </a:solidFill>
                          <a:latin typeface="Times New Roman"/>
                          <a:ea typeface="Times New Roman"/>
                          <a:cs typeface="Times New Roman"/>
                        </a:rPr>
                        <a:t>Description</a:t>
                      </a:r>
                      <a:endParaRPr lang="en-US" sz="1100" dirty="0">
                        <a:latin typeface="Calibri"/>
                        <a:ea typeface="Times New Roman"/>
                        <a:cs typeface="Times New Roman"/>
                      </a:endParaRPr>
                    </a:p>
                  </a:txBody>
                  <a:tcPr marL="0" marR="0" marT="0" marB="0" anchor="b">
                    <a:lnL>
                      <a:noFill/>
                    </a:lnL>
                    <a:lnR>
                      <a:noFill/>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solidFill>
                      <a:srgbClr val="000000"/>
                    </a:solidFill>
                  </a:tcPr>
                </a:tc>
                <a:tc hMerge="1">
                  <a:txBody>
                    <a:bodyPr/>
                    <a:lstStyle/>
                    <a:p>
                      <a:endParaRPr lang="en-US"/>
                    </a:p>
                  </a:txBody>
                  <a:tcPr/>
                </a:tc>
                <a:tc hMerge="1">
                  <a:txBody>
                    <a:bodyPr/>
                    <a:lstStyle/>
                    <a:p>
                      <a:endParaRPr lang="en-US"/>
                    </a:p>
                  </a:txBody>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404040"/>
                      </a:solidFill>
                      <a:prstDash val="solid"/>
                      <a:round/>
                      <a:headEnd type="none" w="med" len="med"/>
                      <a:tailEnd type="none" w="med" len="med"/>
                    </a:lnB>
                    <a:solidFill>
                      <a:srgbClr val="000000"/>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404040"/>
                      </a:solidFill>
                      <a:prstDash val="solid"/>
                      <a:round/>
                      <a:headEnd type="none" w="med" len="med"/>
                      <a:tailEnd type="none" w="med" len="med"/>
                    </a:lnL>
                    <a:lnR>
                      <a:noFill/>
                    </a:lnR>
                    <a:lnT>
                      <a:noFill/>
                    </a:lnT>
                    <a:lnB>
                      <a:noFill/>
                    </a:lnB>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00"/>
                  </a:ext>
                </a:extLst>
              </a:tr>
              <a:tr h="79742">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w="12700" cap="flat" cmpd="sng" algn="ctr">
                      <a:solidFill>
                        <a:srgbClr val="404040"/>
                      </a:solidFill>
                      <a:prstDash val="solid"/>
                      <a:round/>
                      <a:headEnd type="none" w="med" len="med"/>
                      <a:tailEnd type="none" w="med" len="med"/>
                    </a:lnL>
                    <a:lnR>
                      <a:noFill/>
                    </a:lnR>
                    <a:lnT w="12700" cap="flat" cmpd="sng" algn="ctr">
                      <a:solidFill>
                        <a:srgbClr val="40404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a:noFill/>
                    </a:lnR>
                    <a:lnT w="12700" cap="flat" cmpd="sng" algn="ctr">
                      <a:solidFill>
                        <a:srgbClr val="40404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40404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40404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350" dirty="0">
                        <a:latin typeface="Times New Roman"/>
                        <a:ea typeface="Times New Roman"/>
                        <a:cs typeface="Times New Roman"/>
                      </a:endParaRPr>
                    </a:p>
                  </a:txBody>
                  <a:tcPr marL="0" marR="0" marT="0" marB="0" anchor="b">
                    <a:lnL>
                      <a:noFill/>
                    </a:lnL>
                    <a:lnR>
                      <a:noFill/>
                    </a:lnR>
                    <a:lnT w="12700" cap="flat" cmpd="sng" algn="ctr">
                      <a:solidFill>
                        <a:srgbClr val="40404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a:noFill/>
                    </a:lnR>
                    <a:lnT w="12700" cap="flat" cmpd="sng" algn="ctr">
                      <a:solidFill>
                        <a:srgbClr val="40404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a:noFill/>
                    </a:lnR>
                    <a:lnT w="12700" cap="flat" cmpd="sng" algn="ctr">
                      <a:solidFill>
                        <a:srgbClr val="40404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w="12700" cap="flat" cmpd="sng" algn="ctr">
                      <a:solidFill>
                        <a:srgbClr val="404040"/>
                      </a:solidFill>
                      <a:prstDash val="solid"/>
                      <a:round/>
                      <a:headEnd type="none" w="med" len="med"/>
                      <a:tailEnd type="none" w="med" len="med"/>
                    </a:lnL>
                    <a:lnR>
                      <a:noFill/>
                    </a:lnR>
                    <a:lnT>
                      <a:noFill/>
                    </a:lnT>
                    <a:lnB>
                      <a:noFill/>
                    </a:lnB>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01"/>
                  </a:ext>
                </a:extLst>
              </a:tr>
              <a:tr h="33019">
                <a:tc gridSpan="2">
                  <a:txBody>
                    <a:bodyPr/>
                    <a:lstStyle/>
                    <a:p>
                      <a:pPr marL="0" marR="0">
                        <a:lnSpc>
                          <a:spcPts val="100"/>
                        </a:lnSpc>
                        <a:spcBef>
                          <a:spcPts val="0"/>
                        </a:spcBef>
                        <a:spcAft>
                          <a:spcPts val="0"/>
                        </a:spcAft>
                      </a:pPr>
                      <a:endParaRPr lang="en-US" sz="100">
                        <a:latin typeface="Times New Roman"/>
                        <a:ea typeface="Times New Roman"/>
                        <a:cs typeface="Times New Roman"/>
                      </a:endParaRPr>
                    </a:p>
                  </a:txBody>
                  <a:tcPr marL="0" marR="0" marT="0" marB="0" anchor="b">
                    <a:lnL w="12700" cap="flat" cmpd="sng" algn="ctr">
                      <a:solidFill>
                        <a:srgbClr val="404040"/>
                      </a:solidFill>
                      <a:prstDash val="solid"/>
                      <a:round/>
                      <a:headEnd type="none" w="med" len="med"/>
                      <a:tailEnd type="none" w="med" len="med"/>
                    </a:lnL>
                    <a:lnR>
                      <a:noFill/>
                    </a:lnR>
                    <a:lnT>
                      <a:noFill/>
                    </a:lnT>
                    <a:lnB>
                      <a:noFill/>
                    </a:lnB>
                  </a:tcPr>
                </a:tc>
                <a:tc hMerge="1">
                  <a:txBody>
                    <a:bodyPr/>
                    <a:lstStyle/>
                    <a:p>
                      <a:endParaRPr lang="en-US"/>
                    </a:p>
                  </a:txBody>
                  <a:tcPr/>
                </a:tc>
                <a:tc>
                  <a:txBody>
                    <a:bodyPr/>
                    <a:lstStyle/>
                    <a:p>
                      <a:pPr marL="0" marR="0">
                        <a:lnSpc>
                          <a:spcPts val="100"/>
                        </a:lnSpc>
                        <a:spcBef>
                          <a:spcPts val="0"/>
                        </a:spcBef>
                        <a:spcAft>
                          <a:spcPts val="0"/>
                        </a:spcAft>
                      </a:pPr>
                      <a:endParaRPr lang="en-US" sz="1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ts val="100"/>
                        </a:lnSpc>
                        <a:spcBef>
                          <a:spcPts val="0"/>
                        </a:spcBef>
                        <a:spcAft>
                          <a:spcPts val="0"/>
                        </a:spcAft>
                      </a:pPr>
                      <a:endParaRPr lang="en-US" sz="1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tcPr>
                </a:tc>
                <a:tc gridSpan="4">
                  <a:txBody>
                    <a:bodyPr/>
                    <a:lstStyle/>
                    <a:p>
                      <a:pPr marL="0" marR="0">
                        <a:lnSpc>
                          <a:spcPts val="100"/>
                        </a:lnSpc>
                        <a:spcBef>
                          <a:spcPts val="0"/>
                        </a:spcBef>
                        <a:spcAft>
                          <a:spcPts val="0"/>
                        </a:spcAft>
                      </a:pPr>
                      <a:endParaRPr lang="en-US" sz="100">
                        <a:latin typeface="Times New Roman"/>
                        <a:ea typeface="Times New Roman"/>
                        <a:cs typeface="Times New Roman"/>
                      </a:endParaRPr>
                    </a:p>
                  </a:txBody>
                  <a:tcPr marL="0" marR="0" marT="0" marB="0" anchor="b">
                    <a:lnL>
                      <a:noFill/>
                    </a:lnL>
                    <a:lnR w="12700" cap="flat" cmpd="sng" algn="ctr">
                      <a:solidFill>
                        <a:srgbClr val="40404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nSpc>
                          <a:spcPts val="100"/>
                        </a:lnSpc>
                        <a:spcBef>
                          <a:spcPts val="0"/>
                        </a:spcBef>
                        <a:spcAft>
                          <a:spcPts val="0"/>
                        </a:spcAft>
                      </a:pPr>
                      <a:endParaRPr lang="en-US" sz="100">
                        <a:latin typeface="Times New Roman"/>
                        <a:ea typeface="Times New Roman"/>
                        <a:cs typeface="Times New Roman"/>
                      </a:endParaRPr>
                    </a:p>
                  </a:txBody>
                  <a:tcPr marL="0" marR="0" marT="0" marB="0" anchor="b">
                    <a:lnL w="12700" cap="flat" cmpd="sng" algn="ctr">
                      <a:solidFill>
                        <a:srgbClr val="404040"/>
                      </a:solidFill>
                      <a:prstDash val="solid"/>
                      <a:round/>
                      <a:headEnd type="none" w="med" len="med"/>
                      <a:tailEnd type="none" w="med" len="med"/>
                    </a:lnL>
                    <a:lnR>
                      <a:noFill/>
                    </a:lnR>
                    <a:lnT>
                      <a:noFill/>
                    </a:lnT>
                    <a:lnB>
                      <a:noFill/>
                    </a:lnB>
                  </a:tcPr>
                </a:tc>
                <a:tc>
                  <a:txBody>
                    <a:bodyPr/>
                    <a:lstStyle/>
                    <a:p>
                      <a:pPr marL="0" marR="0">
                        <a:lnSpc>
                          <a:spcPts val="1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02"/>
                  </a:ext>
                </a:extLst>
              </a:tr>
              <a:tr h="273400">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404040"/>
                      </a:solidFill>
                      <a:prstDash val="solid"/>
                      <a:round/>
                      <a:headEnd type="none" w="med" len="med"/>
                      <a:tailEnd type="none" w="med" len="med"/>
                    </a:lnL>
                    <a:lnR>
                      <a:noFill/>
                    </a:lnR>
                    <a:lnT>
                      <a:noFill/>
                    </a:lnT>
                    <a:lnB>
                      <a:noFill/>
                    </a:lnB>
                    <a:solidFill>
                      <a:srgbClr val="C0C0C0"/>
                    </a:solidFill>
                  </a:tcPr>
                </a:tc>
                <a:tc>
                  <a:txBody>
                    <a:bodyPr/>
                    <a:lstStyle/>
                    <a:p>
                      <a:pPr marL="0" marR="0">
                        <a:lnSpc>
                          <a:spcPts val="1495"/>
                        </a:lnSpc>
                        <a:spcBef>
                          <a:spcPts val="0"/>
                        </a:spcBef>
                        <a:spcAft>
                          <a:spcPts val="0"/>
                        </a:spcAft>
                      </a:pPr>
                      <a:r>
                        <a:rPr lang="en-US" sz="1400" b="1">
                          <a:latin typeface="Times New Roman"/>
                          <a:ea typeface="Times New Roman"/>
                          <a:cs typeface="Times New Roman"/>
                        </a:rPr>
                        <a:t>FOSC</a:t>
                      </a:r>
                      <a:endParaRPr lang="en-US" sz="1100">
                        <a:latin typeface="Calibri"/>
                        <a:ea typeface="Times New Roman"/>
                        <a:cs typeface="Times New Roman"/>
                      </a:endParaRPr>
                    </a:p>
                  </a:txBody>
                  <a:tcPr marL="0" marR="0" marT="0" marB="0" anchor="b">
                    <a:lnL>
                      <a:noFill/>
                    </a:lnL>
                    <a:lnR>
                      <a:noFill/>
                    </a:lnR>
                    <a:lnT>
                      <a:noFill/>
                    </a:lnT>
                    <a:lnB>
                      <a:noFill/>
                    </a:lnB>
                    <a:solidFill>
                      <a:srgbClr val="C0C0C0"/>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solidFill>
                      <a:srgbClr val="C0C0C0"/>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solidFill>
                      <a:srgbClr val="C0C0C0"/>
                    </a:solidFill>
                  </a:tcPr>
                </a:tc>
                <a:tc gridSpan="3">
                  <a:txBody>
                    <a:bodyPr/>
                    <a:lstStyle/>
                    <a:p>
                      <a:pPr marL="0" marR="0">
                        <a:lnSpc>
                          <a:spcPts val="1470"/>
                        </a:lnSpc>
                        <a:spcBef>
                          <a:spcPts val="0"/>
                        </a:spcBef>
                        <a:spcAft>
                          <a:spcPts val="0"/>
                        </a:spcAft>
                      </a:pPr>
                      <a:r>
                        <a:rPr lang="en-US" sz="1400" dirty="0">
                          <a:latin typeface="Times New Roman"/>
                          <a:ea typeface="Times New Roman"/>
                          <a:cs typeface="Times New Roman"/>
                        </a:rPr>
                        <a:t>The frequency from the crystal oscillator/external oscillator</a:t>
                      </a:r>
                      <a:endParaRPr lang="en-US" sz="1100" dirty="0">
                        <a:latin typeface="Calibri"/>
                        <a:ea typeface="Times New Roman"/>
                        <a:cs typeface="Times New Roman"/>
                      </a:endParaRPr>
                    </a:p>
                  </a:txBody>
                  <a:tcPr marL="0" marR="0" marT="0" marB="0" anchor="b">
                    <a:lnL>
                      <a:noFill/>
                    </a:lnL>
                    <a:lnR>
                      <a:noFill/>
                    </a:lnR>
                    <a:lnT>
                      <a:noFill/>
                    </a:lnT>
                    <a:lnB>
                      <a:noFill/>
                    </a:lnB>
                    <a:solidFill>
                      <a:srgbClr val="C0C0C0"/>
                    </a:solidFill>
                  </a:tcPr>
                </a:tc>
                <a:tc hMerge="1">
                  <a:txBody>
                    <a:bodyPr/>
                    <a:lstStyle/>
                    <a:p>
                      <a:endParaRPr lang="en-US"/>
                    </a:p>
                  </a:txBody>
                  <a:tcPr/>
                </a:tc>
                <a:tc hMerge="1">
                  <a:txBody>
                    <a:bodyPr/>
                    <a:lstStyle/>
                    <a:p>
                      <a:endParaRPr lang="en-US"/>
                    </a:p>
                  </a:txBody>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404040"/>
                      </a:solidFill>
                      <a:prstDash val="solid"/>
                      <a:round/>
                      <a:headEnd type="none" w="med" len="med"/>
                      <a:tailEnd type="none" w="med" len="med"/>
                    </a:lnR>
                    <a:lnT>
                      <a:noFill/>
                    </a:lnT>
                    <a:lnB>
                      <a:noFill/>
                    </a:lnB>
                    <a:solidFill>
                      <a:srgbClr val="C0C0C0"/>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404040"/>
                      </a:solidFill>
                      <a:prstDash val="solid"/>
                      <a:round/>
                      <a:headEnd type="none" w="med" len="med"/>
                      <a:tailEnd type="none" w="med" len="med"/>
                    </a:lnL>
                    <a:lnR>
                      <a:noFill/>
                    </a:lnR>
                    <a:lnT>
                      <a:noFill/>
                    </a:lnT>
                    <a:lnB>
                      <a:noFill/>
                    </a:lnB>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03"/>
                  </a:ext>
                </a:extLst>
              </a:tr>
              <a:tr h="79742">
                <a:tc gridSpan="2">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w="12700" cap="flat" cmpd="sng" algn="ctr">
                      <a:solidFill>
                        <a:srgbClr val="404040"/>
                      </a:solidFill>
                      <a:prstDash val="solid"/>
                      <a:round/>
                      <a:headEnd type="none" w="med" len="med"/>
                      <a:tailEnd type="none" w="med" len="med"/>
                    </a:lnL>
                    <a:lnR>
                      <a:noFill/>
                    </a:lnR>
                    <a:lnT>
                      <a:noFill/>
                    </a:lnT>
                    <a:lnB w="12700" cap="flat" cmpd="sng" algn="ctr">
                      <a:solidFill>
                        <a:srgbClr val="404040"/>
                      </a:solidFill>
                      <a:prstDash val="solid"/>
                      <a:round/>
                      <a:headEnd type="none" w="med" len="med"/>
                      <a:tailEnd type="none" w="med" len="med"/>
                    </a:lnB>
                    <a:solidFill>
                      <a:srgbClr val="C0C0C0"/>
                    </a:solidFill>
                  </a:tcPr>
                </a:tc>
                <a:tc hMerge="1">
                  <a:txBody>
                    <a:bodyPr/>
                    <a:lstStyle/>
                    <a:p>
                      <a:endParaRPr lang="en-US"/>
                    </a:p>
                  </a:txBody>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w="12700" cap="flat" cmpd="sng" algn="ctr">
                      <a:solidFill>
                        <a:srgbClr val="40404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404040"/>
                      </a:solidFill>
                      <a:prstDash val="solid"/>
                      <a:round/>
                      <a:headEnd type="none" w="med" len="med"/>
                      <a:tailEnd type="none" w="med" len="med"/>
                    </a:lnB>
                    <a:solidFill>
                      <a:srgbClr val="C0C0C0"/>
                    </a:solidFill>
                  </a:tcPr>
                </a:tc>
                <a:tc gridSpan="4">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w="12700" cap="flat" cmpd="sng" algn="ctr">
                      <a:solidFill>
                        <a:srgbClr val="404040"/>
                      </a:solidFill>
                      <a:prstDash val="solid"/>
                      <a:round/>
                      <a:headEnd type="none" w="med" len="med"/>
                      <a:tailEnd type="none" w="med" len="med"/>
                    </a:lnR>
                    <a:lnT>
                      <a:noFill/>
                    </a:lnT>
                    <a:lnB w="12700" cap="flat" cmpd="sng" algn="ctr">
                      <a:solidFill>
                        <a:srgbClr val="404040"/>
                      </a:solidFill>
                      <a:prstDash val="solid"/>
                      <a:round/>
                      <a:headEnd type="none" w="med" len="med"/>
                      <a:tailEnd type="none" w="med" len="med"/>
                    </a:lnB>
                    <a:solidFill>
                      <a:srgbClr val="C0C0C0"/>
                    </a:solid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w="12700" cap="flat" cmpd="sng" algn="ctr">
                      <a:solidFill>
                        <a:srgbClr val="404040"/>
                      </a:solidFill>
                      <a:prstDash val="solid"/>
                      <a:round/>
                      <a:headEnd type="none" w="med" len="med"/>
                      <a:tailEnd type="none" w="med" len="med"/>
                    </a:lnL>
                    <a:lnR>
                      <a:noFill/>
                    </a:lnR>
                    <a:lnT>
                      <a:noFill/>
                    </a:lnT>
                    <a:lnB>
                      <a:noFill/>
                    </a:lnB>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04"/>
                  </a:ext>
                </a:extLst>
              </a:tr>
              <a:tr h="308730">
                <a:tc gridSpan="2">
                  <a:txBody>
                    <a:bodyPr/>
                    <a:lstStyle/>
                    <a:p>
                      <a:pPr marL="76200" marR="0">
                        <a:lnSpc>
                          <a:spcPts val="1605"/>
                        </a:lnSpc>
                        <a:spcBef>
                          <a:spcPts val="0"/>
                        </a:spcBef>
                        <a:spcAft>
                          <a:spcPts val="0"/>
                        </a:spcAft>
                      </a:pPr>
                      <a:r>
                        <a:rPr lang="en-US" sz="1400" b="1">
                          <a:latin typeface="Times New Roman"/>
                          <a:ea typeface="Times New Roman"/>
                          <a:cs typeface="Times New Roman"/>
                        </a:rPr>
                        <a:t>FCCO</a:t>
                      </a:r>
                      <a:endParaRPr lang="en-US" sz="1100">
                        <a:latin typeface="Calibri"/>
                        <a:ea typeface="Times New Roman"/>
                        <a:cs typeface="Times New Roman"/>
                      </a:endParaRPr>
                    </a:p>
                  </a:txBody>
                  <a:tcPr marL="0" marR="0" marT="0" marB="0" anchor="b">
                    <a:lnL w="12700" cap="flat" cmpd="sng" algn="ctr">
                      <a:solidFill>
                        <a:srgbClr val="404040"/>
                      </a:solidFill>
                      <a:prstDash val="solid"/>
                      <a:round/>
                      <a:headEnd type="none" w="med" len="med"/>
                      <a:tailEnd type="none" w="med" len="med"/>
                    </a:lnL>
                    <a:lnR>
                      <a:noFill/>
                    </a:lnR>
                    <a:lnT w="12700" cap="flat" cmpd="sng" algn="ctr">
                      <a:solidFill>
                        <a:srgbClr val="404040"/>
                      </a:solidFill>
                      <a:prstDash val="solid"/>
                      <a:round/>
                      <a:headEnd type="none" w="med" len="med"/>
                      <a:tailEnd type="none" w="med" len="med"/>
                    </a:lnT>
                    <a:lnB>
                      <a:noFill/>
                    </a:lnB>
                  </a:tcPr>
                </a:tc>
                <a:tc hMerge="1">
                  <a:txBody>
                    <a:bodyPr/>
                    <a:lstStyle/>
                    <a:p>
                      <a:endParaRPr lang="en-US"/>
                    </a:p>
                  </a:txBody>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404040"/>
                      </a:solidFill>
                      <a:prstDash val="solid"/>
                      <a:round/>
                      <a:headEnd type="none" w="med" len="med"/>
                      <a:tailEnd type="none" w="med" len="med"/>
                    </a:lnT>
                    <a:lnB>
                      <a:noFill/>
                    </a:lnB>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404040"/>
                      </a:solidFill>
                      <a:prstDash val="solid"/>
                      <a:round/>
                      <a:headEnd type="none" w="med" len="med"/>
                      <a:tailEnd type="none" w="med" len="med"/>
                    </a:lnT>
                    <a:lnB>
                      <a:noFill/>
                    </a:lnB>
                  </a:tcPr>
                </a:tc>
                <a:tc gridSpan="4">
                  <a:txBody>
                    <a:bodyPr/>
                    <a:lstStyle/>
                    <a:p>
                      <a:pPr marL="0" marR="0">
                        <a:lnSpc>
                          <a:spcPts val="1605"/>
                        </a:lnSpc>
                        <a:spcBef>
                          <a:spcPts val="0"/>
                        </a:spcBef>
                        <a:spcAft>
                          <a:spcPts val="0"/>
                        </a:spcAft>
                      </a:pPr>
                      <a:r>
                        <a:rPr lang="en-US" sz="1400" dirty="0">
                          <a:latin typeface="Times New Roman"/>
                          <a:ea typeface="Times New Roman"/>
                          <a:cs typeface="Times New Roman"/>
                        </a:rPr>
                        <a:t>The frequency of the PLL current controlled oscillator</a:t>
                      </a:r>
                      <a:endParaRPr lang="en-US" sz="1100" dirty="0">
                        <a:latin typeface="Calibri"/>
                        <a:ea typeface="Times New Roman"/>
                        <a:cs typeface="Times New Roman"/>
                      </a:endParaRPr>
                    </a:p>
                  </a:txBody>
                  <a:tcPr marL="0" marR="0" marT="0" marB="0" anchor="b">
                    <a:lnL>
                      <a:noFill/>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404040"/>
                      </a:solidFill>
                      <a:prstDash val="solid"/>
                      <a:round/>
                      <a:headEnd type="none" w="med" len="med"/>
                      <a:tailEnd type="none" w="med" len="med"/>
                    </a:lnL>
                    <a:lnR>
                      <a:noFill/>
                    </a:lnR>
                    <a:lnT>
                      <a:noFill/>
                    </a:lnT>
                    <a:lnB>
                      <a:noFill/>
                    </a:lnB>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05"/>
                  </a:ext>
                </a:extLst>
              </a:tr>
              <a:tr h="102526">
                <a:tc gridSpan="2">
                  <a:txBody>
                    <a:bodyPr/>
                    <a:lstStyle/>
                    <a:p>
                      <a:pPr marL="0" marR="0">
                        <a:lnSpc>
                          <a:spcPct val="115000"/>
                        </a:lnSpc>
                        <a:spcBef>
                          <a:spcPts val="0"/>
                        </a:spcBef>
                        <a:spcAft>
                          <a:spcPts val="0"/>
                        </a:spcAft>
                      </a:pPr>
                      <a:endParaRPr lang="en-US" sz="450">
                        <a:latin typeface="Times New Roman"/>
                        <a:ea typeface="Times New Roman"/>
                        <a:cs typeface="Times New Roman"/>
                      </a:endParaRPr>
                    </a:p>
                  </a:txBody>
                  <a:tcPr marL="0" marR="0" marT="0" marB="0" anchor="b">
                    <a:lnL w="12700" cap="flat" cmpd="sng" algn="ctr">
                      <a:solidFill>
                        <a:srgbClr val="404040"/>
                      </a:solidFill>
                      <a:prstDash val="solid"/>
                      <a:round/>
                      <a:headEnd type="none" w="med" len="med"/>
                      <a:tailEnd type="none" w="med" len="med"/>
                    </a:lnL>
                    <a:lnR>
                      <a:noFill/>
                    </a:lnR>
                    <a:lnT>
                      <a:noFill/>
                    </a:lnT>
                    <a:lnB w="12700" cap="flat" cmpd="sng" algn="ctr">
                      <a:solidFill>
                        <a:srgbClr val="404040"/>
                      </a:solidFill>
                      <a:prstDash val="solid"/>
                      <a:round/>
                      <a:headEnd type="none" w="med" len="med"/>
                      <a:tailEnd type="none" w="med" len="med"/>
                    </a:lnB>
                  </a:tcPr>
                </a:tc>
                <a:tc hMerge="1">
                  <a:txBody>
                    <a:bodyPr/>
                    <a:lstStyle/>
                    <a:p>
                      <a:endParaRPr lang="en-US"/>
                    </a:p>
                  </a:txBody>
                  <a:tcPr/>
                </a:tc>
                <a:tc>
                  <a:txBody>
                    <a:bodyPr/>
                    <a:lstStyle/>
                    <a:p>
                      <a:pPr marL="0" marR="0">
                        <a:lnSpc>
                          <a:spcPct val="115000"/>
                        </a:lnSpc>
                        <a:spcBef>
                          <a:spcPts val="0"/>
                        </a:spcBef>
                        <a:spcAft>
                          <a:spcPts val="0"/>
                        </a:spcAft>
                      </a:pPr>
                      <a:endParaRPr lang="en-US" sz="45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w="12700" cap="flat" cmpd="sng" algn="ctr">
                      <a:solidFill>
                        <a:srgbClr val="40404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4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404040"/>
                      </a:solidFill>
                      <a:prstDash val="solid"/>
                      <a:round/>
                      <a:headEnd type="none" w="med" len="med"/>
                      <a:tailEnd type="none" w="med" len="med"/>
                    </a:lnB>
                  </a:tcPr>
                </a:tc>
                <a:tc gridSpan="4">
                  <a:txBody>
                    <a:bodyPr/>
                    <a:lstStyle/>
                    <a:p>
                      <a:pPr marL="0" marR="0">
                        <a:lnSpc>
                          <a:spcPct val="115000"/>
                        </a:lnSpc>
                        <a:spcBef>
                          <a:spcPts val="0"/>
                        </a:spcBef>
                        <a:spcAft>
                          <a:spcPts val="0"/>
                        </a:spcAft>
                      </a:pPr>
                      <a:endParaRPr lang="en-US" sz="450" dirty="0">
                        <a:latin typeface="Times New Roman"/>
                        <a:ea typeface="Times New Roman"/>
                        <a:cs typeface="Times New Roman"/>
                      </a:endParaRPr>
                    </a:p>
                  </a:txBody>
                  <a:tcPr marL="0" marR="0" marT="0" marB="0" anchor="b">
                    <a:lnL>
                      <a:noFill/>
                    </a:lnL>
                    <a:lnR w="12700" cap="flat" cmpd="sng" algn="ctr">
                      <a:solidFill>
                        <a:srgbClr val="404040"/>
                      </a:solidFill>
                      <a:prstDash val="solid"/>
                      <a:round/>
                      <a:headEnd type="none" w="med" len="med"/>
                      <a:tailEnd type="none" w="med" len="med"/>
                    </a:lnR>
                    <a:lnT>
                      <a:noFill/>
                    </a:lnT>
                    <a:lnB w="12700" cap="flat" cmpd="sng" algn="ctr">
                      <a:solidFill>
                        <a:srgbClr val="40404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nSpc>
                          <a:spcPct val="115000"/>
                        </a:lnSpc>
                        <a:spcBef>
                          <a:spcPts val="0"/>
                        </a:spcBef>
                        <a:spcAft>
                          <a:spcPts val="0"/>
                        </a:spcAft>
                      </a:pPr>
                      <a:endParaRPr lang="en-US" sz="450">
                        <a:latin typeface="Times New Roman"/>
                        <a:ea typeface="Times New Roman"/>
                        <a:cs typeface="Times New Roman"/>
                      </a:endParaRPr>
                    </a:p>
                  </a:txBody>
                  <a:tcPr marL="0" marR="0" marT="0" marB="0" anchor="b">
                    <a:lnL w="12700" cap="flat" cmpd="sng" algn="ctr">
                      <a:solidFill>
                        <a:srgbClr val="404040"/>
                      </a:solidFill>
                      <a:prstDash val="solid"/>
                      <a:round/>
                      <a:headEnd type="none" w="med" len="med"/>
                      <a:tailEnd type="none" w="med" len="med"/>
                    </a:lnL>
                    <a:lnR>
                      <a:noFill/>
                    </a:lnR>
                    <a:lnT>
                      <a:noFill/>
                    </a:lnT>
                    <a:lnB>
                      <a:noFill/>
                    </a:lnB>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06"/>
                  </a:ext>
                </a:extLst>
              </a:tr>
              <a:tr h="315335">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404040"/>
                      </a:solidFill>
                      <a:prstDash val="solid"/>
                      <a:round/>
                      <a:headEnd type="none" w="med" len="med"/>
                      <a:tailEnd type="none" w="med" len="med"/>
                    </a:lnL>
                    <a:lnR>
                      <a:noFill/>
                    </a:lnR>
                    <a:lnT w="12700" cap="flat" cmpd="sng" algn="ctr">
                      <a:solidFill>
                        <a:srgbClr val="404040"/>
                      </a:solidFill>
                      <a:prstDash val="solid"/>
                      <a:round/>
                      <a:headEnd type="none" w="med" len="med"/>
                      <a:tailEnd type="none" w="med" len="med"/>
                    </a:lnT>
                    <a:lnB w="12700" cap="flat" cmpd="sng" algn="ctr">
                      <a:solidFill>
                        <a:srgbClr val="C0C0C0"/>
                      </a:solidFill>
                      <a:prstDash val="solid"/>
                      <a:round/>
                      <a:headEnd type="none" w="med" len="med"/>
                      <a:tailEnd type="none" w="med" len="med"/>
                    </a:lnB>
                    <a:solidFill>
                      <a:srgbClr val="C0C0C0"/>
                    </a:solidFill>
                  </a:tcPr>
                </a:tc>
                <a:tc>
                  <a:txBody>
                    <a:bodyPr/>
                    <a:lstStyle/>
                    <a:p>
                      <a:pPr marL="0" marR="0">
                        <a:lnSpc>
                          <a:spcPts val="1590"/>
                        </a:lnSpc>
                        <a:spcBef>
                          <a:spcPts val="0"/>
                        </a:spcBef>
                        <a:spcAft>
                          <a:spcPts val="0"/>
                        </a:spcAft>
                      </a:pPr>
                      <a:r>
                        <a:rPr lang="en-US" sz="1400" b="1">
                          <a:latin typeface="Times New Roman"/>
                          <a:ea typeface="Times New Roman"/>
                          <a:cs typeface="Times New Roman"/>
                        </a:rPr>
                        <a:t>CCLK</a:t>
                      </a:r>
                      <a:endParaRPr lang="en-US" sz="1100">
                        <a:latin typeface="Calibri"/>
                        <a:ea typeface="Times New Roman"/>
                        <a:cs typeface="Times New Roman"/>
                      </a:endParaRPr>
                    </a:p>
                  </a:txBody>
                  <a:tcPr marL="0" marR="0" marT="0" marB="0" anchor="b">
                    <a:lnL>
                      <a:noFill/>
                    </a:lnL>
                    <a:lnR>
                      <a:noFill/>
                    </a:lnR>
                    <a:lnT w="12700" cap="flat" cmpd="sng" algn="ctr">
                      <a:solidFill>
                        <a:srgbClr val="404040"/>
                      </a:solidFill>
                      <a:prstDash val="solid"/>
                      <a:round/>
                      <a:headEnd type="none" w="med" len="med"/>
                      <a:tailEnd type="none" w="med" len="med"/>
                    </a:lnT>
                    <a:lnB w="12700" cap="flat" cmpd="sng" algn="ctr">
                      <a:solidFill>
                        <a:srgbClr val="C0C0C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C0C0C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404040"/>
                      </a:solidFill>
                      <a:prstDash val="solid"/>
                      <a:round/>
                      <a:headEnd type="none" w="med" len="med"/>
                      <a:tailEnd type="none" w="med" len="med"/>
                    </a:lnT>
                    <a:lnB w="12700" cap="flat" cmpd="sng" algn="ctr">
                      <a:solidFill>
                        <a:srgbClr val="C0C0C0"/>
                      </a:solidFill>
                      <a:prstDash val="solid"/>
                      <a:round/>
                      <a:headEnd type="none" w="med" len="med"/>
                      <a:tailEnd type="none" w="med" len="med"/>
                    </a:lnB>
                    <a:solidFill>
                      <a:srgbClr val="C0C0C0"/>
                    </a:solidFill>
                  </a:tcPr>
                </a:tc>
                <a:tc gridSpan="3">
                  <a:txBody>
                    <a:bodyPr/>
                    <a:lstStyle/>
                    <a:p>
                      <a:pPr marL="0" marR="0">
                        <a:lnSpc>
                          <a:spcPts val="1570"/>
                        </a:lnSpc>
                        <a:spcBef>
                          <a:spcPts val="0"/>
                        </a:spcBef>
                        <a:spcAft>
                          <a:spcPts val="0"/>
                        </a:spcAft>
                      </a:pPr>
                      <a:r>
                        <a:rPr lang="en-US" sz="1400" dirty="0">
                          <a:latin typeface="Times New Roman"/>
                          <a:ea typeface="Times New Roman"/>
                          <a:cs typeface="Times New Roman"/>
                        </a:rPr>
                        <a:t>The PLL output frequency (also the processor clock frequency)</a:t>
                      </a:r>
                      <a:endParaRPr lang="en-US" sz="1100" dirty="0">
                        <a:latin typeface="Calibri"/>
                        <a:ea typeface="Times New Roman"/>
                        <a:cs typeface="Times New Roman"/>
                      </a:endParaRPr>
                    </a:p>
                  </a:txBody>
                  <a:tcPr marL="0" marR="0" marT="0" marB="0" anchor="b">
                    <a:lnL>
                      <a:noFill/>
                    </a:lnL>
                    <a:lnR>
                      <a:noFill/>
                    </a:lnR>
                    <a:lnT w="12700" cap="flat" cmpd="sng" algn="ctr">
                      <a:solidFill>
                        <a:srgbClr val="404040"/>
                      </a:solidFill>
                      <a:prstDash val="solid"/>
                      <a:round/>
                      <a:headEnd type="none" w="med" len="med"/>
                      <a:tailEnd type="none" w="med" len="med"/>
                    </a:lnT>
                    <a:lnB w="12700" cap="flat" cmpd="sng" algn="ctr">
                      <a:solidFill>
                        <a:srgbClr val="C0C0C0"/>
                      </a:solidFill>
                      <a:prstDash val="solid"/>
                      <a:round/>
                      <a:headEnd type="none" w="med" len="med"/>
                      <a:tailEnd type="none" w="med" len="med"/>
                    </a:lnB>
                    <a:solidFill>
                      <a:srgbClr val="C0C0C0"/>
                    </a:solidFill>
                  </a:tcPr>
                </a:tc>
                <a:tc hMerge="1">
                  <a:txBody>
                    <a:bodyPr/>
                    <a:lstStyle/>
                    <a:p>
                      <a:endParaRPr lang="en-US"/>
                    </a:p>
                  </a:txBody>
                  <a:tcPr/>
                </a:tc>
                <a:tc hMerge="1">
                  <a:txBody>
                    <a:bodyPr/>
                    <a:lstStyle/>
                    <a:p>
                      <a:endParaRPr lang="en-US"/>
                    </a:p>
                  </a:txBody>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C0C0C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404040"/>
                      </a:solidFill>
                      <a:prstDash val="solid"/>
                      <a:round/>
                      <a:headEnd type="none" w="med" len="med"/>
                      <a:tailEnd type="none" w="med" len="med"/>
                    </a:lnL>
                    <a:lnR>
                      <a:noFill/>
                    </a:lnR>
                    <a:lnT>
                      <a:noFill/>
                    </a:lnT>
                    <a:lnB>
                      <a:noFill/>
                    </a:lnB>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07"/>
                  </a:ext>
                </a:extLst>
              </a:tr>
              <a:tr h="348354">
                <a:tc gridSpan="2">
                  <a:txBody>
                    <a:bodyPr/>
                    <a:lstStyle/>
                    <a:p>
                      <a:pPr marL="76200" marR="0">
                        <a:lnSpc>
                          <a:spcPts val="1605"/>
                        </a:lnSpc>
                        <a:spcBef>
                          <a:spcPts val="0"/>
                        </a:spcBef>
                        <a:spcAft>
                          <a:spcPts val="0"/>
                        </a:spcAft>
                      </a:pPr>
                      <a:r>
                        <a:rPr lang="en-US" sz="1400" b="1" dirty="0">
                          <a:latin typeface="Times New Roman"/>
                          <a:ea typeface="Times New Roman"/>
                          <a:cs typeface="Times New Roman"/>
                        </a:rPr>
                        <a:t>M</a:t>
                      </a:r>
                      <a:endParaRPr lang="en-US" sz="1100" dirty="0">
                        <a:latin typeface="Calibri"/>
                        <a:ea typeface="Times New Roman"/>
                        <a:cs typeface="Times New Roman"/>
                      </a:endParaRPr>
                    </a:p>
                  </a:txBody>
                  <a:tcPr marL="0" marR="0" marT="0" marB="0" anchor="b">
                    <a:lnL w="12700" cap="flat" cmpd="sng" algn="ctr">
                      <a:solidFill>
                        <a:srgbClr val="404040"/>
                      </a:solidFill>
                      <a:prstDash val="solid"/>
                      <a:round/>
                      <a:headEnd type="none" w="med" len="med"/>
                      <a:tailEnd type="none" w="med" len="med"/>
                    </a:lnL>
                    <a:lnR>
                      <a:noFill/>
                    </a:lnR>
                    <a:lnT w="12700" cap="flat" cmpd="sng" algn="ctr">
                      <a:solidFill>
                        <a:srgbClr val="C0C0C0"/>
                      </a:solidFill>
                      <a:prstDash val="solid"/>
                      <a:round/>
                      <a:headEnd type="none" w="med" len="med"/>
                      <a:tailEnd type="none" w="med" len="med"/>
                    </a:lnT>
                    <a:lnB>
                      <a:noFill/>
                    </a:lnB>
                  </a:tcPr>
                </a:tc>
                <a:tc hMerge="1">
                  <a:txBody>
                    <a:bodyPr/>
                    <a:lstStyle/>
                    <a:p>
                      <a:endParaRPr lang="en-US"/>
                    </a:p>
                  </a:txBody>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C0C0C0"/>
                      </a:solidFill>
                      <a:prstDash val="solid"/>
                      <a:round/>
                      <a:headEnd type="none" w="med" len="med"/>
                      <a:tailEnd type="none" w="med" len="med"/>
                    </a:lnT>
                    <a:lnB>
                      <a:noFill/>
                    </a:lnB>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C0C0C0"/>
                      </a:solidFill>
                      <a:prstDash val="solid"/>
                      <a:round/>
                      <a:headEnd type="none" w="med" len="med"/>
                      <a:tailEnd type="none" w="med" len="med"/>
                    </a:lnT>
                    <a:lnB>
                      <a:noFill/>
                    </a:lnB>
                  </a:tcPr>
                </a:tc>
                <a:tc gridSpan="4">
                  <a:txBody>
                    <a:bodyPr/>
                    <a:lstStyle/>
                    <a:p>
                      <a:pPr marL="0" marR="0">
                        <a:lnSpc>
                          <a:spcPts val="1605"/>
                        </a:lnSpc>
                        <a:spcBef>
                          <a:spcPts val="0"/>
                        </a:spcBef>
                        <a:spcAft>
                          <a:spcPts val="0"/>
                        </a:spcAft>
                      </a:pPr>
                      <a:r>
                        <a:rPr lang="en-US" sz="1400" dirty="0">
                          <a:latin typeface="Times New Roman"/>
                          <a:ea typeface="Times New Roman"/>
                          <a:cs typeface="Times New Roman"/>
                        </a:rPr>
                        <a:t>PLL Multiplier value from the MSEL bits in the PLLCFG register</a:t>
                      </a:r>
                      <a:endParaRPr lang="en-US" sz="1100" dirty="0">
                        <a:latin typeface="Calibri"/>
                        <a:ea typeface="Times New Roman"/>
                        <a:cs typeface="Times New Roman"/>
                      </a:endParaRPr>
                    </a:p>
                  </a:txBody>
                  <a:tcPr marL="0" marR="0" marT="0" marB="0" anchor="b">
                    <a:lnL>
                      <a:noFill/>
                    </a:lnL>
                    <a:lnR w="12700" cap="flat" cmpd="sng" algn="ctr">
                      <a:solidFill>
                        <a:srgbClr val="404040"/>
                      </a:solidFill>
                      <a:prstDash val="solid"/>
                      <a:round/>
                      <a:headEnd type="none" w="med" len="med"/>
                      <a:tailEnd type="none" w="med" len="med"/>
                    </a:lnR>
                    <a:lnT w="12700" cap="flat" cmpd="sng" algn="ctr">
                      <a:solidFill>
                        <a:srgbClr val="C0C0C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404040"/>
                      </a:solidFill>
                      <a:prstDash val="solid"/>
                      <a:round/>
                      <a:headEnd type="none" w="med" len="med"/>
                      <a:tailEnd type="none" w="med" len="med"/>
                    </a:lnL>
                    <a:lnR>
                      <a:noFill/>
                    </a:lnR>
                    <a:lnT>
                      <a:noFill/>
                    </a:lnT>
                    <a:lnB>
                      <a:noFill/>
                    </a:lnB>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08"/>
                  </a:ext>
                </a:extLst>
              </a:tr>
              <a:tr h="102526">
                <a:tc gridSpan="2">
                  <a:txBody>
                    <a:bodyPr/>
                    <a:lstStyle/>
                    <a:p>
                      <a:pPr marL="0" marR="0">
                        <a:lnSpc>
                          <a:spcPct val="115000"/>
                        </a:lnSpc>
                        <a:spcBef>
                          <a:spcPts val="0"/>
                        </a:spcBef>
                        <a:spcAft>
                          <a:spcPts val="0"/>
                        </a:spcAft>
                      </a:pPr>
                      <a:endParaRPr lang="en-US" sz="450">
                        <a:latin typeface="Times New Roman"/>
                        <a:ea typeface="Times New Roman"/>
                        <a:cs typeface="Times New Roman"/>
                      </a:endParaRPr>
                    </a:p>
                  </a:txBody>
                  <a:tcPr marL="0" marR="0" marT="0" marB="0" anchor="b">
                    <a:lnL w="12700" cap="flat" cmpd="sng" algn="ctr">
                      <a:solidFill>
                        <a:srgbClr val="404040"/>
                      </a:solidFill>
                      <a:prstDash val="solid"/>
                      <a:round/>
                      <a:headEnd type="none" w="med" len="med"/>
                      <a:tailEnd type="none" w="med" len="med"/>
                    </a:lnL>
                    <a:lnR>
                      <a:noFill/>
                    </a:lnR>
                    <a:lnT>
                      <a:noFill/>
                    </a:lnT>
                    <a:lnB w="12700" cap="flat" cmpd="sng" algn="ctr">
                      <a:solidFill>
                        <a:srgbClr val="404040"/>
                      </a:solidFill>
                      <a:prstDash val="solid"/>
                      <a:round/>
                      <a:headEnd type="none" w="med" len="med"/>
                      <a:tailEnd type="none" w="med" len="med"/>
                    </a:lnB>
                  </a:tcPr>
                </a:tc>
                <a:tc hMerge="1">
                  <a:txBody>
                    <a:bodyPr/>
                    <a:lstStyle/>
                    <a:p>
                      <a:endParaRPr lang="en-US"/>
                    </a:p>
                  </a:txBody>
                  <a:tcPr/>
                </a:tc>
                <a:tc>
                  <a:txBody>
                    <a:bodyPr/>
                    <a:lstStyle/>
                    <a:p>
                      <a:pPr marL="0" marR="0">
                        <a:lnSpc>
                          <a:spcPct val="115000"/>
                        </a:lnSpc>
                        <a:spcBef>
                          <a:spcPts val="0"/>
                        </a:spcBef>
                        <a:spcAft>
                          <a:spcPts val="0"/>
                        </a:spcAft>
                      </a:pPr>
                      <a:endParaRPr lang="en-US" sz="45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w="12700" cap="flat" cmpd="sng" algn="ctr">
                      <a:solidFill>
                        <a:srgbClr val="40404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4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404040"/>
                      </a:solidFill>
                      <a:prstDash val="solid"/>
                      <a:round/>
                      <a:headEnd type="none" w="med" len="med"/>
                      <a:tailEnd type="none" w="med" len="med"/>
                    </a:lnB>
                  </a:tcPr>
                </a:tc>
                <a:tc gridSpan="4">
                  <a:txBody>
                    <a:bodyPr/>
                    <a:lstStyle/>
                    <a:p>
                      <a:pPr marL="0" marR="0">
                        <a:lnSpc>
                          <a:spcPct val="115000"/>
                        </a:lnSpc>
                        <a:spcBef>
                          <a:spcPts val="0"/>
                        </a:spcBef>
                        <a:spcAft>
                          <a:spcPts val="0"/>
                        </a:spcAft>
                      </a:pPr>
                      <a:endParaRPr lang="en-US" sz="450">
                        <a:latin typeface="Times New Roman"/>
                        <a:ea typeface="Times New Roman"/>
                        <a:cs typeface="Times New Roman"/>
                      </a:endParaRPr>
                    </a:p>
                  </a:txBody>
                  <a:tcPr marL="0" marR="0" marT="0" marB="0" anchor="b">
                    <a:lnL>
                      <a:noFill/>
                    </a:lnL>
                    <a:lnR w="12700" cap="flat" cmpd="sng" algn="ctr">
                      <a:solidFill>
                        <a:srgbClr val="404040"/>
                      </a:solidFill>
                      <a:prstDash val="solid"/>
                      <a:round/>
                      <a:headEnd type="none" w="med" len="med"/>
                      <a:tailEnd type="none" w="med" len="med"/>
                    </a:lnR>
                    <a:lnT>
                      <a:noFill/>
                    </a:lnT>
                    <a:lnB w="12700" cap="flat" cmpd="sng" algn="ctr">
                      <a:solidFill>
                        <a:srgbClr val="40404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nSpc>
                          <a:spcPct val="115000"/>
                        </a:lnSpc>
                        <a:spcBef>
                          <a:spcPts val="0"/>
                        </a:spcBef>
                        <a:spcAft>
                          <a:spcPts val="0"/>
                        </a:spcAft>
                      </a:pPr>
                      <a:endParaRPr lang="en-US" sz="450">
                        <a:latin typeface="Times New Roman"/>
                        <a:ea typeface="Times New Roman"/>
                        <a:cs typeface="Times New Roman"/>
                      </a:endParaRPr>
                    </a:p>
                  </a:txBody>
                  <a:tcPr marL="0" marR="0" marT="0" marB="0" anchor="b">
                    <a:lnL w="12700" cap="flat" cmpd="sng" algn="ctr">
                      <a:solidFill>
                        <a:srgbClr val="404040"/>
                      </a:solidFill>
                      <a:prstDash val="solid"/>
                      <a:round/>
                      <a:headEnd type="none" w="med" len="med"/>
                      <a:tailEnd type="none" w="med" len="med"/>
                    </a:lnL>
                    <a:lnR>
                      <a:noFill/>
                    </a:lnR>
                    <a:lnT>
                      <a:noFill/>
                    </a:lnT>
                    <a:lnB>
                      <a:noFill/>
                    </a:lnB>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09"/>
                  </a:ext>
                </a:extLst>
              </a:tr>
              <a:tr h="91133">
                <a:tc gridSpan="2">
                  <a:txBody>
                    <a:bodyPr/>
                    <a:lstStyle/>
                    <a:p>
                      <a:pPr marL="0" marR="0">
                        <a:lnSpc>
                          <a:spcPct val="115000"/>
                        </a:lnSpc>
                        <a:spcBef>
                          <a:spcPts val="0"/>
                        </a:spcBef>
                        <a:spcAft>
                          <a:spcPts val="0"/>
                        </a:spcAft>
                      </a:pPr>
                      <a:endParaRPr lang="en-US" sz="400">
                        <a:latin typeface="Times New Roman"/>
                        <a:ea typeface="Times New Roman"/>
                        <a:cs typeface="Times New Roman"/>
                      </a:endParaRPr>
                    </a:p>
                  </a:txBody>
                  <a:tcPr marL="0" marR="0" marT="0" marB="0" anchor="b">
                    <a:lnL w="12700" cap="flat" cmpd="sng" algn="ctr">
                      <a:solidFill>
                        <a:srgbClr val="404040"/>
                      </a:solidFill>
                      <a:prstDash val="solid"/>
                      <a:round/>
                      <a:headEnd type="none" w="med" len="med"/>
                      <a:tailEnd type="none" w="med" len="med"/>
                    </a:lnL>
                    <a:lnR>
                      <a:noFill/>
                    </a:lnR>
                    <a:lnT w="12700" cap="flat" cmpd="sng" algn="ctr">
                      <a:solidFill>
                        <a:srgbClr val="404040"/>
                      </a:solidFill>
                      <a:prstDash val="solid"/>
                      <a:round/>
                      <a:headEnd type="none" w="med" len="med"/>
                      <a:tailEnd type="none" w="med" len="med"/>
                    </a:lnT>
                    <a:lnB>
                      <a:noFill/>
                    </a:lnB>
                    <a:solidFill>
                      <a:srgbClr val="C0C0C0"/>
                    </a:solidFill>
                  </a:tcPr>
                </a:tc>
                <a:tc hMerge="1">
                  <a:txBody>
                    <a:bodyPr/>
                    <a:lstStyle/>
                    <a:p>
                      <a:endParaRPr lang="en-US"/>
                    </a:p>
                  </a:txBody>
                  <a:tcPr/>
                </a:tc>
                <a:tc>
                  <a:txBody>
                    <a:bodyPr/>
                    <a:lstStyle/>
                    <a:p>
                      <a:pPr marL="0" marR="0">
                        <a:lnSpc>
                          <a:spcPct val="115000"/>
                        </a:lnSpc>
                        <a:spcBef>
                          <a:spcPts val="0"/>
                        </a:spcBef>
                        <a:spcAft>
                          <a:spcPts val="0"/>
                        </a:spcAft>
                      </a:pPr>
                      <a:endParaRPr lang="en-US" sz="4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40404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4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404040"/>
                      </a:solidFill>
                      <a:prstDash val="solid"/>
                      <a:round/>
                      <a:headEnd type="none" w="med" len="med"/>
                      <a:tailEnd type="none" w="med" len="med"/>
                    </a:lnT>
                    <a:lnB>
                      <a:noFill/>
                    </a:lnB>
                    <a:solidFill>
                      <a:srgbClr val="C0C0C0"/>
                    </a:solidFill>
                  </a:tcPr>
                </a:tc>
                <a:tc gridSpan="4">
                  <a:txBody>
                    <a:bodyPr/>
                    <a:lstStyle/>
                    <a:p>
                      <a:pPr marL="0" marR="0">
                        <a:lnSpc>
                          <a:spcPct val="115000"/>
                        </a:lnSpc>
                        <a:spcBef>
                          <a:spcPts val="0"/>
                        </a:spcBef>
                        <a:spcAft>
                          <a:spcPts val="0"/>
                        </a:spcAft>
                      </a:pPr>
                      <a:endParaRPr lang="en-US" sz="400">
                        <a:latin typeface="Times New Roman"/>
                        <a:ea typeface="Times New Roman"/>
                        <a:cs typeface="Times New Roman"/>
                      </a:endParaRPr>
                    </a:p>
                  </a:txBody>
                  <a:tcPr marL="0" marR="0" marT="0" marB="0" anchor="b">
                    <a:lnL>
                      <a:noFill/>
                    </a:lnL>
                    <a:lnR w="12700" cap="flat" cmpd="sng" algn="ctr">
                      <a:solidFill>
                        <a:srgbClr val="404040"/>
                      </a:solidFill>
                      <a:prstDash val="solid"/>
                      <a:round/>
                      <a:headEnd type="none" w="med" len="med"/>
                      <a:tailEnd type="none" w="med" len="med"/>
                    </a:lnR>
                    <a:lnT w="12700" cap="flat" cmpd="sng" algn="ctr">
                      <a:solidFill>
                        <a:srgbClr val="404040"/>
                      </a:solidFill>
                      <a:prstDash val="solid"/>
                      <a:round/>
                      <a:headEnd type="none" w="med" len="med"/>
                      <a:tailEnd type="none" w="med" len="med"/>
                    </a:lnT>
                    <a:lnB>
                      <a:noFill/>
                    </a:lnB>
                    <a:solidFill>
                      <a:srgbClr val="C0C0C0"/>
                    </a:solid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nSpc>
                          <a:spcPct val="115000"/>
                        </a:lnSpc>
                        <a:spcBef>
                          <a:spcPts val="0"/>
                        </a:spcBef>
                        <a:spcAft>
                          <a:spcPts val="0"/>
                        </a:spcAft>
                      </a:pPr>
                      <a:endParaRPr lang="en-US" sz="400">
                        <a:latin typeface="Times New Roman"/>
                        <a:ea typeface="Times New Roman"/>
                        <a:cs typeface="Times New Roman"/>
                      </a:endParaRPr>
                    </a:p>
                  </a:txBody>
                  <a:tcPr marL="0" marR="0" marT="0" marB="0" anchor="b">
                    <a:lnL w="12700" cap="flat" cmpd="sng" algn="ctr">
                      <a:solidFill>
                        <a:srgbClr val="404040"/>
                      </a:solidFill>
                      <a:prstDash val="solid"/>
                      <a:round/>
                      <a:headEnd type="none" w="med" len="med"/>
                      <a:tailEnd type="none" w="med" len="med"/>
                    </a:lnL>
                    <a:lnR>
                      <a:noFill/>
                    </a:lnR>
                    <a:lnT>
                      <a:noFill/>
                    </a:lnT>
                    <a:lnB>
                      <a:noFill/>
                    </a:lnB>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10"/>
                  </a:ext>
                </a:extLst>
              </a:tr>
              <a:tr h="33019">
                <a:tc>
                  <a:txBody>
                    <a:bodyPr/>
                    <a:lstStyle/>
                    <a:p>
                      <a:pPr marL="0" marR="0">
                        <a:lnSpc>
                          <a:spcPts val="100"/>
                        </a:lnSpc>
                        <a:spcBef>
                          <a:spcPts val="0"/>
                        </a:spcBef>
                        <a:spcAft>
                          <a:spcPts val="0"/>
                        </a:spcAft>
                      </a:pPr>
                      <a:endParaRPr lang="en-US" sz="100">
                        <a:latin typeface="Times New Roman"/>
                        <a:ea typeface="Times New Roman"/>
                        <a:cs typeface="Times New Roman"/>
                      </a:endParaRPr>
                    </a:p>
                  </a:txBody>
                  <a:tcPr marL="0" marR="0" marT="0" marB="0" anchor="b">
                    <a:lnL w="12700" cap="flat" cmpd="sng" algn="ctr">
                      <a:solidFill>
                        <a:srgbClr val="404040"/>
                      </a:solidFill>
                      <a:prstDash val="solid"/>
                      <a:round/>
                      <a:headEnd type="none" w="med" len="med"/>
                      <a:tailEnd type="none" w="med" len="med"/>
                    </a:lnL>
                    <a:lnR>
                      <a:noFill/>
                    </a:lnR>
                    <a:lnT>
                      <a:noFill/>
                    </a:lnT>
                    <a:lnB>
                      <a:noFill/>
                    </a:lnB>
                    <a:solidFill>
                      <a:srgbClr val="C0C0C0"/>
                    </a:solidFill>
                  </a:tcPr>
                </a:tc>
                <a:tc rowSpan="2">
                  <a:txBody>
                    <a:bodyPr/>
                    <a:lstStyle/>
                    <a:p>
                      <a:pPr marL="0" marR="0">
                        <a:lnSpc>
                          <a:spcPts val="1590"/>
                        </a:lnSpc>
                        <a:spcBef>
                          <a:spcPts val="0"/>
                        </a:spcBef>
                        <a:spcAft>
                          <a:spcPts val="0"/>
                        </a:spcAft>
                      </a:pPr>
                      <a:r>
                        <a:rPr lang="en-US" sz="1400" b="1">
                          <a:latin typeface="Times New Roman"/>
                          <a:ea typeface="Times New Roman"/>
                          <a:cs typeface="Times New Roman"/>
                        </a:rPr>
                        <a:t>P</a:t>
                      </a:r>
                      <a:endParaRPr lang="en-US" sz="1100">
                        <a:latin typeface="Calibri"/>
                        <a:ea typeface="Times New Roman"/>
                        <a:cs typeface="Times New Roman"/>
                      </a:endParaRPr>
                    </a:p>
                  </a:txBody>
                  <a:tcPr marL="0" marR="0" marT="0" marB="0" anchor="b">
                    <a:lnL>
                      <a:noFill/>
                    </a:lnL>
                    <a:lnR>
                      <a:noFill/>
                    </a:lnR>
                    <a:lnT>
                      <a:noFill/>
                    </a:lnT>
                    <a:lnB>
                      <a:noFill/>
                    </a:lnB>
                    <a:solidFill>
                      <a:srgbClr val="C0C0C0"/>
                    </a:solidFill>
                  </a:tcPr>
                </a:tc>
                <a:tc>
                  <a:txBody>
                    <a:bodyPr/>
                    <a:lstStyle/>
                    <a:p>
                      <a:pPr marL="0" marR="0">
                        <a:lnSpc>
                          <a:spcPts val="100"/>
                        </a:lnSpc>
                        <a:spcBef>
                          <a:spcPts val="0"/>
                        </a:spcBef>
                        <a:spcAft>
                          <a:spcPts val="0"/>
                        </a:spcAft>
                      </a:pPr>
                      <a:endParaRPr lang="en-US" sz="1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solidFill>
                      <a:srgbClr val="C0C0C0"/>
                    </a:solidFill>
                  </a:tcPr>
                </a:tc>
                <a:tc>
                  <a:txBody>
                    <a:bodyPr/>
                    <a:lstStyle/>
                    <a:p>
                      <a:pPr marL="0" marR="0">
                        <a:lnSpc>
                          <a:spcPts val="100"/>
                        </a:lnSpc>
                        <a:spcBef>
                          <a:spcPts val="0"/>
                        </a:spcBef>
                        <a:spcAft>
                          <a:spcPts val="0"/>
                        </a:spcAft>
                      </a:pPr>
                      <a:endParaRPr lang="en-US" sz="1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solidFill>
                      <a:srgbClr val="C0C0C0"/>
                    </a:solidFill>
                  </a:tcPr>
                </a:tc>
                <a:tc rowSpan="2" gridSpan="3">
                  <a:txBody>
                    <a:bodyPr/>
                    <a:lstStyle/>
                    <a:p>
                      <a:pPr marL="0" marR="0">
                        <a:lnSpc>
                          <a:spcPts val="1570"/>
                        </a:lnSpc>
                        <a:spcBef>
                          <a:spcPts val="0"/>
                        </a:spcBef>
                        <a:spcAft>
                          <a:spcPts val="0"/>
                        </a:spcAft>
                      </a:pPr>
                      <a:r>
                        <a:rPr lang="en-US" sz="1400">
                          <a:latin typeface="Times New Roman"/>
                          <a:ea typeface="Times New Roman"/>
                          <a:cs typeface="Times New Roman"/>
                        </a:rPr>
                        <a:t>PLL Divider value from the PSEL bits in the PLLCFG register</a:t>
                      </a:r>
                      <a:endParaRPr lang="en-US" sz="1100">
                        <a:latin typeface="Calibri"/>
                        <a:ea typeface="Times New Roman"/>
                        <a:cs typeface="Times New Roman"/>
                      </a:endParaRPr>
                    </a:p>
                  </a:txBody>
                  <a:tcPr marL="0" marR="0" marT="0" marB="0" anchor="b">
                    <a:lnL>
                      <a:noFill/>
                    </a:lnL>
                    <a:lnR>
                      <a:noFill/>
                    </a:lnR>
                    <a:lnT>
                      <a:noFill/>
                    </a:lnT>
                    <a:lnB>
                      <a:noFill/>
                    </a:lnB>
                    <a:solidFill>
                      <a:srgbClr val="C0C0C0"/>
                    </a:solidFill>
                  </a:tcPr>
                </a:tc>
                <a:tc rowSpan="2" hMerge="1">
                  <a:txBody>
                    <a:bodyPr/>
                    <a:lstStyle/>
                    <a:p>
                      <a:endParaRPr lang="en-US"/>
                    </a:p>
                  </a:txBody>
                  <a:tcPr/>
                </a:tc>
                <a:tc rowSpan="2" hMerge="1">
                  <a:txBody>
                    <a:bodyPr/>
                    <a:lstStyle/>
                    <a:p>
                      <a:endParaRPr lang="en-US"/>
                    </a:p>
                  </a:txBody>
                  <a:tcPr/>
                </a:tc>
                <a:tc>
                  <a:txBody>
                    <a:bodyPr/>
                    <a:lstStyle/>
                    <a:p>
                      <a:pPr marL="0" marR="0">
                        <a:lnSpc>
                          <a:spcPts val="100"/>
                        </a:lnSpc>
                        <a:spcBef>
                          <a:spcPts val="0"/>
                        </a:spcBef>
                        <a:spcAft>
                          <a:spcPts val="0"/>
                        </a:spcAft>
                      </a:pPr>
                      <a:endParaRPr lang="en-US" sz="100">
                        <a:latin typeface="Times New Roman"/>
                        <a:ea typeface="Times New Roman"/>
                        <a:cs typeface="Times New Roman"/>
                      </a:endParaRPr>
                    </a:p>
                  </a:txBody>
                  <a:tcPr marL="0" marR="0" marT="0" marB="0" anchor="b">
                    <a:lnL>
                      <a:noFill/>
                    </a:lnL>
                    <a:lnR w="12700" cap="flat" cmpd="sng" algn="ctr">
                      <a:solidFill>
                        <a:srgbClr val="404040"/>
                      </a:solidFill>
                      <a:prstDash val="solid"/>
                      <a:round/>
                      <a:headEnd type="none" w="med" len="med"/>
                      <a:tailEnd type="none" w="med" len="med"/>
                    </a:lnR>
                    <a:lnT>
                      <a:noFill/>
                    </a:lnT>
                    <a:lnB>
                      <a:noFill/>
                    </a:lnB>
                    <a:solidFill>
                      <a:srgbClr val="C0C0C0"/>
                    </a:solidFill>
                  </a:tcPr>
                </a:tc>
                <a:tc>
                  <a:txBody>
                    <a:bodyPr/>
                    <a:lstStyle/>
                    <a:p>
                      <a:pPr marL="0" marR="0">
                        <a:lnSpc>
                          <a:spcPts val="100"/>
                        </a:lnSpc>
                        <a:spcBef>
                          <a:spcPts val="0"/>
                        </a:spcBef>
                        <a:spcAft>
                          <a:spcPts val="0"/>
                        </a:spcAft>
                      </a:pPr>
                      <a:endParaRPr lang="en-US" sz="100">
                        <a:latin typeface="Times New Roman"/>
                        <a:ea typeface="Times New Roman"/>
                        <a:cs typeface="Times New Roman"/>
                      </a:endParaRPr>
                    </a:p>
                  </a:txBody>
                  <a:tcPr marL="0" marR="0" marT="0" marB="0" anchor="b">
                    <a:lnL w="12700" cap="flat" cmpd="sng" algn="ctr">
                      <a:solidFill>
                        <a:srgbClr val="404040"/>
                      </a:solidFill>
                      <a:prstDash val="solid"/>
                      <a:round/>
                      <a:headEnd type="none" w="med" len="med"/>
                      <a:tailEnd type="none" w="med" len="med"/>
                    </a:lnL>
                    <a:lnR>
                      <a:noFill/>
                    </a:lnR>
                    <a:lnT>
                      <a:noFill/>
                    </a:lnT>
                    <a:lnB>
                      <a:noFill/>
                    </a:lnB>
                  </a:tcPr>
                </a:tc>
                <a:tc>
                  <a:txBody>
                    <a:bodyPr/>
                    <a:lstStyle/>
                    <a:p>
                      <a:pPr marL="0" marR="0">
                        <a:lnSpc>
                          <a:spcPts val="1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11"/>
                  </a:ext>
                </a:extLst>
              </a:tr>
              <a:tr h="273400">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404040"/>
                      </a:solidFill>
                      <a:prstDash val="solid"/>
                      <a:round/>
                      <a:headEnd type="none" w="med" len="med"/>
                      <a:tailEnd type="none" w="med" len="med"/>
                    </a:lnL>
                    <a:lnR>
                      <a:noFill/>
                    </a:lnR>
                    <a:lnT>
                      <a:noFill/>
                    </a:lnT>
                    <a:lnB>
                      <a:noFill/>
                    </a:lnB>
                    <a:solidFill>
                      <a:srgbClr val="C0C0C0"/>
                    </a:solidFill>
                  </a:tcPr>
                </a:tc>
                <a:tc vMerge="1">
                  <a:txBody>
                    <a:bodyPr/>
                    <a:lstStyle/>
                    <a:p>
                      <a:endParaRPr lang="en-US"/>
                    </a:p>
                  </a:txBody>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solidFill>
                      <a:srgbClr val="C0C0C0"/>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solidFill>
                      <a:srgbClr val="C0C0C0"/>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404040"/>
                      </a:solidFill>
                      <a:prstDash val="solid"/>
                      <a:round/>
                      <a:headEnd type="none" w="med" len="med"/>
                      <a:tailEnd type="none" w="med" len="med"/>
                    </a:lnR>
                    <a:lnT>
                      <a:noFill/>
                    </a:lnT>
                    <a:lnB>
                      <a:noFill/>
                    </a:lnB>
                    <a:solidFill>
                      <a:srgbClr val="C0C0C0"/>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404040"/>
                      </a:solidFill>
                      <a:prstDash val="solid"/>
                      <a:round/>
                      <a:headEnd type="none" w="med" len="med"/>
                      <a:tailEnd type="none" w="med" len="med"/>
                    </a:lnL>
                    <a:lnR>
                      <a:noFill/>
                    </a:lnR>
                    <a:lnT>
                      <a:noFill/>
                    </a:lnT>
                    <a:lnB>
                      <a:noFill/>
                    </a:lnB>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12"/>
                  </a:ext>
                </a:extLst>
              </a:tr>
              <a:tr h="91133">
                <a:tc>
                  <a:txBody>
                    <a:bodyPr/>
                    <a:lstStyle/>
                    <a:p>
                      <a:pPr marL="0" marR="0">
                        <a:lnSpc>
                          <a:spcPct val="115000"/>
                        </a:lnSpc>
                        <a:spcBef>
                          <a:spcPts val="0"/>
                        </a:spcBef>
                        <a:spcAft>
                          <a:spcPts val="0"/>
                        </a:spcAft>
                      </a:pPr>
                      <a:endParaRPr lang="en-US" sz="400">
                        <a:latin typeface="Times New Roman"/>
                        <a:ea typeface="Times New Roman"/>
                        <a:cs typeface="Times New Roman"/>
                      </a:endParaRPr>
                    </a:p>
                  </a:txBody>
                  <a:tcPr marL="0" marR="0" marT="0" marB="0" anchor="b">
                    <a:lnL w="12700" cap="flat" cmpd="sng" algn="ctr">
                      <a:solidFill>
                        <a:srgbClr val="404040"/>
                      </a:solidFill>
                      <a:prstDash val="solid"/>
                      <a:round/>
                      <a:headEnd type="none" w="med" len="med"/>
                      <a:tailEnd type="none" w="med" len="med"/>
                    </a:lnL>
                    <a:lnR>
                      <a:noFill/>
                    </a:lnR>
                    <a:lnT>
                      <a:noFill/>
                    </a:lnT>
                    <a:lnB w="12700" cap="flat" cmpd="sng" algn="ctr">
                      <a:solidFill>
                        <a:srgbClr val="40404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400">
                        <a:latin typeface="Times New Roman"/>
                        <a:ea typeface="Times New Roman"/>
                        <a:cs typeface="Times New Roman"/>
                      </a:endParaRPr>
                    </a:p>
                  </a:txBody>
                  <a:tcPr marL="0" marR="0" marT="0" marB="0" anchor="b">
                    <a:lnL>
                      <a:noFill/>
                    </a:lnL>
                    <a:lnR>
                      <a:noFill/>
                    </a:lnR>
                    <a:lnT>
                      <a:noFill/>
                    </a:lnT>
                    <a:lnB w="12700" cap="flat" cmpd="sng" algn="ctr">
                      <a:solidFill>
                        <a:srgbClr val="40404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4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w="12700" cap="flat" cmpd="sng" algn="ctr">
                      <a:solidFill>
                        <a:srgbClr val="40404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4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40404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400">
                        <a:latin typeface="Times New Roman"/>
                        <a:ea typeface="Times New Roman"/>
                        <a:cs typeface="Times New Roman"/>
                      </a:endParaRPr>
                    </a:p>
                  </a:txBody>
                  <a:tcPr marL="0" marR="0" marT="0" marB="0" anchor="b">
                    <a:lnL>
                      <a:noFill/>
                    </a:lnL>
                    <a:lnR>
                      <a:noFill/>
                    </a:lnR>
                    <a:lnT>
                      <a:noFill/>
                    </a:lnT>
                    <a:lnB w="12700" cap="flat" cmpd="sng" algn="ctr">
                      <a:solidFill>
                        <a:srgbClr val="40404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400">
                        <a:latin typeface="Times New Roman"/>
                        <a:ea typeface="Times New Roman"/>
                        <a:cs typeface="Times New Roman"/>
                      </a:endParaRPr>
                    </a:p>
                  </a:txBody>
                  <a:tcPr marL="0" marR="0" marT="0" marB="0" anchor="b">
                    <a:lnL>
                      <a:noFill/>
                    </a:lnL>
                    <a:lnR>
                      <a:noFill/>
                    </a:lnR>
                    <a:lnT>
                      <a:noFill/>
                    </a:lnT>
                    <a:lnB w="12700" cap="flat" cmpd="sng" algn="ctr">
                      <a:solidFill>
                        <a:srgbClr val="40404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400">
                        <a:latin typeface="Times New Roman"/>
                        <a:ea typeface="Times New Roman"/>
                        <a:cs typeface="Times New Roman"/>
                      </a:endParaRPr>
                    </a:p>
                  </a:txBody>
                  <a:tcPr marL="0" marR="0" marT="0" marB="0" anchor="b">
                    <a:lnL>
                      <a:noFill/>
                    </a:lnL>
                    <a:lnR>
                      <a:noFill/>
                    </a:lnR>
                    <a:lnT>
                      <a:noFill/>
                    </a:lnT>
                    <a:lnB w="12700" cap="flat" cmpd="sng" algn="ctr">
                      <a:solidFill>
                        <a:srgbClr val="40404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400">
                        <a:latin typeface="Times New Roman"/>
                        <a:ea typeface="Times New Roman"/>
                        <a:cs typeface="Times New Roman"/>
                      </a:endParaRPr>
                    </a:p>
                  </a:txBody>
                  <a:tcPr marL="0" marR="0" marT="0" marB="0" anchor="b">
                    <a:lnL>
                      <a:noFill/>
                    </a:lnL>
                    <a:lnR w="12700" cap="flat" cmpd="sng" algn="ctr">
                      <a:solidFill>
                        <a:srgbClr val="404040"/>
                      </a:solidFill>
                      <a:prstDash val="solid"/>
                      <a:round/>
                      <a:headEnd type="none" w="med" len="med"/>
                      <a:tailEnd type="none" w="med" len="med"/>
                    </a:lnR>
                    <a:lnT>
                      <a:noFill/>
                    </a:lnT>
                    <a:lnB w="12700" cap="flat" cmpd="sng" algn="ctr">
                      <a:solidFill>
                        <a:srgbClr val="40404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400">
                        <a:latin typeface="Times New Roman"/>
                        <a:ea typeface="Times New Roman"/>
                        <a:cs typeface="Times New Roman"/>
                      </a:endParaRPr>
                    </a:p>
                  </a:txBody>
                  <a:tcPr marL="0" marR="0" marT="0" marB="0" anchor="b">
                    <a:lnL w="12700" cap="flat" cmpd="sng" algn="ctr">
                      <a:solidFill>
                        <a:srgbClr val="404040"/>
                      </a:solidFill>
                      <a:prstDash val="solid"/>
                      <a:round/>
                      <a:headEnd type="none" w="med" len="med"/>
                      <a:tailEnd type="none" w="med" len="med"/>
                    </a:lnL>
                    <a:lnR>
                      <a:noFill/>
                    </a:lnR>
                    <a:lnT>
                      <a:noFill/>
                    </a:lnT>
                    <a:lnB>
                      <a:noFill/>
                    </a:lnB>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13"/>
                  </a:ext>
                </a:extLst>
              </a:tr>
              <a:tr h="273400">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a:noFill/>
                    </a:lnR>
                    <a:lnT w="12700" cap="flat" cmpd="sng" algn="ctr">
                      <a:solidFill>
                        <a:srgbClr val="404040"/>
                      </a:solidFill>
                      <a:prstDash val="solid"/>
                      <a:round/>
                      <a:headEnd type="none" w="med" len="med"/>
                      <a:tailEnd type="none" w="med" len="med"/>
                    </a:lnT>
                    <a:lnB>
                      <a:noFill/>
                    </a:lnB>
                  </a:tcPr>
                </a:tc>
                <a:tc>
                  <a:txBody>
                    <a:bodyPr/>
                    <a:lstStyle/>
                    <a:p>
                      <a:pPr marL="0" marR="0">
                        <a:lnSpc>
                          <a:spcPct val="115000"/>
                        </a:lnSpc>
                        <a:spcBef>
                          <a:spcPts val="0"/>
                        </a:spcBef>
                        <a:spcAft>
                          <a:spcPts val="0"/>
                        </a:spcAft>
                      </a:pPr>
                      <a:endParaRPr lang="en-US" sz="1200" dirty="0">
                        <a:latin typeface="Times New Roman"/>
                        <a:ea typeface="Times New Roman"/>
                        <a:cs typeface="Times New Roman"/>
                      </a:endParaRPr>
                    </a:p>
                  </a:txBody>
                  <a:tcPr marL="0" marR="0" marT="0" marB="0" anchor="b">
                    <a:lnL>
                      <a:noFill/>
                    </a:lnL>
                    <a:lnR>
                      <a:noFill/>
                    </a:lnR>
                    <a:lnT w="12700" cap="flat" cmpd="sng" algn="ctr">
                      <a:solidFill>
                        <a:srgbClr val="404040"/>
                      </a:solidFill>
                      <a:prstDash val="solid"/>
                      <a:round/>
                      <a:headEnd type="none" w="med" len="med"/>
                      <a:tailEnd type="none" w="med" len="med"/>
                    </a:lnT>
                    <a:lnB>
                      <a:noFill/>
                    </a:lnB>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a:noFill/>
                    </a:lnR>
                    <a:lnT w="12700" cap="flat" cmpd="sng" algn="ctr">
                      <a:solidFill>
                        <a:srgbClr val="404040"/>
                      </a:solidFill>
                      <a:prstDash val="solid"/>
                      <a:round/>
                      <a:headEnd type="none" w="med" len="med"/>
                      <a:tailEnd type="none" w="med" len="med"/>
                    </a:lnT>
                    <a:lnB>
                      <a:noFill/>
                    </a:lnB>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a:noFill/>
                    </a:lnR>
                    <a:lnT w="12700" cap="flat" cmpd="sng" algn="ctr">
                      <a:solidFill>
                        <a:srgbClr val="404040"/>
                      </a:solidFill>
                      <a:prstDash val="solid"/>
                      <a:round/>
                      <a:headEnd type="none" w="med" len="med"/>
                      <a:tailEnd type="none" w="med" len="med"/>
                    </a:lnT>
                    <a:lnB>
                      <a:noFill/>
                    </a:lnB>
                  </a:tcPr>
                </a:tc>
                <a:tc gridSpan="5">
                  <a:txBody>
                    <a:bodyPr/>
                    <a:lstStyle/>
                    <a:p>
                      <a:pPr marL="76200" marR="0">
                        <a:lnSpc>
                          <a:spcPts val="1590"/>
                        </a:lnSpc>
                        <a:spcBef>
                          <a:spcPts val="0"/>
                        </a:spcBef>
                        <a:spcAft>
                          <a:spcPts val="0"/>
                        </a:spcAft>
                      </a:pPr>
                      <a:r>
                        <a:rPr lang="en-US" sz="1400" b="1">
                          <a:latin typeface="Times New Roman"/>
                          <a:ea typeface="Times New Roman"/>
                          <a:cs typeface="Times New Roman"/>
                        </a:rPr>
                        <a:t>Table : Elements determining PLL’s frequency</a:t>
                      </a:r>
                      <a:endParaRPr lang="en-US" sz="1100">
                        <a:latin typeface="Calibri"/>
                        <a:ea typeface="Times New Roman"/>
                        <a:cs typeface="Times New Roman"/>
                      </a:endParaRPr>
                    </a:p>
                  </a:txBody>
                  <a:tcPr marL="0" marR="0" marT="0" marB="0" anchor="b">
                    <a:lnL>
                      <a:noFill/>
                    </a:lnL>
                    <a:lnR>
                      <a:noFill/>
                    </a:lnR>
                    <a:lnT w="12700" cap="flat" cmpd="sng" algn="ctr">
                      <a:solidFill>
                        <a:srgbClr val="40404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14"/>
                  </a:ext>
                </a:extLst>
              </a:tr>
              <a:tr h="79742">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a:noFill/>
                    </a:lnR>
                    <a:lnT>
                      <a:noFill/>
                    </a:lnT>
                    <a:lnB w="12700" cap="flat" cmpd="sng" algn="ctr">
                      <a:solidFill>
                        <a:srgbClr val="C0504D"/>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a:noFill/>
                    </a:lnR>
                    <a:lnT>
                      <a:noFill/>
                    </a:lnT>
                    <a:lnB w="12700" cap="flat" cmpd="sng" algn="ctr">
                      <a:solidFill>
                        <a:srgbClr val="C0504D"/>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a:noFill/>
                    </a:lnR>
                    <a:lnT>
                      <a:noFill/>
                    </a:lnT>
                    <a:lnB w="12700" cap="flat" cmpd="sng" algn="ctr">
                      <a:solidFill>
                        <a:srgbClr val="C0504D"/>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a:noFill/>
                    </a:lnR>
                    <a:lnT>
                      <a:noFill/>
                    </a:lnT>
                    <a:lnB w="12700" cap="flat" cmpd="sng" algn="ctr">
                      <a:solidFill>
                        <a:srgbClr val="C0504D"/>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15"/>
                  </a:ext>
                </a:extLst>
              </a:tr>
              <a:tr h="56958">
                <a:tc>
                  <a:txBody>
                    <a:bodyPr/>
                    <a:lstStyle/>
                    <a:p>
                      <a:pPr marL="0" marR="0">
                        <a:lnSpc>
                          <a:spcPct val="115000"/>
                        </a:lnSpc>
                        <a:spcBef>
                          <a:spcPts val="0"/>
                        </a:spcBef>
                        <a:spcAft>
                          <a:spcPts val="0"/>
                        </a:spcAft>
                      </a:pPr>
                      <a:endParaRPr lang="en-US" sz="250">
                        <a:latin typeface="Times New Roman"/>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nSpc>
                          <a:spcPct val="115000"/>
                        </a:lnSpc>
                        <a:spcBef>
                          <a:spcPts val="0"/>
                        </a:spcBef>
                        <a:spcAft>
                          <a:spcPts val="0"/>
                        </a:spcAft>
                      </a:pPr>
                      <a:endParaRPr lang="en-US" sz="250">
                        <a:latin typeface="Times New Roman"/>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nSpc>
                          <a:spcPct val="115000"/>
                        </a:lnSpc>
                        <a:spcBef>
                          <a:spcPts val="0"/>
                        </a:spcBef>
                        <a:spcAft>
                          <a:spcPts val="0"/>
                        </a:spcAft>
                      </a:pPr>
                      <a:endParaRPr lang="en-US" sz="250">
                        <a:latin typeface="Times New Roman"/>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nSpc>
                          <a:spcPct val="115000"/>
                        </a:lnSpc>
                        <a:spcBef>
                          <a:spcPts val="0"/>
                        </a:spcBef>
                        <a:spcAft>
                          <a:spcPts val="0"/>
                        </a:spcAft>
                      </a:pPr>
                      <a:endParaRPr lang="en-US" sz="250">
                        <a:latin typeface="Times New Roman"/>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tcPr>
                </a:tc>
                <a:tc rowSpan="2">
                  <a:txBody>
                    <a:bodyPr/>
                    <a:lstStyle/>
                    <a:p>
                      <a:pPr marL="800100" marR="0">
                        <a:lnSpc>
                          <a:spcPts val="1605"/>
                        </a:lnSpc>
                        <a:spcBef>
                          <a:spcPts val="0"/>
                        </a:spcBef>
                        <a:spcAft>
                          <a:spcPts val="0"/>
                        </a:spcAft>
                      </a:pPr>
                      <a:endParaRPr lang="en-US" sz="1200" dirty="0">
                        <a:latin typeface="Times New Roman"/>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nSpc>
                          <a:spcPct val="115000"/>
                        </a:lnSpc>
                        <a:spcBef>
                          <a:spcPts val="0"/>
                        </a:spcBef>
                        <a:spcAft>
                          <a:spcPts val="0"/>
                        </a:spcAft>
                      </a:pPr>
                      <a:endParaRPr lang="en-US" sz="250">
                        <a:latin typeface="Times New Roman"/>
                        <a:ea typeface="Times New Roman"/>
                        <a:cs typeface="Times New Roman"/>
                      </a:endParaRPr>
                    </a:p>
                  </a:txBody>
                  <a:tcPr marL="0" marR="0" marT="0" marB="0" anchor="b">
                    <a:lnL>
                      <a:noFill/>
                    </a:lnL>
                    <a:lnR>
                      <a:noFill/>
                    </a:lnR>
                    <a:lnT w="12700" cap="flat" cmpd="sng" algn="ctr">
                      <a:solidFill>
                        <a:srgbClr val="C0504D"/>
                      </a:solidFill>
                      <a:prstDash val="solid"/>
                      <a:round/>
                      <a:headEnd type="none" w="med" len="med"/>
                      <a:tailEnd type="none" w="med" len="med"/>
                    </a:lnT>
                    <a:lnB>
                      <a:noFill/>
                    </a:lnB>
                    <a:solidFill>
                      <a:srgbClr val="943634"/>
                    </a:solidFill>
                  </a:tcPr>
                </a:tc>
                <a:tc rowSpan="2">
                  <a:txBody>
                    <a:bodyPr/>
                    <a:lstStyle/>
                    <a:p>
                      <a:pPr marL="0" marR="133350" algn="r">
                        <a:lnSpc>
                          <a:spcPct val="115000"/>
                        </a:lnSpc>
                        <a:spcBef>
                          <a:spcPts val="0"/>
                        </a:spcBef>
                        <a:spcAft>
                          <a:spcPts val="0"/>
                        </a:spcAft>
                      </a:pPr>
                      <a:r>
                        <a:rPr lang="en-US" sz="1100">
                          <a:solidFill>
                            <a:srgbClr val="FFFFFF"/>
                          </a:solidFill>
                          <a:latin typeface="Calibri"/>
                          <a:ea typeface="Times New Roman"/>
                          <a:cs typeface="Calibri"/>
                        </a:rPr>
                        <a:t>8</a:t>
                      </a:r>
                      <a:endParaRPr lang="en-US" sz="1100">
                        <a:latin typeface="Calibri"/>
                        <a:ea typeface="Times New Roman"/>
                        <a:cs typeface="Times New Roman"/>
                      </a:endParaRPr>
                    </a:p>
                  </a:txBody>
                  <a:tcPr marL="0" marR="0" marT="0" marB="0" anchor="b">
                    <a:lnL>
                      <a:noFill/>
                    </a:lnL>
                    <a:lnR>
                      <a:noFill/>
                    </a:lnR>
                    <a:lnT w="12700" cap="flat" cmpd="sng" algn="ctr">
                      <a:solidFill>
                        <a:srgbClr val="C0504D"/>
                      </a:solidFill>
                      <a:prstDash val="solid"/>
                      <a:round/>
                      <a:headEnd type="none" w="med" len="med"/>
                      <a:tailEnd type="none" w="med" len="med"/>
                    </a:lnT>
                    <a:lnB>
                      <a:noFill/>
                    </a:lnB>
                    <a:solidFill>
                      <a:srgbClr val="943634"/>
                    </a:solidFill>
                  </a:tcPr>
                </a:tc>
                <a:tc>
                  <a:txBody>
                    <a:bodyPr/>
                    <a:lstStyle/>
                    <a:p>
                      <a:pPr marL="0" marR="0">
                        <a:lnSpc>
                          <a:spcPct val="115000"/>
                        </a:lnSpc>
                        <a:spcBef>
                          <a:spcPts val="0"/>
                        </a:spcBef>
                        <a:spcAft>
                          <a:spcPts val="0"/>
                        </a:spcAft>
                      </a:pPr>
                      <a:endParaRPr lang="en-US" sz="250">
                        <a:latin typeface="Times New Roman"/>
                        <a:ea typeface="Times New Roman"/>
                        <a:cs typeface="Times New Roman"/>
                      </a:endParaRPr>
                    </a:p>
                  </a:txBody>
                  <a:tcPr marL="0" marR="0" marT="0" marB="0" anchor="b">
                    <a:lnL>
                      <a:noFill/>
                    </a:lnL>
                    <a:lnR w="12700" cap="flat" cmpd="sng" algn="ctr">
                      <a:solidFill>
                        <a:srgbClr val="943634"/>
                      </a:solidFill>
                      <a:prstDash val="solid"/>
                      <a:round/>
                      <a:headEnd type="none" w="med" len="med"/>
                      <a:tailEnd type="none" w="med" len="med"/>
                    </a:lnR>
                    <a:lnT w="12700" cap="flat" cmpd="sng" algn="ctr">
                      <a:solidFill>
                        <a:srgbClr val="C0504D"/>
                      </a:solidFill>
                      <a:prstDash val="solid"/>
                      <a:round/>
                      <a:headEnd type="none" w="med" len="med"/>
                      <a:tailEnd type="none" w="med" len="med"/>
                    </a:lnT>
                    <a:lnB>
                      <a:noFill/>
                    </a:lnB>
                    <a:solidFill>
                      <a:srgbClr val="943634"/>
                    </a:solidFill>
                  </a:tcPr>
                </a:tc>
                <a:tc>
                  <a:txBody>
                    <a:bodyPr/>
                    <a:lstStyle/>
                    <a:p>
                      <a:pPr marL="0" marR="0">
                        <a:lnSpc>
                          <a:spcPct val="115000"/>
                        </a:lnSpc>
                        <a:spcBef>
                          <a:spcPts val="0"/>
                        </a:spcBef>
                        <a:spcAft>
                          <a:spcPts val="0"/>
                        </a:spcAft>
                      </a:pPr>
                      <a:endParaRPr lang="en-US" sz="250">
                        <a:latin typeface="Times New Roman"/>
                        <a:ea typeface="Times New Roman"/>
                        <a:cs typeface="Times New Roman"/>
                      </a:endParaRPr>
                    </a:p>
                  </a:txBody>
                  <a:tcPr marL="0" marR="0" marT="0" marB="0" anchor="b">
                    <a:lnL w="12700" cap="flat" cmpd="sng" algn="ctr">
                      <a:solidFill>
                        <a:srgbClr val="943634"/>
                      </a:solidFill>
                      <a:prstDash val="solid"/>
                      <a:round/>
                      <a:headEnd type="none" w="med" len="med"/>
                      <a:tailEnd type="none" w="med" len="med"/>
                    </a:lnL>
                    <a:lnR>
                      <a:noFill/>
                    </a:lnR>
                    <a:lnT w="12700" cap="flat" cmpd="sng" algn="ctr">
                      <a:solidFill>
                        <a:srgbClr val="C0504D"/>
                      </a:solidFill>
                      <a:prstDash val="solid"/>
                      <a:round/>
                      <a:headEnd type="none" w="med" len="med"/>
                      <a:tailEnd type="none" w="med" len="med"/>
                    </a:lnT>
                    <a:lnB>
                      <a:noFill/>
                    </a:lnB>
                    <a:solidFill>
                      <a:srgbClr val="943634"/>
                    </a:solidFill>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16"/>
                  </a:ext>
                </a:extLst>
              </a:tr>
              <a:tr h="262009">
                <a:tc>
                  <a:txBody>
                    <a:bodyPr/>
                    <a:lstStyle/>
                    <a:p>
                      <a:pPr marL="0" marR="0">
                        <a:lnSpc>
                          <a:spcPct val="115000"/>
                        </a:lnSpc>
                        <a:spcBef>
                          <a:spcPts val="0"/>
                        </a:spcBef>
                        <a:spcAft>
                          <a:spcPts val="0"/>
                        </a:spcAft>
                      </a:pPr>
                      <a:endParaRPr lang="en-US" sz="1150">
                        <a:latin typeface="Times New Roman"/>
                        <a:ea typeface="Times New Roman"/>
                        <a:cs typeface="Times New Roman"/>
                      </a:endParaRPr>
                    </a:p>
                  </a:txBody>
                  <a:tcPr marL="0" marR="0" marT="0" marB="0" anchor="b">
                    <a:lnL>
                      <a:noFill/>
                    </a:lnL>
                    <a:lnR>
                      <a:noFill/>
                    </a:lnR>
                    <a:lnT>
                      <a:noFill/>
                    </a:lnT>
                    <a:lnB>
                      <a:noFill/>
                    </a:lnB>
                  </a:tcPr>
                </a:tc>
                <a:tc>
                  <a:txBody>
                    <a:bodyPr/>
                    <a:lstStyle/>
                    <a:p>
                      <a:pPr marL="0" marR="0">
                        <a:lnSpc>
                          <a:spcPct val="115000"/>
                        </a:lnSpc>
                        <a:spcBef>
                          <a:spcPts val="0"/>
                        </a:spcBef>
                        <a:spcAft>
                          <a:spcPts val="0"/>
                        </a:spcAft>
                      </a:pPr>
                      <a:endParaRPr lang="en-US" sz="1150">
                        <a:latin typeface="Times New Roman"/>
                        <a:ea typeface="Times New Roman"/>
                        <a:cs typeface="Times New Roman"/>
                      </a:endParaRPr>
                    </a:p>
                  </a:txBody>
                  <a:tcPr marL="0" marR="0" marT="0" marB="0" anchor="b">
                    <a:lnL>
                      <a:noFill/>
                    </a:lnL>
                    <a:lnR>
                      <a:noFill/>
                    </a:lnR>
                    <a:lnT>
                      <a:noFill/>
                    </a:lnT>
                    <a:lnB>
                      <a:noFill/>
                    </a:lnB>
                  </a:tcPr>
                </a:tc>
                <a:tc>
                  <a:txBody>
                    <a:bodyPr/>
                    <a:lstStyle/>
                    <a:p>
                      <a:pPr marL="0" marR="0">
                        <a:lnSpc>
                          <a:spcPct val="115000"/>
                        </a:lnSpc>
                        <a:spcBef>
                          <a:spcPts val="0"/>
                        </a:spcBef>
                        <a:spcAft>
                          <a:spcPts val="0"/>
                        </a:spcAft>
                      </a:pPr>
                      <a:endParaRPr lang="en-US" sz="1150">
                        <a:latin typeface="Times New Roman"/>
                        <a:ea typeface="Times New Roman"/>
                        <a:cs typeface="Times New Roman"/>
                      </a:endParaRPr>
                    </a:p>
                  </a:txBody>
                  <a:tcPr marL="0" marR="0" marT="0" marB="0" anchor="b">
                    <a:lnL>
                      <a:noFill/>
                    </a:lnL>
                    <a:lnR>
                      <a:noFill/>
                    </a:lnR>
                    <a:lnT>
                      <a:noFill/>
                    </a:lnT>
                    <a:lnB>
                      <a:noFill/>
                    </a:lnB>
                  </a:tcPr>
                </a:tc>
                <a:tc>
                  <a:txBody>
                    <a:bodyPr/>
                    <a:lstStyle/>
                    <a:p>
                      <a:pPr marL="0" marR="0">
                        <a:lnSpc>
                          <a:spcPct val="115000"/>
                        </a:lnSpc>
                        <a:spcBef>
                          <a:spcPts val="0"/>
                        </a:spcBef>
                        <a:spcAft>
                          <a:spcPts val="0"/>
                        </a:spcAft>
                      </a:pPr>
                      <a:endParaRPr lang="en-US" sz="1150">
                        <a:latin typeface="Times New Roman"/>
                        <a:ea typeface="Times New Roman"/>
                        <a:cs typeface="Times New Roman"/>
                      </a:endParaRPr>
                    </a:p>
                  </a:txBody>
                  <a:tcPr marL="0" marR="0" marT="0" marB="0" anchor="b">
                    <a:lnL>
                      <a:noFill/>
                    </a:lnL>
                    <a:lnR>
                      <a:noFill/>
                    </a:lnR>
                    <a:lnT>
                      <a:noFill/>
                    </a:lnT>
                    <a:lnB>
                      <a:noFill/>
                    </a:lnB>
                  </a:tcPr>
                </a:tc>
                <a:tc vMerge="1">
                  <a:txBody>
                    <a:bodyPr/>
                    <a:lstStyle/>
                    <a:p>
                      <a:endParaRPr lang="en-US"/>
                    </a:p>
                  </a:txBody>
                  <a:tcPr/>
                </a:tc>
                <a:tc>
                  <a:txBody>
                    <a:bodyPr/>
                    <a:lstStyle/>
                    <a:p>
                      <a:pPr marL="0" marR="0">
                        <a:lnSpc>
                          <a:spcPct val="115000"/>
                        </a:lnSpc>
                        <a:spcBef>
                          <a:spcPts val="0"/>
                        </a:spcBef>
                        <a:spcAft>
                          <a:spcPts val="0"/>
                        </a:spcAft>
                      </a:pPr>
                      <a:endParaRPr lang="en-US" sz="1150">
                        <a:latin typeface="Times New Roman"/>
                        <a:ea typeface="Times New Roman"/>
                        <a:cs typeface="Times New Roman"/>
                      </a:endParaRPr>
                    </a:p>
                  </a:txBody>
                  <a:tcPr marL="0" marR="0" marT="0" marB="0" anchor="b">
                    <a:lnL>
                      <a:noFill/>
                    </a:lnL>
                    <a:lnR>
                      <a:noFill/>
                    </a:lnR>
                    <a:lnT>
                      <a:noFill/>
                    </a:lnT>
                    <a:lnB>
                      <a:noFill/>
                    </a:lnB>
                    <a:solidFill>
                      <a:srgbClr val="943634"/>
                    </a:solidFill>
                  </a:tcPr>
                </a:tc>
                <a:tc vMerge="1">
                  <a:txBody>
                    <a:bodyPr/>
                    <a:lstStyle/>
                    <a:p>
                      <a:endParaRPr lang="en-US"/>
                    </a:p>
                  </a:txBody>
                  <a:tcPr/>
                </a:tc>
                <a:tc>
                  <a:txBody>
                    <a:bodyPr/>
                    <a:lstStyle/>
                    <a:p>
                      <a:pPr marL="0" marR="0">
                        <a:lnSpc>
                          <a:spcPct val="115000"/>
                        </a:lnSpc>
                        <a:spcBef>
                          <a:spcPts val="0"/>
                        </a:spcBef>
                        <a:spcAft>
                          <a:spcPts val="0"/>
                        </a:spcAft>
                      </a:pPr>
                      <a:endParaRPr lang="en-US" sz="1150">
                        <a:latin typeface="Times New Roman"/>
                        <a:ea typeface="Times New Roman"/>
                        <a:cs typeface="Times New Roman"/>
                      </a:endParaRPr>
                    </a:p>
                  </a:txBody>
                  <a:tcPr marL="0" marR="0" marT="0" marB="0" anchor="b">
                    <a:lnL>
                      <a:noFill/>
                    </a:lnL>
                    <a:lnR w="12700" cap="flat" cmpd="sng" algn="ctr">
                      <a:solidFill>
                        <a:srgbClr val="943634"/>
                      </a:solidFill>
                      <a:prstDash val="solid"/>
                      <a:round/>
                      <a:headEnd type="none" w="med" len="med"/>
                      <a:tailEnd type="none" w="med" len="med"/>
                    </a:lnR>
                    <a:lnT>
                      <a:noFill/>
                    </a:lnT>
                    <a:lnB>
                      <a:noFill/>
                    </a:lnB>
                    <a:solidFill>
                      <a:srgbClr val="943634"/>
                    </a:solidFill>
                  </a:tcPr>
                </a:tc>
                <a:tc>
                  <a:txBody>
                    <a:bodyPr/>
                    <a:lstStyle/>
                    <a:p>
                      <a:pPr marL="0" marR="0">
                        <a:lnSpc>
                          <a:spcPct val="115000"/>
                        </a:lnSpc>
                        <a:spcBef>
                          <a:spcPts val="0"/>
                        </a:spcBef>
                        <a:spcAft>
                          <a:spcPts val="0"/>
                        </a:spcAft>
                      </a:pPr>
                      <a:endParaRPr lang="en-US" sz="1150">
                        <a:latin typeface="Times New Roman"/>
                        <a:ea typeface="Times New Roman"/>
                        <a:cs typeface="Times New Roman"/>
                      </a:endParaRPr>
                    </a:p>
                  </a:txBody>
                  <a:tcPr marL="0" marR="0" marT="0" marB="0" anchor="b">
                    <a:lnL w="12700" cap="flat" cmpd="sng" algn="ctr">
                      <a:solidFill>
                        <a:srgbClr val="943634"/>
                      </a:solidFill>
                      <a:prstDash val="solid"/>
                      <a:round/>
                      <a:headEnd type="none" w="med" len="med"/>
                      <a:tailEnd type="none" w="med" len="med"/>
                    </a:lnL>
                    <a:lnR>
                      <a:noFill/>
                    </a:lnR>
                    <a:lnT>
                      <a:noFill/>
                    </a:lnT>
                    <a:lnB>
                      <a:noFill/>
                    </a:lnB>
                    <a:solidFill>
                      <a:srgbClr val="943634"/>
                    </a:solidFill>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17"/>
                  </a:ext>
                </a:extLst>
              </a:tr>
              <a:tr h="113917">
                <a:tc>
                  <a:txBody>
                    <a:bodyPr/>
                    <a:lstStyle/>
                    <a:p>
                      <a:pPr marL="0" marR="0">
                        <a:lnSpc>
                          <a:spcPct val="115000"/>
                        </a:lnSpc>
                        <a:spcBef>
                          <a:spcPts val="0"/>
                        </a:spcBef>
                        <a:spcAft>
                          <a:spcPts val="0"/>
                        </a:spcAft>
                      </a:pPr>
                      <a:endParaRPr lang="en-US" sz="500">
                        <a:latin typeface="Times New Roman"/>
                        <a:ea typeface="Times New Roman"/>
                        <a:cs typeface="Times New Roman"/>
                      </a:endParaRPr>
                    </a:p>
                  </a:txBody>
                  <a:tcPr marL="0" marR="0" marT="0" marB="0" anchor="b">
                    <a:lnL>
                      <a:noFill/>
                    </a:lnL>
                    <a:lnR>
                      <a:noFill/>
                    </a:lnR>
                    <a:lnT>
                      <a:noFill/>
                    </a:lnT>
                    <a:lnB>
                      <a:noFill/>
                    </a:lnB>
                  </a:tcPr>
                </a:tc>
                <a:tc>
                  <a:txBody>
                    <a:bodyPr/>
                    <a:lstStyle/>
                    <a:p>
                      <a:pPr marL="0" marR="0">
                        <a:lnSpc>
                          <a:spcPct val="115000"/>
                        </a:lnSpc>
                        <a:spcBef>
                          <a:spcPts val="0"/>
                        </a:spcBef>
                        <a:spcAft>
                          <a:spcPts val="0"/>
                        </a:spcAft>
                      </a:pPr>
                      <a:endParaRPr lang="en-US" sz="500">
                        <a:latin typeface="Times New Roman"/>
                        <a:ea typeface="Times New Roman"/>
                        <a:cs typeface="Times New Roman"/>
                      </a:endParaRPr>
                    </a:p>
                  </a:txBody>
                  <a:tcPr marL="0" marR="0" marT="0" marB="0" anchor="b">
                    <a:lnL>
                      <a:noFill/>
                    </a:lnL>
                    <a:lnR>
                      <a:noFill/>
                    </a:lnR>
                    <a:lnT>
                      <a:noFill/>
                    </a:lnT>
                    <a:lnB>
                      <a:noFill/>
                    </a:lnB>
                  </a:tcPr>
                </a:tc>
                <a:tc>
                  <a:txBody>
                    <a:bodyPr/>
                    <a:lstStyle/>
                    <a:p>
                      <a:pPr marL="0" marR="0">
                        <a:lnSpc>
                          <a:spcPct val="115000"/>
                        </a:lnSpc>
                        <a:spcBef>
                          <a:spcPts val="0"/>
                        </a:spcBef>
                        <a:spcAft>
                          <a:spcPts val="0"/>
                        </a:spcAft>
                      </a:pPr>
                      <a:endParaRPr lang="en-US" sz="500">
                        <a:latin typeface="Times New Roman"/>
                        <a:ea typeface="Times New Roman"/>
                        <a:cs typeface="Times New Roman"/>
                      </a:endParaRPr>
                    </a:p>
                  </a:txBody>
                  <a:tcPr marL="0" marR="0" marT="0" marB="0" anchor="b">
                    <a:lnL>
                      <a:noFill/>
                    </a:lnL>
                    <a:lnR>
                      <a:noFill/>
                    </a:lnR>
                    <a:lnT>
                      <a:noFill/>
                    </a:lnT>
                    <a:lnB>
                      <a:noFill/>
                    </a:lnB>
                  </a:tcPr>
                </a:tc>
                <a:tc>
                  <a:txBody>
                    <a:bodyPr/>
                    <a:lstStyle/>
                    <a:p>
                      <a:pPr marL="0" marR="0">
                        <a:lnSpc>
                          <a:spcPct val="115000"/>
                        </a:lnSpc>
                        <a:spcBef>
                          <a:spcPts val="0"/>
                        </a:spcBef>
                        <a:spcAft>
                          <a:spcPts val="0"/>
                        </a:spcAft>
                      </a:pPr>
                      <a:endParaRPr lang="en-US" sz="500">
                        <a:latin typeface="Times New Roman"/>
                        <a:ea typeface="Times New Roman"/>
                        <a:cs typeface="Times New Roman"/>
                      </a:endParaRPr>
                    </a:p>
                  </a:txBody>
                  <a:tcPr marL="0" marR="0" marT="0" marB="0" anchor="b">
                    <a:lnL>
                      <a:noFill/>
                    </a:lnL>
                    <a:lnR>
                      <a:noFill/>
                    </a:lnR>
                    <a:lnT>
                      <a:noFill/>
                    </a:lnT>
                    <a:lnB>
                      <a:noFill/>
                    </a:lnB>
                  </a:tcPr>
                </a:tc>
                <a:tc>
                  <a:txBody>
                    <a:bodyPr/>
                    <a:lstStyle/>
                    <a:p>
                      <a:pPr marL="0" marR="0">
                        <a:lnSpc>
                          <a:spcPct val="115000"/>
                        </a:lnSpc>
                        <a:spcBef>
                          <a:spcPts val="0"/>
                        </a:spcBef>
                        <a:spcAft>
                          <a:spcPts val="0"/>
                        </a:spcAft>
                      </a:pPr>
                      <a:endParaRPr lang="en-US" sz="500">
                        <a:latin typeface="Times New Roman"/>
                        <a:ea typeface="Times New Roman"/>
                        <a:cs typeface="Times New Roman"/>
                      </a:endParaRPr>
                    </a:p>
                  </a:txBody>
                  <a:tcPr marL="0" marR="0" marT="0" marB="0" anchor="b">
                    <a:lnL>
                      <a:noFill/>
                    </a:lnL>
                    <a:lnR>
                      <a:noFill/>
                    </a:lnR>
                    <a:lnT>
                      <a:noFill/>
                    </a:lnT>
                    <a:lnB>
                      <a:noFill/>
                    </a:lnB>
                  </a:tcPr>
                </a:tc>
                <a:tc>
                  <a:txBody>
                    <a:bodyPr/>
                    <a:lstStyle/>
                    <a:p>
                      <a:pPr marL="0" marR="0">
                        <a:lnSpc>
                          <a:spcPct val="115000"/>
                        </a:lnSpc>
                        <a:spcBef>
                          <a:spcPts val="0"/>
                        </a:spcBef>
                        <a:spcAft>
                          <a:spcPts val="0"/>
                        </a:spcAft>
                      </a:pPr>
                      <a:endParaRPr lang="en-US" sz="500">
                        <a:latin typeface="Times New Roman"/>
                        <a:ea typeface="Times New Roman"/>
                        <a:cs typeface="Times New Roman"/>
                      </a:endParaRPr>
                    </a:p>
                  </a:txBody>
                  <a:tcPr marL="0" marR="0" marT="0" marB="0" anchor="b">
                    <a:lnL>
                      <a:noFill/>
                    </a:lnL>
                    <a:lnR>
                      <a:noFill/>
                    </a:lnR>
                    <a:lnT>
                      <a:noFill/>
                    </a:lnT>
                    <a:lnB>
                      <a:noFill/>
                    </a:lnB>
                    <a:solidFill>
                      <a:srgbClr val="943634"/>
                    </a:solidFill>
                  </a:tcPr>
                </a:tc>
                <a:tc>
                  <a:txBody>
                    <a:bodyPr/>
                    <a:lstStyle/>
                    <a:p>
                      <a:pPr marL="0" marR="0">
                        <a:lnSpc>
                          <a:spcPct val="115000"/>
                        </a:lnSpc>
                        <a:spcBef>
                          <a:spcPts val="0"/>
                        </a:spcBef>
                        <a:spcAft>
                          <a:spcPts val="0"/>
                        </a:spcAft>
                      </a:pPr>
                      <a:endParaRPr lang="en-US" sz="500">
                        <a:latin typeface="Times New Roman"/>
                        <a:ea typeface="Times New Roman"/>
                        <a:cs typeface="Times New Roman"/>
                      </a:endParaRPr>
                    </a:p>
                  </a:txBody>
                  <a:tcPr marL="0" marR="0" marT="0" marB="0" anchor="b">
                    <a:lnL>
                      <a:noFill/>
                    </a:lnL>
                    <a:lnR>
                      <a:noFill/>
                    </a:lnR>
                    <a:lnT>
                      <a:noFill/>
                    </a:lnT>
                    <a:lnB>
                      <a:noFill/>
                    </a:lnB>
                    <a:solidFill>
                      <a:srgbClr val="943634"/>
                    </a:solidFill>
                  </a:tcPr>
                </a:tc>
                <a:tc>
                  <a:txBody>
                    <a:bodyPr/>
                    <a:lstStyle/>
                    <a:p>
                      <a:pPr marL="0" marR="0">
                        <a:lnSpc>
                          <a:spcPct val="115000"/>
                        </a:lnSpc>
                        <a:spcBef>
                          <a:spcPts val="0"/>
                        </a:spcBef>
                        <a:spcAft>
                          <a:spcPts val="0"/>
                        </a:spcAft>
                      </a:pPr>
                      <a:endParaRPr lang="en-US" sz="500">
                        <a:latin typeface="Times New Roman"/>
                        <a:ea typeface="Times New Roman"/>
                        <a:cs typeface="Times New Roman"/>
                      </a:endParaRPr>
                    </a:p>
                  </a:txBody>
                  <a:tcPr marL="0" marR="0" marT="0" marB="0" anchor="b">
                    <a:lnL>
                      <a:noFill/>
                    </a:lnL>
                    <a:lnR w="12700" cap="flat" cmpd="sng" algn="ctr">
                      <a:solidFill>
                        <a:srgbClr val="943634"/>
                      </a:solidFill>
                      <a:prstDash val="solid"/>
                      <a:round/>
                      <a:headEnd type="none" w="med" len="med"/>
                      <a:tailEnd type="none" w="med" len="med"/>
                    </a:lnR>
                    <a:lnT>
                      <a:noFill/>
                    </a:lnT>
                    <a:lnB>
                      <a:noFill/>
                    </a:lnB>
                    <a:solidFill>
                      <a:srgbClr val="943634"/>
                    </a:solidFill>
                  </a:tcPr>
                </a:tc>
                <a:tc>
                  <a:txBody>
                    <a:bodyPr/>
                    <a:lstStyle/>
                    <a:p>
                      <a:pPr marL="0" marR="0">
                        <a:lnSpc>
                          <a:spcPct val="115000"/>
                        </a:lnSpc>
                        <a:spcBef>
                          <a:spcPts val="0"/>
                        </a:spcBef>
                        <a:spcAft>
                          <a:spcPts val="0"/>
                        </a:spcAft>
                      </a:pPr>
                      <a:endParaRPr lang="en-US" sz="500">
                        <a:latin typeface="Times New Roman"/>
                        <a:ea typeface="Times New Roman"/>
                        <a:cs typeface="Times New Roman"/>
                      </a:endParaRPr>
                    </a:p>
                  </a:txBody>
                  <a:tcPr marL="0" marR="0" marT="0" marB="0" anchor="b">
                    <a:lnL w="12700" cap="flat" cmpd="sng" algn="ctr">
                      <a:solidFill>
                        <a:srgbClr val="943634"/>
                      </a:solidFill>
                      <a:prstDash val="solid"/>
                      <a:round/>
                      <a:headEnd type="none" w="med" len="med"/>
                      <a:tailEnd type="none" w="med" len="med"/>
                    </a:lnL>
                    <a:lnR>
                      <a:noFill/>
                    </a:lnR>
                    <a:lnT>
                      <a:noFill/>
                    </a:lnT>
                    <a:lnB>
                      <a:noFill/>
                    </a:lnB>
                    <a:solidFill>
                      <a:srgbClr val="943634"/>
                    </a:solidFill>
                  </a:tcPr>
                </a:tc>
                <a:tc>
                  <a:txBody>
                    <a:bodyPr/>
                    <a:lstStyle/>
                    <a:p>
                      <a:pPr marL="0" marR="0">
                        <a:lnSpc>
                          <a:spcPct val="115000"/>
                        </a:lnSpc>
                        <a:spcBef>
                          <a:spcPts val="0"/>
                        </a:spcBef>
                        <a:spcAft>
                          <a:spcPts val="0"/>
                        </a:spcAft>
                      </a:pPr>
                      <a:endParaRPr lang="en-US" sz="100" dirty="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18"/>
                  </a:ext>
                </a:extLst>
              </a:tr>
            </a:tbl>
          </a:graphicData>
        </a:graphic>
      </p:graphicFrame>
      <p:sp>
        <p:nvSpPr>
          <p:cNvPr id="6" name="Rectangle 5"/>
          <p:cNvSpPr/>
          <p:nvPr/>
        </p:nvSpPr>
        <p:spPr>
          <a:xfrm>
            <a:off x="1816099" y="0"/>
            <a:ext cx="6096001" cy="523220"/>
          </a:xfrm>
          <a:prstGeom prst="rect">
            <a:avLst/>
          </a:prstGeom>
        </p:spPr>
        <p:txBody>
          <a:bodyPr wrap="square">
            <a:spAutoFit/>
          </a:bodyPr>
          <a:lstStyle/>
          <a:p>
            <a:pPr algn="ctr"/>
            <a:r>
              <a:rPr lang="en-US" sz="2800" b="1" dirty="0" smtClean="0">
                <a:latin typeface="Times New Roman" panose="02020603050405020304" pitchFamily="18" charset="0"/>
                <a:cs typeface="Times New Roman" panose="02020603050405020304" pitchFamily="18" charset="0"/>
              </a:rPr>
              <a:t>PLL (Phased Lock Loop): Cont…</a:t>
            </a:r>
            <a:endParaRPr lang="en-US" sz="2800" dirty="0">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altLang="en-US" b="1" dirty="0"/>
              <a:t>Dr. S. S. </a:t>
            </a:r>
            <a:r>
              <a:rPr lang="en-US" altLang="en-US" b="1" dirty="0" err="1"/>
              <a:t>Lavhate</a:t>
            </a:r>
            <a:endParaRPr lang="en-US" altLang="en-US" b="1"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220868" y="555624"/>
            <a:ext cx="8915400" cy="2209801"/>
          </a:xfrm>
          <a:solidFill>
            <a:schemeClr val="bg1"/>
          </a:solidFill>
        </p:spPr>
        <p:txBody>
          <a:bodyPr>
            <a:normAutofit fontScale="92500" lnSpcReduction="10000"/>
          </a:bodyPr>
          <a:lstStyle/>
          <a:p>
            <a:pPr lvl="0" hangingPunct="0"/>
            <a:r>
              <a:rPr lang="en-US" sz="2100" dirty="0" smtClean="0">
                <a:latin typeface="Times New Roman" panose="02020603050405020304" pitchFamily="18" charset="0"/>
                <a:cs typeface="Times New Roman" panose="02020603050405020304" pitchFamily="18" charset="0"/>
              </a:rPr>
              <a:t>PLL activation is controlled via the PLLCON register. </a:t>
            </a:r>
          </a:p>
          <a:p>
            <a:pPr lvl="0" hangingPunct="0"/>
            <a:r>
              <a:rPr lang="en-US" sz="2100" dirty="0" smtClean="0">
                <a:latin typeface="Times New Roman" panose="02020603050405020304" pitchFamily="18" charset="0"/>
                <a:cs typeface="Times New Roman" panose="02020603050405020304" pitchFamily="18" charset="0"/>
              </a:rPr>
              <a:t>The PLL multiplier and divider values are controlled by the PLLCFG register. </a:t>
            </a:r>
          </a:p>
          <a:p>
            <a:pPr lvl="0" hangingPunct="0"/>
            <a:r>
              <a:rPr lang="en-US" sz="2100" dirty="0" smtClean="0">
                <a:latin typeface="Times New Roman" panose="02020603050405020304" pitchFamily="18" charset="0"/>
                <a:cs typeface="Times New Roman" panose="02020603050405020304" pitchFamily="18" charset="0"/>
              </a:rPr>
              <a:t>These two registers are protected in order to prevent accidental alteration of PLL parameters or deactivation of the PLL. </a:t>
            </a:r>
          </a:p>
          <a:p>
            <a:r>
              <a:rPr lang="en-US" sz="2100" dirty="0" smtClean="0">
                <a:latin typeface="Times New Roman" panose="02020603050405020304" pitchFamily="18" charset="0"/>
                <a:cs typeface="Times New Roman" panose="02020603050405020304" pitchFamily="18" charset="0"/>
              </a:rPr>
              <a:t>Since all chip operations, including the Watchdog Timer, are dependent on the PLL0 when it is providing the chip clock, The same concern is present with the PLL1 and the USB</a:t>
            </a:r>
            <a:endParaRPr lang="en-US" sz="2100"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2" cstate="print"/>
          <a:srcRect/>
          <a:stretch>
            <a:fillRect/>
          </a:stretch>
        </p:blipFill>
        <p:spPr bwMode="auto">
          <a:xfrm>
            <a:off x="868568" y="2666999"/>
            <a:ext cx="7620000" cy="4191001"/>
          </a:xfrm>
          <a:prstGeom prst="rect">
            <a:avLst/>
          </a:prstGeom>
          <a:noFill/>
        </p:spPr>
      </p:pic>
      <p:sp>
        <p:nvSpPr>
          <p:cNvPr id="2" name="Rectangle 1"/>
          <p:cNvSpPr/>
          <p:nvPr/>
        </p:nvSpPr>
        <p:spPr>
          <a:xfrm>
            <a:off x="3124200" y="0"/>
            <a:ext cx="3108736" cy="646331"/>
          </a:xfrm>
          <a:prstGeom prst="rect">
            <a:avLst/>
          </a:prstGeom>
        </p:spPr>
        <p:txBody>
          <a:bodyPr wrap="none">
            <a:spAutoFit/>
          </a:bodyPr>
          <a:lstStyle/>
          <a:p>
            <a:r>
              <a:rPr lang="en-US" sz="3600" b="1" dirty="0">
                <a:latin typeface="Times New Roman" panose="02020603050405020304" pitchFamily="18" charset="0"/>
                <a:cs typeface="Times New Roman" panose="02020603050405020304" pitchFamily="18" charset="0"/>
              </a:rPr>
              <a:t>PLL Registers </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880960547"/>
              </p:ext>
            </p:extLst>
          </p:nvPr>
        </p:nvGraphicFramePr>
        <p:xfrm>
          <a:off x="152401" y="3797825"/>
          <a:ext cx="3742743" cy="2666283"/>
        </p:xfrm>
        <a:graphic>
          <a:graphicData uri="http://schemas.openxmlformats.org/drawingml/2006/table">
            <a:tbl>
              <a:tblPr/>
              <a:tblGrid>
                <a:gridCol w="25400">
                  <a:extLst>
                    <a:ext uri="{9D8B030D-6E8A-4147-A177-3AD203B41FA5}">
                      <a16:colId xmlns="" xmlns:a16="http://schemas.microsoft.com/office/drawing/2014/main" val="20000"/>
                    </a:ext>
                  </a:extLst>
                </a:gridCol>
                <a:gridCol w="46685">
                  <a:extLst>
                    <a:ext uri="{9D8B030D-6E8A-4147-A177-3AD203B41FA5}">
                      <a16:colId xmlns="" xmlns:a16="http://schemas.microsoft.com/office/drawing/2014/main" val="20001"/>
                    </a:ext>
                  </a:extLst>
                </a:gridCol>
                <a:gridCol w="1456570">
                  <a:extLst>
                    <a:ext uri="{9D8B030D-6E8A-4147-A177-3AD203B41FA5}">
                      <a16:colId xmlns="" xmlns:a16="http://schemas.microsoft.com/office/drawing/2014/main" val="20002"/>
                    </a:ext>
                  </a:extLst>
                </a:gridCol>
                <a:gridCol w="65359">
                  <a:extLst>
                    <a:ext uri="{9D8B030D-6E8A-4147-A177-3AD203B41FA5}">
                      <a16:colId xmlns="" xmlns:a16="http://schemas.microsoft.com/office/drawing/2014/main" val="20003"/>
                    </a:ext>
                  </a:extLst>
                </a:gridCol>
                <a:gridCol w="270772">
                  <a:extLst>
                    <a:ext uri="{9D8B030D-6E8A-4147-A177-3AD203B41FA5}">
                      <a16:colId xmlns="" xmlns:a16="http://schemas.microsoft.com/office/drawing/2014/main" val="20004"/>
                    </a:ext>
                  </a:extLst>
                </a:gridCol>
                <a:gridCol w="84933">
                  <a:extLst>
                    <a:ext uri="{9D8B030D-6E8A-4147-A177-3AD203B41FA5}">
                      <a16:colId xmlns="" xmlns:a16="http://schemas.microsoft.com/office/drawing/2014/main" val="20005"/>
                    </a:ext>
                  </a:extLst>
                </a:gridCol>
                <a:gridCol w="25400">
                  <a:extLst>
                    <a:ext uri="{9D8B030D-6E8A-4147-A177-3AD203B41FA5}">
                      <a16:colId xmlns="" xmlns:a16="http://schemas.microsoft.com/office/drawing/2014/main" val="20006"/>
                    </a:ext>
                  </a:extLst>
                </a:gridCol>
                <a:gridCol w="1671322">
                  <a:extLst>
                    <a:ext uri="{9D8B030D-6E8A-4147-A177-3AD203B41FA5}">
                      <a16:colId xmlns="" xmlns:a16="http://schemas.microsoft.com/office/drawing/2014/main" val="20007"/>
                    </a:ext>
                  </a:extLst>
                </a:gridCol>
                <a:gridCol w="32972">
                  <a:extLst>
                    <a:ext uri="{9D8B030D-6E8A-4147-A177-3AD203B41FA5}">
                      <a16:colId xmlns="" xmlns:a16="http://schemas.microsoft.com/office/drawing/2014/main" val="20008"/>
                    </a:ext>
                  </a:extLst>
                </a:gridCol>
                <a:gridCol w="37930">
                  <a:extLst>
                    <a:ext uri="{9D8B030D-6E8A-4147-A177-3AD203B41FA5}">
                      <a16:colId xmlns="" xmlns:a16="http://schemas.microsoft.com/office/drawing/2014/main" val="20009"/>
                    </a:ext>
                  </a:extLst>
                </a:gridCol>
                <a:gridCol w="25400">
                  <a:extLst>
                    <a:ext uri="{9D8B030D-6E8A-4147-A177-3AD203B41FA5}">
                      <a16:colId xmlns="" xmlns:a16="http://schemas.microsoft.com/office/drawing/2014/main" val="20010"/>
                    </a:ext>
                  </a:extLst>
                </a:gridCol>
              </a:tblGrid>
              <a:tr h="141756">
                <a:tc>
                  <a:txBody>
                    <a:bodyPr/>
                    <a:lstStyle/>
                    <a:p>
                      <a:pPr marL="0" marR="0">
                        <a:lnSpc>
                          <a:spcPct val="115000"/>
                        </a:lnSpc>
                        <a:spcBef>
                          <a:spcPts val="0"/>
                        </a:spcBef>
                        <a:spcAft>
                          <a:spcPts val="0"/>
                        </a:spcAft>
                      </a:pPr>
                      <a:endParaRPr lang="en-US" sz="900" dirty="0">
                        <a:latin typeface="Times New Roman"/>
                        <a:ea typeface="Times New Roman"/>
                        <a:cs typeface="Times New Roman"/>
                      </a:endParaRPr>
                    </a:p>
                  </a:txBody>
                  <a:tcPr marL="0" marR="0" marT="0" marB="0" anchor="b">
                    <a:lnL>
                      <a:noFill/>
                    </a:lnL>
                    <a:lnR w="12700" cap="flat" cmpd="sng" algn="ctr">
                      <a:solidFill>
                        <a:srgbClr val="4F81BD"/>
                      </a:solidFill>
                      <a:prstDash val="solid"/>
                      <a:round/>
                      <a:headEnd type="none" w="med" len="med"/>
                      <a:tailEnd type="none" w="med" len="med"/>
                    </a:lnR>
                    <a:lnT>
                      <a:noFill/>
                    </a:lnT>
                    <a:lnB>
                      <a:noFill/>
                    </a:lnB>
                    <a:solidFill>
                      <a:srgbClr val="7BA0CD"/>
                    </a:solidFill>
                  </a:tcPr>
                </a:tc>
                <a:tc>
                  <a:txBody>
                    <a:bodyPr/>
                    <a:lstStyle/>
                    <a:p>
                      <a:pPr marL="0" marR="0">
                        <a:lnSpc>
                          <a:spcPct val="115000"/>
                        </a:lnSpc>
                        <a:spcBef>
                          <a:spcPts val="0"/>
                        </a:spcBef>
                        <a:spcAft>
                          <a:spcPts val="0"/>
                        </a:spcAft>
                      </a:pPr>
                      <a:endParaRPr lang="en-US" sz="900">
                        <a:latin typeface="Times New Roman"/>
                        <a:ea typeface="Times New Roman"/>
                        <a:cs typeface="Times New Roman"/>
                      </a:endParaRPr>
                    </a:p>
                  </a:txBody>
                  <a:tcPr marL="0" marR="0" marT="0" marB="0" anchor="b">
                    <a:lnL w="12700" cap="flat" cmpd="sng" algn="ctr">
                      <a:solidFill>
                        <a:srgbClr val="4F81BD"/>
                      </a:solidFill>
                      <a:prstDash val="solid"/>
                      <a:round/>
                      <a:headEnd type="none" w="med" len="med"/>
                      <a:tailEnd type="none" w="med" len="med"/>
                    </a:lnL>
                    <a:lnR>
                      <a:noFill/>
                    </a:lnR>
                    <a:lnT>
                      <a:noFill/>
                    </a:lnT>
                    <a:lnB>
                      <a:noFill/>
                    </a:lnB>
                    <a:solidFill>
                      <a:srgbClr val="4F81BD"/>
                    </a:solidFill>
                  </a:tcPr>
                </a:tc>
                <a:tc rowSpan="2" gridSpan="2">
                  <a:txBody>
                    <a:bodyPr/>
                    <a:lstStyle/>
                    <a:p>
                      <a:pPr marL="0" marR="0">
                        <a:lnSpc>
                          <a:spcPct val="115000"/>
                        </a:lnSpc>
                        <a:spcBef>
                          <a:spcPts val="0"/>
                        </a:spcBef>
                        <a:spcAft>
                          <a:spcPts val="0"/>
                        </a:spcAft>
                      </a:pPr>
                      <a:r>
                        <a:rPr lang="en-US" sz="1800" b="1" kern="1200" dirty="0" smtClean="0">
                          <a:solidFill>
                            <a:schemeClr val="bg1"/>
                          </a:solidFill>
                          <a:latin typeface="+mn-lt"/>
                          <a:ea typeface="+mn-ea"/>
                          <a:cs typeface="+mn-cs"/>
                        </a:rPr>
                        <a:t>PSEL Bits (PLLCFG bits</a:t>
                      </a:r>
                      <a:endParaRPr lang="en-US" sz="900" dirty="0">
                        <a:solidFill>
                          <a:schemeClr val="bg1"/>
                        </a:solidFill>
                        <a:latin typeface="Times New Roman"/>
                        <a:ea typeface="Times New Roman"/>
                        <a:cs typeface="Times New Roman"/>
                      </a:endParaRPr>
                    </a:p>
                  </a:txBody>
                  <a:tcPr marL="0" marR="0" marT="0" marB="0" anchor="b">
                    <a:lnL>
                      <a:noFill/>
                    </a:lnL>
                    <a:lnR>
                      <a:noFill/>
                    </a:lnR>
                    <a:lnT>
                      <a:noFill/>
                    </a:lnT>
                    <a:lnB>
                      <a:noFill/>
                    </a:lnB>
                    <a:solidFill>
                      <a:srgbClr val="4F81BD"/>
                    </a:solidFill>
                  </a:tcPr>
                </a:tc>
                <a:tc rowSpan="2" hMerge="1">
                  <a:txBody>
                    <a:bodyPr/>
                    <a:lstStyle/>
                    <a:p>
                      <a:endParaRPr lang="en-US"/>
                    </a:p>
                  </a:txBody>
                  <a:tcPr/>
                </a:tc>
                <a:tc>
                  <a:txBody>
                    <a:bodyPr/>
                    <a:lstStyle/>
                    <a:p>
                      <a:pPr marL="0" marR="0">
                        <a:lnSpc>
                          <a:spcPct val="115000"/>
                        </a:lnSpc>
                        <a:spcBef>
                          <a:spcPts val="0"/>
                        </a:spcBef>
                        <a:spcAft>
                          <a:spcPts val="0"/>
                        </a:spcAft>
                      </a:pPr>
                      <a:endParaRPr lang="en-US" sz="900">
                        <a:latin typeface="Times New Roman"/>
                        <a:ea typeface="Times New Roman"/>
                        <a:cs typeface="Times New Roman"/>
                      </a:endParaRPr>
                    </a:p>
                  </a:txBody>
                  <a:tcPr marL="0" marR="0" marT="0" marB="0" anchor="b">
                    <a:lnL>
                      <a:noFill/>
                    </a:lnL>
                    <a:lnR w="12700" cap="flat" cmpd="sng" algn="ctr">
                      <a:solidFill>
                        <a:srgbClr val="4F81BD"/>
                      </a:solidFill>
                      <a:prstDash val="solid"/>
                      <a:round/>
                      <a:headEnd type="none" w="med" len="med"/>
                      <a:tailEnd type="none" w="med" len="med"/>
                    </a:lnR>
                    <a:lnT>
                      <a:noFill/>
                    </a:lnT>
                    <a:lnB>
                      <a:noFill/>
                    </a:lnB>
                    <a:solidFill>
                      <a:srgbClr val="4F81BD"/>
                    </a:solidFill>
                  </a:tcPr>
                </a:tc>
                <a:tc>
                  <a:txBody>
                    <a:bodyPr/>
                    <a:lstStyle/>
                    <a:p>
                      <a:pPr marL="0" marR="0">
                        <a:lnSpc>
                          <a:spcPct val="115000"/>
                        </a:lnSpc>
                        <a:spcBef>
                          <a:spcPts val="0"/>
                        </a:spcBef>
                        <a:spcAft>
                          <a:spcPts val="0"/>
                        </a:spcAft>
                      </a:pPr>
                      <a:endParaRPr lang="en-US" sz="900">
                        <a:latin typeface="Times New Roman"/>
                        <a:ea typeface="Times New Roman"/>
                        <a:cs typeface="Times New Roman"/>
                      </a:endParaRP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a:noFill/>
                    </a:lnT>
                    <a:lnB>
                      <a:noFill/>
                    </a:lnB>
                    <a:solidFill>
                      <a:srgbClr val="4F81BD"/>
                    </a:solidFill>
                  </a:tcPr>
                </a:tc>
                <a:tc>
                  <a:txBody>
                    <a:bodyPr/>
                    <a:lstStyle/>
                    <a:p>
                      <a:pPr marL="0" marR="0">
                        <a:lnSpc>
                          <a:spcPct val="115000"/>
                        </a:lnSpc>
                        <a:spcBef>
                          <a:spcPts val="0"/>
                        </a:spcBef>
                        <a:spcAft>
                          <a:spcPts val="0"/>
                        </a:spcAft>
                      </a:pPr>
                      <a:endParaRPr lang="en-US" sz="900">
                        <a:latin typeface="Times New Roman"/>
                        <a:ea typeface="Times New Roman"/>
                        <a:cs typeface="Times New Roman"/>
                      </a:endParaRPr>
                    </a:p>
                  </a:txBody>
                  <a:tcPr marL="0" marR="0" marT="0" marB="0" anchor="b">
                    <a:lnL w="12700" cap="flat" cmpd="sng" algn="ctr">
                      <a:solidFill>
                        <a:srgbClr val="4F81BD"/>
                      </a:solidFill>
                      <a:prstDash val="solid"/>
                      <a:round/>
                      <a:headEnd type="none" w="med" len="med"/>
                      <a:tailEnd type="none" w="med" len="med"/>
                    </a:lnL>
                    <a:lnR>
                      <a:noFill/>
                    </a:lnR>
                    <a:lnT>
                      <a:noFill/>
                    </a:lnT>
                    <a:lnB>
                      <a:noFill/>
                    </a:lnB>
                    <a:solidFill>
                      <a:srgbClr val="4F81BD"/>
                    </a:solidFill>
                  </a:tcPr>
                </a:tc>
                <a:tc rowSpan="3">
                  <a:txBody>
                    <a:bodyPr/>
                    <a:lstStyle/>
                    <a:p>
                      <a:pPr marL="0" marR="0" algn="ctr">
                        <a:lnSpc>
                          <a:spcPct val="115000"/>
                        </a:lnSpc>
                        <a:spcBef>
                          <a:spcPts val="0"/>
                        </a:spcBef>
                        <a:spcAft>
                          <a:spcPts val="0"/>
                        </a:spcAft>
                      </a:pPr>
                      <a:r>
                        <a:rPr lang="en-US" sz="1800" b="1" kern="1200" dirty="0" smtClean="0">
                          <a:solidFill>
                            <a:schemeClr val="bg1"/>
                          </a:solidFill>
                          <a:latin typeface="+mn-lt"/>
                          <a:ea typeface="+mn-ea"/>
                          <a:cs typeface="+mn-cs"/>
                        </a:rPr>
                        <a:t>Value of P</a:t>
                      </a:r>
                      <a:endParaRPr lang="en-US" sz="900" dirty="0">
                        <a:solidFill>
                          <a:schemeClr val="bg1"/>
                        </a:solidFill>
                        <a:latin typeface="Times New Roman"/>
                        <a:ea typeface="Times New Roman"/>
                        <a:cs typeface="Times New Roman"/>
                      </a:endParaRPr>
                    </a:p>
                  </a:txBody>
                  <a:tcPr marL="0" marR="0" marT="0" marB="0" anchor="b">
                    <a:lnL>
                      <a:noFill/>
                    </a:lnL>
                    <a:lnR>
                      <a:noFill/>
                    </a:lnR>
                    <a:lnT>
                      <a:noFill/>
                    </a:lnT>
                    <a:lnB>
                      <a:noFill/>
                    </a:lnB>
                    <a:solidFill>
                      <a:srgbClr val="4F81BD"/>
                    </a:solidFill>
                  </a:tcPr>
                </a:tc>
                <a:tc>
                  <a:txBody>
                    <a:bodyPr/>
                    <a:lstStyle/>
                    <a:p>
                      <a:pPr marL="0" marR="0">
                        <a:lnSpc>
                          <a:spcPct val="115000"/>
                        </a:lnSpc>
                        <a:spcBef>
                          <a:spcPts val="0"/>
                        </a:spcBef>
                        <a:spcAft>
                          <a:spcPts val="0"/>
                        </a:spcAft>
                      </a:pPr>
                      <a:endParaRPr lang="en-US" sz="900">
                        <a:latin typeface="Times New Roman"/>
                        <a:ea typeface="Times New Roman"/>
                        <a:cs typeface="Times New Roman"/>
                      </a:endParaRPr>
                    </a:p>
                  </a:txBody>
                  <a:tcPr marL="0" marR="0" marT="0" marB="0" anchor="b">
                    <a:lnL>
                      <a:noFill/>
                    </a:lnL>
                    <a:lnR w="12700" cap="flat" cmpd="sng" algn="ctr">
                      <a:solidFill>
                        <a:srgbClr val="7BA0CD"/>
                      </a:solidFill>
                      <a:prstDash val="solid"/>
                      <a:round/>
                      <a:headEnd type="none" w="med" len="med"/>
                      <a:tailEnd type="none" w="med" len="med"/>
                    </a:lnR>
                    <a:lnT>
                      <a:noFill/>
                    </a:lnT>
                    <a:lnB>
                      <a:noFill/>
                    </a:lnB>
                    <a:solidFill>
                      <a:srgbClr val="4F81BD"/>
                    </a:solidFill>
                  </a:tcPr>
                </a:tc>
                <a:tc>
                  <a:txBody>
                    <a:bodyPr/>
                    <a:lstStyle/>
                    <a:p>
                      <a:pPr marL="0" marR="0">
                        <a:lnSpc>
                          <a:spcPct val="115000"/>
                        </a:lnSpc>
                        <a:spcBef>
                          <a:spcPts val="0"/>
                        </a:spcBef>
                        <a:spcAft>
                          <a:spcPts val="0"/>
                        </a:spcAft>
                      </a:pPr>
                      <a:endParaRPr lang="en-US" sz="900">
                        <a:latin typeface="Times New Roman"/>
                        <a:ea typeface="Times New Roman"/>
                        <a:cs typeface="Times New Roman"/>
                      </a:endParaRPr>
                    </a:p>
                  </a:txBody>
                  <a:tcPr marL="0" marR="0" marT="0" marB="0" anchor="b">
                    <a:lnL w="12700" cap="flat" cmpd="sng" algn="ctr">
                      <a:solidFill>
                        <a:srgbClr val="7BA0CD"/>
                      </a:solidFill>
                      <a:prstDash val="solid"/>
                      <a:round/>
                      <a:headEnd type="none" w="med" len="med"/>
                      <a:tailEnd type="none" w="med" len="med"/>
                    </a:lnL>
                    <a:lnR>
                      <a:noFill/>
                    </a:lnR>
                    <a:lnT>
                      <a:noFill/>
                    </a:lnT>
                    <a:lnB>
                      <a:noFill/>
                    </a:lnB>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00"/>
                  </a:ext>
                </a:extLst>
              </a:tr>
              <a:tr h="380053">
                <a:tc>
                  <a:txBody>
                    <a:bodyPr/>
                    <a:lstStyle/>
                    <a:p>
                      <a:pPr marL="0" marR="0">
                        <a:lnSpc>
                          <a:spcPct val="115000"/>
                        </a:lnSpc>
                        <a:spcBef>
                          <a:spcPts val="0"/>
                        </a:spcBef>
                        <a:spcAft>
                          <a:spcPts val="0"/>
                        </a:spcAft>
                      </a:pPr>
                      <a:endParaRPr lang="en-US" sz="650">
                        <a:latin typeface="Times New Roman"/>
                        <a:ea typeface="Times New Roman"/>
                        <a:cs typeface="Times New Roman"/>
                      </a:endParaRPr>
                    </a:p>
                  </a:txBody>
                  <a:tcPr marL="0" marR="0" marT="0" marB="0" anchor="b">
                    <a:lnL>
                      <a:noFill/>
                    </a:lnL>
                    <a:lnR w="12700" cap="flat" cmpd="sng" algn="ctr">
                      <a:solidFill>
                        <a:srgbClr val="4F81BD"/>
                      </a:solidFill>
                      <a:prstDash val="solid"/>
                      <a:round/>
                      <a:headEnd type="none" w="med" len="med"/>
                      <a:tailEnd type="none" w="med" len="med"/>
                    </a:lnR>
                    <a:lnT>
                      <a:noFill/>
                    </a:lnT>
                    <a:lnB>
                      <a:noFill/>
                    </a:lnB>
                    <a:solidFill>
                      <a:srgbClr val="7BA0CD"/>
                    </a:solidFill>
                  </a:tcPr>
                </a:tc>
                <a:tc>
                  <a:txBody>
                    <a:bodyPr/>
                    <a:lstStyle/>
                    <a:p>
                      <a:pPr marL="0" marR="0">
                        <a:lnSpc>
                          <a:spcPct val="115000"/>
                        </a:lnSpc>
                        <a:spcBef>
                          <a:spcPts val="0"/>
                        </a:spcBef>
                        <a:spcAft>
                          <a:spcPts val="0"/>
                        </a:spcAft>
                      </a:pPr>
                      <a:endParaRPr lang="en-US" sz="650">
                        <a:latin typeface="Times New Roman"/>
                        <a:ea typeface="Times New Roman"/>
                        <a:cs typeface="Times New Roman"/>
                      </a:endParaRPr>
                    </a:p>
                  </a:txBody>
                  <a:tcPr marL="0" marR="0" marT="0" marB="0" anchor="b">
                    <a:lnL w="12700" cap="flat" cmpd="sng" algn="ctr">
                      <a:solidFill>
                        <a:srgbClr val="4F81BD"/>
                      </a:solidFill>
                      <a:prstDash val="solid"/>
                      <a:round/>
                      <a:headEnd type="none" w="med" len="med"/>
                      <a:tailEnd type="none" w="med" len="med"/>
                    </a:lnL>
                    <a:lnR>
                      <a:noFill/>
                    </a:lnR>
                    <a:lnT>
                      <a:noFill/>
                    </a:lnT>
                    <a:lnB>
                      <a:noFill/>
                    </a:lnB>
                    <a:solidFill>
                      <a:srgbClr val="4F81BD"/>
                    </a:solidFill>
                  </a:tcPr>
                </a:tc>
                <a:tc gridSpan="2" vMerge="1">
                  <a:txBody>
                    <a:bodyPr/>
                    <a:lstStyle/>
                    <a:p>
                      <a:endParaRPr lang="en-US"/>
                    </a:p>
                  </a:txBody>
                  <a:tcPr/>
                </a:tc>
                <a:tc hMerge="1" vMerge="1">
                  <a:txBody>
                    <a:bodyPr/>
                    <a:lstStyle/>
                    <a:p>
                      <a:endParaRPr lang="en-US"/>
                    </a:p>
                  </a:txBody>
                  <a:tcPr/>
                </a:tc>
                <a:tc>
                  <a:txBody>
                    <a:bodyPr/>
                    <a:lstStyle/>
                    <a:p>
                      <a:pPr marL="0" marR="0">
                        <a:lnSpc>
                          <a:spcPct val="115000"/>
                        </a:lnSpc>
                        <a:spcBef>
                          <a:spcPts val="0"/>
                        </a:spcBef>
                        <a:spcAft>
                          <a:spcPts val="0"/>
                        </a:spcAft>
                      </a:pPr>
                      <a:endParaRPr lang="en-US" sz="650">
                        <a:latin typeface="Times New Roman"/>
                        <a:ea typeface="Times New Roman"/>
                        <a:cs typeface="Times New Roman"/>
                      </a:endParaRPr>
                    </a:p>
                  </a:txBody>
                  <a:tcPr marL="0" marR="0" marT="0" marB="0" anchor="b">
                    <a:lnL>
                      <a:noFill/>
                    </a:lnL>
                    <a:lnR w="12700" cap="flat" cmpd="sng" algn="ctr">
                      <a:solidFill>
                        <a:srgbClr val="4F81BD"/>
                      </a:solidFill>
                      <a:prstDash val="solid"/>
                      <a:round/>
                      <a:headEnd type="none" w="med" len="med"/>
                      <a:tailEnd type="none" w="med" len="med"/>
                    </a:lnR>
                    <a:lnT>
                      <a:noFill/>
                    </a:lnT>
                    <a:lnB>
                      <a:noFill/>
                    </a:lnB>
                    <a:solidFill>
                      <a:srgbClr val="4F81BD"/>
                    </a:solidFill>
                  </a:tcPr>
                </a:tc>
                <a:tc>
                  <a:txBody>
                    <a:bodyPr/>
                    <a:lstStyle/>
                    <a:p>
                      <a:pPr marL="0" marR="0">
                        <a:lnSpc>
                          <a:spcPct val="115000"/>
                        </a:lnSpc>
                        <a:spcBef>
                          <a:spcPts val="0"/>
                        </a:spcBef>
                        <a:spcAft>
                          <a:spcPts val="0"/>
                        </a:spcAft>
                      </a:pPr>
                      <a:endParaRPr lang="en-US" sz="650">
                        <a:latin typeface="Times New Roman"/>
                        <a:ea typeface="Times New Roman"/>
                        <a:cs typeface="Times New Roman"/>
                      </a:endParaRP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a:noFill/>
                    </a:lnT>
                    <a:lnB>
                      <a:noFill/>
                    </a:lnB>
                    <a:solidFill>
                      <a:srgbClr val="4F81BD"/>
                    </a:solidFill>
                  </a:tcPr>
                </a:tc>
                <a:tc>
                  <a:txBody>
                    <a:bodyPr/>
                    <a:lstStyle/>
                    <a:p>
                      <a:pPr marL="0" marR="0">
                        <a:lnSpc>
                          <a:spcPct val="115000"/>
                        </a:lnSpc>
                        <a:spcBef>
                          <a:spcPts val="0"/>
                        </a:spcBef>
                        <a:spcAft>
                          <a:spcPts val="0"/>
                        </a:spcAft>
                      </a:pPr>
                      <a:endParaRPr lang="en-US" sz="650">
                        <a:latin typeface="Times New Roman"/>
                        <a:ea typeface="Times New Roman"/>
                        <a:cs typeface="Times New Roman"/>
                      </a:endParaRPr>
                    </a:p>
                  </a:txBody>
                  <a:tcPr marL="0" marR="0" marT="0" marB="0" anchor="b">
                    <a:lnL w="12700" cap="flat" cmpd="sng" algn="ctr">
                      <a:solidFill>
                        <a:srgbClr val="4F81BD"/>
                      </a:solidFill>
                      <a:prstDash val="solid"/>
                      <a:round/>
                      <a:headEnd type="none" w="med" len="med"/>
                      <a:tailEnd type="none" w="med" len="med"/>
                    </a:lnL>
                    <a:lnR>
                      <a:noFill/>
                    </a:lnR>
                    <a:lnT>
                      <a:noFill/>
                    </a:lnT>
                    <a:lnB>
                      <a:noFill/>
                    </a:lnB>
                    <a:solidFill>
                      <a:srgbClr val="4F81BD"/>
                    </a:solidFill>
                  </a:tcPr>
                </a:tc>
                <a:tc vMerge="1">
                  <a:txBody>
                    <a:bodyPr/>
                    <a:lstStyle/>
                    <a:p>
                      <a:endParaRPr lang="en-US"/>
                    </a:p>
                  </a:txBody>
                  <a:tcPr/>
                </a:tc>
                <a:tc>
                  <a:txBody>
                    <a:bodyPr/>
                    <a:lstStyle/>
                    <a:p>
                      <a:pPr marL="0" marR="0">
                        <a:lnSpc>
                          <a:spcPct val="115000"/>
                        </a:lnSpc>
                        <a:spcBef>
                          <a:spcPts val="0"/>
                        </a:spcBef>
                        <a:spcAft>
                          <a:spcPts val="0"/>
                        </a:spcAft>
                      </a:pPr>
                      <a:endParaRPr lang="en-US" sz="650">
                        <a:latin typeface="Times New Roman"/>
                        <a:ea typeface="Times New Roman"/>
                        <a:cs typeface="Times New Roman"/>
                      </a:endParaRPr>
                    </a:p>
                  </a:txBody>
                  <a:tcPr marL="0" marR="0" marT="0" marB="0" anchor="b">
                    <a:lnL>
                      <a:noFill/>
                    </a:lnL>
                    <a:lnR w="12700" cap="flat" cmpd="sng" algn="ctr">
                      <a:solidFill>
                        <a:srgbClr val="7BA0CD"/>
                      </a:solidFill>
                      <a:prstDash val="solid"/>
                      <a:round/>
                      <a:headEnd type="none" w="med" len="med"/>
                      <a:tailEnd type="none" w="med" len="med"/>
                    </a:lnR>
                    <a:lnT>
                      <a:noFill/>
                    </a:lnT>
                    <a:lnB>
                      <a:noFill/>
                    </a:lnB>
                    <a:solidFill>
                      <a:srgbClr val="4F81BD"/>
                    </a:solidFill>
                  </a:tcPr>
                </a:tc>
                <a:tc>
                  <a:txBody>
                    <a:bodyPr/>
                    <a:lstStyle/>
                    <a:p>
                      <a:pPr marL="0" marR="0">
                        <a:lnSpc>
                          <a:spcPct val="115000"/>
                        </a:lnSpc>
                        <a:spcBef>
                          <a:spcPts val="0"/>
                        </a:spcBef>
                        <a:spcAft>
                          <a:spcPts val="0"/>
                        </a:spcAft>
                      </a:pPr>
                      <a:endParaRPr lang="en-US" sz="650">
                        <a:latin typeface="Times New Roman"/>
                        <a:ea typeface="Times New Roman"/>
                        <a:cs typeface="Times New Roman"/>
                      </a:endParaRPr>
                    </a:p>
                  </a:txBody>
                  <a:tcPr marL="0" marR="0" marT="0" marB="0" anchor="b">
                    <a:lnL w="12700" cap="flat" cmpd="sng" algn="ctr">
                      <a:solidFill>
                        <a:srgbClr val="7BA0CD"/>
                      </a:solidFill>
                      <a:prstDash val="solid"/>
                      <a:round/>
                      <a:headEnd type="none" w="med" len="med"/>
                      <a:tailEnd type="none" w="med" len="med"/>
                    </a:lnL>
                    <a:lnR>
                      <a:noFill/>
                    </a:lnR>
                    <a:lnT>
                      <a:noFill/>
                    </a:lnT>
                    <a:lnB>
                      <a:noFill/>
                    </a:lnB>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01"/>
                  </a:ext>
                </a:extLst>
              </a:tr>
              <a:tr h="110255">
                <a:tc>
                  <a:txBody>
                    <a:bodyPr/>
                    <a:lstStyle/>
                    <a:p>
                      <a:pPr marL="0" marR="0">
                        <a:lnSpc>
                          <a:spcPct val="115000"/>
                        </a:lnSpc>
                        <a:spcBef>
                          <a:spcPts val="0"/>
                        </a:spcBef>
                        <a:spcAft>
                          <a:spcPts val="0"/>
                        </a:spcAft>
                      </a:pPr>
                      <a:endParaRPr lang="en-US" sz="700">
                        <a:latin typeface="Times New Roman"/>
                        <a:ea typeface="Times New Roman"/>
                        <a:cs typeface="Times New Roman"/>
                      </a:endParaRPr>
                    </a:p>
                  </a:txBody>
                  <a:tcPr marL="0" marR="0" marT="0" marB="0" anchor="b">
                    <a:lnL>
                      <a:noFill/>
                    </a:lnL>
                    <a:lnR w="12700" cap="flat" cmpd="sng" algn="ctr">
                      <a:solidFill>
                        <a:srgbClr val="4F81BD"/>
                      </a:solidFill>
                      <a:prstDash val="solid"/>
                      <a:round/>
                      <a:headEnd type="none" w="med" len="med"/>
                      <a:tailEnd type="none" w="med" len="med"/>
                    </a:lnR>
                    <a:lnT>
                      <a:noFill/>
                    </a:lnT>
                    <a:lnB>
                      <a:noFill/>
                    </a:lnB>
                    <a:solidFill>
                      <a:srgbClr val="7BA0CD"/>
                    </a:solidFill>
                  </a:tcPr>
                </a:tc>
                <a:tc>
                  <a:txBody>
                    <a:bodyPr/>
                    <a:lstStyle/>
                    <a:p>
                      <a:pPr marL="0" marR="0">
                        <a:lnSpc>
                          <a:spcPct val="115000"/>
                        </a:lnSpc>
                        <a:spcBef>
                          <a:spcPts val="0"/>
                        </a:spcBef>
                        <a:spcAft>
                          <a:spcPts val="0"/>
                        </a:spcAft>
                      </a:pPr>
                      <a:endParaRPr lang="en-US" sz="700">
                        <a:latin typeface="Times New Roman"/>
                        <a:ea typeface="Times New Roman"/>
                        <a:cs typeface="Times New Roman"/>
                      </a:endParaRPr>
                    </a:p>
                  </a:txBody>
                  <a:tcPr marL="0" marR="0" marT="0" marB="0" anchor="b">
                    <a:lnL w="12700" cap="flat" cmpd="sng" algn="ctr">
                      <a:solidFill>
                        <a:srgbClr val="4F81BD"/>
                      </a:solidFill>
                      <a:prstDash val="solid"/>
                      <a:round/>
                      <a:headEnd type="none" w="med" len="med"/>
                      <a:tailEnd type="none" w="med" len="med"/>
                    </a:lnL>
                    <a:lnR>
                      <a:noFill/>
                    </a:lnR>
                    <a:lnT>
                      <a:noFill/>
                    </a:lnT>
                    <a:lnB>
                      <a:noFill/>
                    </a:lnB>
                    <a:solidFill>
                      <a:srgbClr val="4F81BD"/>
                    </a:solidFill>
                  </a:tcPr>
                </a:tc>
                <a:tc rowSpan="2">
                  <a:txBody>
                    <a:bodyPr/>
                    <a:lstStyle/>
                    <a:p>
                      <a:pPr marL="0" marR="0" algn="ctr">
                        <a:lnSpc>
                          <a:spcPts val="1605"/>
                        </a:lnSpc>
                        <a:spcBef>
                          <a:spcPts val="0"/>
                        </a:spcBef>
                        <a:spcAft>
                          <a:spcPts val="0"/>
                        </a:spcAft>
                      </a:pPr>
                      <a:r>
                        <a:rPr lang="en-US" sz="1400" b="1" dirty="0">
                          <a:solidFill>
                            <a:srgbClr val="FFFFFF"/>
                          </a:solidFill>
                          <a:latin typeface="Times New Roman"/>
                          <a:ea typeface="Times New Roman"/>
                          <a:cs typeface="Times New Roman"/>
                        </a:rPr>
                        <a:t>[6:5])</a:t>
                      </a:r>
                      <a:endParaRPr lang="en-US" sz="1100" dirty="0">
                        <a:latin typeface="Calibri"/>
                        <a:ea typeface="Times New Roman"/>
                        <a:cs typeface="Times New Roman"/>
                      </a:endParaRPr>
                    </a:p>
                  </a:txBody>
                  <a:tcPr marL="0" marR="0" marT="0" marB="0" anchor="b">
                    <a:lnL>
                      <a:noFill/>
                    </a:lnL>
                    <a:lnR>
                      <a:noFill/>
                    </a:lnR>
                    <a:lnT>
                      <a:noFill/>
                    </a:lnT>
                    <a:lnB w="12700" cap="flat" cmpd="sng" algn="ctr">
                      <a:solidFill>
                        <a:srgbClr val="4F81BD"/>
                      </a:solidFill>
                      <a:prstDash val="solid"/>
                      <a:round/>
                      <a:headEnd type="none" w="med" len="med"/>
                      <a:tailEnd type="none" w="med" len="med"/>
                    </a:lnB>
                    <a:solidFill>
                      <a:srgbClr val="4F81BD"/>
                    </a:solidFill>
                  </a:tcPr>
                </a:tc>
                <a:tc>
                  <a:txBody>
                    <a:bodyPr/>
                    <a:lstStyle/>
                    <a:p>
                      <a:pPr marL="0" marR="0">
                        <a:lnSpc>
                          <a:spcPct val="115000"/>
                        </a:lnSpc>
                        <a:spcBef>
                          <a:spcPts val="0"/>
                        </a:spcBef>
                        <a:spcAft>
                          <a:spcPts val="0"/>
                        </a:spcAft>
                      </a:pPr>
                      <a:endParaRPr lang="en-US" sz="700" dirty="0">
                        <a:latin typeface="Times New Roman"/>
                        <a:ea typeface="Times New Roman"/>
                        <a:cs typeface="Times New Roman"/>
                      </a:endParaRPr>
                    </a:p>
                  </a:txBody>
                  <a:tcPr marL="0" marR="0" marT="0" marB="0" anchor="b">
                    <a:lnL>
                      <a:noFill/>
                    </a:lnL>
                    <a:lnR>
                      <a:noFill/>
                    </a:lnR>
                    <a:lnT>
                      <a:noFill/>
                    </a:lnT>
                    <a:lnB>
                      <a:noFill/>
                    </a:lnB>
                    <a:solidFill>
                      <a:srgbClr val="4F81BD"/>
                    </a:solidFill>
                  </a:tcPr>
                </a:tc>
                <a:tc>
                  <a:txBody>
                    <a:bodyPr/>
                    <a:lstStyle/>
                    <a:p>
                      <a:pPr marL="0" marR="0">
                        <a:lnSpc>
                          <a:spcPct val="115000"/>
                        </a:lnSpc>
                        <a:spcBef>
                          <a:spcPts val="0"/>
                        </a:spcBef>
                        <a:spcAft>
                          <a:spcPts val="0"/>
                        </a:spcAft>
                      </a:pPr>
                      <a:endParaRPr lang="en-US" sz="700">
                        <a:latin typeface="Times New Roman"/>
                        <a:ea typeface="Times New Roman"/>
                        <a:cs typeface="Times New Roman"/>
                      </a:endParaRPr>
                    </a:p>
                  </a:txBody>
                  <a:tcPr marL="0" marR="0" marT="0" marB="0" anchor="b">
                    <a:lnL>
                      <a:noFill/>
                    </a:lnL>
                    <a:lnR w="12700" cap="flat" cmpd="sng" algn="ctr">
                      <a:solidFill>
                        <a:srgbClr val="4F81BD"/>
                      </a:solidFill>
                      <a:prstDash val="solid"/>
                      <a:round/>
                      <a:headEnd type="none" w="med" len="med"/>
                      <a:tailEnd type="none" w="med" len="med"/>
                    </a:lnR>
                    <a:lnT>
                      <a:noFill/>
                    </a:lnT>
                    <a:lnB>
                      <a:noFill/>
                    </a:lnB>
                    <a:solidFill>
                      <a:srgbClr val="4F81BD"/>
                    </a:solidFill>
                  </a:tcPr>
                </a:tc>
                <a:tc>
                  <a:txBody>
                    <a:bodyPr/>
                    <a:lstStyle/>
                    <a:p>
                      <a:pPr marL="0" marR="0">
                        <a:lnSpc>
                          <a:spcPct val="115000"/>
                        </a:lnSpc>
                        <a:spcBef>
                          <a:spcPts val="0"/>
                        </a:spcBef>
                        <a:spcAft>
                          <a:spcPts val="0"/>
                        </a:spcAft>
                      </a:pPr>
                      <a:endParaRPr lang="en-US" sz="700">
                        <a:latin typeface="Times New Roman"/>
                        <a:ea typeface="Times New Roman"/>
                        <a:cs typeface="Times New Roman"/>
                      </a:endParaRP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a:noFill/>
                    </a:lnT>
                    <a:lnB>
                      <a:noFill/>
                    </a:lnB>
                    <a:solidFill>
                      <a:srgbClr val="4F81BD"/>
                    </a:solidFill>
                  </a:tcPr>
                </a:tc>
                <a:tc>
                  <a:txBody>
                    <a:bodyPr/>
                    <a:lstStyle/>
                    <a:p>
                      <a:pPr marL="0" marR="0">
                        <a:lnSpc>
                          <a:spcPct val="115000"/>
                        </a:lnSpc>
                        <a:spcBef>
                          <a:spcPts val="0"/>
                        </a:spcBef>
                        <a:spcAft>
                          <a:spcPts val="0"/>
                        </a:spcAft>
                      </a:pPr>
                      <a:endParaRPr lang="en-US" sz="700">
                        <a:latin typeface="Times New Roman"/>
                        <a:ea typeface="Times New Roman"/>
                        <a:cs typeface="Times New Roman"/>
                      </a:endParaRPr>
                    </a:p>
                  </a:txBody>
                  <a:tcPr marL="0" marR="0" marT="0" marB="0" anchor="b">
                    <a:lnL w="12700" cap="flat" cmpd="sng" algn="ctr">
                      <a:solidFill>
                        <a:srgbClr val="4F81BD"/>
                      </a:solidFill>
                      <a:prstDash val="solid"/>
                      <a:round/>
                      <a:headEnd type="none" w="med" len="med"/>
                      <a:tailEnd type="none" w="med" len="med"/>
                    </a:lnL>
                    <a:lnR>
                      <a:noFill/>
                    </a:lnR>
                    <a:lnT>
                      <a:noFill/>
                    </a:lnT>
                    <a:lnB>
                      <a:noFill/>
                    </a:lnB>
                    <a:solidFill>
                      <a:srgbClr val="4F81BD"/>
                    </a:solidFill>
                  </a:tcPr>
                </a:tc>
                <a:tc vMerge="1">
                  <a:txBody>
                    <a:bodyPr/>
                    <a:lstStyle/>
                    <a:p>
                      <a:endParaRPr lang="en-US"/>
                    </a:p>
                  </a:txBody>
                  <a:tcPr/>
                </a:tc>
                <a:tc>
                  <a:txBody>
                    <a:bodyPr/>
                    <a:lstStyle/>
                    <a:p>
                      <a:pPr marL="0" marR="0">
                        <a:lnSpc>
                          <a:spcPct val="115000"/>
                        </a:lnSpc>
                        <a:spcBef>
                          <a:spcPts val="0"/>
                        </a:spcBef>
                        <a:spcAft>
                          <a:spcPts val="0"/>
                        </a:spcAft>
                      </a:pPr>
                      <a:endParaRPr lang="en-US" sz="700">
                        <a:latin typeface="Times New Roman"/>
                        <a:ea typeface="Times New Roman"/>
                        <a:cs typeface="Times New Roman"/>
                      </a:endParaRPr>
                    </a:p>
                  </a:txBody>
                  <a:tcPr marL="0" marR="0" marT="0" marB="0" anchor="b">
                    <a:lnL>
                      <a:noFill/>
                    </a:lnL>
                    <a:lnR w="12700" cap="flat" cmpd="sng" algn="ctr">
                      <a:solidFill>
                        <a:srgbClr val="7BA0CD"/>
                      </a:solidFill>
                      <a:prstDash val="solid"/>
                      <a:round/>
                      <a:headEnd type="none" w="med" len="med"/>
                      <a:tailEnd type="none" w="med" len="med"/>
                    </a:lnR>
                    <a:lnT>
                      <a:noFill/>
                    </a:lnT>
                    <a:lnB>
                      <a:noFill/>
                    </a:lnB>
                    <a:solidFill>
                      <a:srgbClr val="4F81BD"/>
                    </a:solidFill>
                  </a:tcPr>
                </a:tc>
                <a:tc>
                  <a:txBody>
                    <a:bodyPr/>
                    <a:lstStyle/>
                    <a:p>
                      <a:pPr marL="0" marR="0">
                        <a:lnSpc>
                          <a:spcPct val="115000"/>
                        </a:lnSpc>
                        <a:spcBef>
                          <a:spcPts val="0"/>
                        </a:spcBef>
                        <a:spcAft>
                          <a:spcPts val="0"/>
                        </a:spcAft>
                      </a:pPr>
                      <a:endParaRPr lang="en-US" sz="700">
                        <a:latin typeface="Times New Roman"/>
                        <a:ea typeface="Times New Roman"/>
                        <a:cs typeface="Times New Roman"/>
                      </a:endParaRPr>
                    </a:p>
                  </a:txBody>
                  <a:tcPr marL="0" marR="0" marT="0" marB="0" anchor="b">
                    <a:lnL w="12700" cap="flat" cmpd="sng" algn="ctr">
                      <a:solidFill>
                        <a:srgbClr val="7BA0CD"/>
                      </a:solidFill>
                      <a:prstDash val="solid"/>
                      <a:round/>
                      <a:headEnd type="none" w="med" len="med"/>
                      <a:tailEnd type="none" w="med" len="med"/>
                    </a:lnL>
                    <a:lnR>
                      <a:noFill/>
                    </a:lnR>
                    <a:lnT>
                      <a:noFill/>
                    </a:lnT>
                    <a:lnB>
                      <a:noFill/>
                    </a:lnB>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02"/>
                  </a:ext>
                </a:extLst>
              </a:tr>
              <a:tr h="141756">
                <a:tc>
                  <a:txBody>
                    <a:bodyPr/>
                    <a:lstStyle/>
                    <a:p>
                      <a:pPr marL="0" marR="0">
                        <a:lnSpc>
                          <a:spcPct val="115000"/>
                        </a:lnSpc>
                        <a:spcBef>
                          <a:spcPts val="0"/>
                        </a:spcBef>
                        <a:spcAft>
                          <a:spcPts val="0"/>
                        </a:spcAft>
                      </a:pPr>
                      <a:endParaRPr lang="en-US" sz="900">
                        <a:latin typeface="Times New Roman"/>
                        <a:ea typeface="Times New Roman"/>
                        <a:cs typeface="Times New Roman"/>
                      </a:endParaRPr>
                    </a:p>
                  </a:txBody>
                  <a:tcPr marL="0" marR="0" marT="0" marB="0" anchor="b">
                    <a:lnL>
                      <a:noFill/>
                    </a:lnL>
                    <a:lnR w="12700" cap="flat" cmpd="sng" algn="ctr">
                      <a:solidFill>
                        <a:srgbClr val="4F81BD"/>
                      </a:solidFill>
                      <a:prstDash val="solid"/>
                      <a:round/>
                      <a:headEnd type="none" w="med" len="med"/>
                      <a:tailEnd type="none" w="med" len="med"/>
                    </a:lnR>
                    <a:lnT>
                      <a:noFill/>
                    </a:lnT>
                    <a:lnB w="12700" cap="flat" cmpd="sng" algn="ctr">
                      <a:solidFill>
                        <a:srgbClr val="7BA0CD"/>
                      </a:solidFill>
                      <a:prstDash val="solid"/>
                      <a:round/>
                      <a:headEnd type="none" w="med" len="med"/>
                      <a:tailEnd type="none" w="med" len="med"/>
                    </a:lnB>
                    <a:solidFill>
                      <a:srgbClr val="7BA0CD"/>
                    </a:solidFill>
                  </a:tcPr>
                </a:tc>
                <a:tc>
                  <a:txBody>
                    <a:bodyPr/>
                    <a:lstStyle/>
                    <a:p>
                      <a:pPr marL="0" marR="0">
                        <a:lnSpc>
                          <a:spcPct val="115000"/>
                        </a:lnSpc>
                        <a:spcBef>
                          <a:spcPts val="0"/>
                        </a:spcBef>
                        <a:spcAft>
                          <a:spcPts val="0"/>
                        </a:spcAft>
                      </a:pPr>
                      <a:endParaRPr lang="en-US" sz="900">
                        <a:latin typeface="Times New Roman"/>
                        <a:ea typeface="Times New Roman"/>
                        <a:cs typeface="Times New Roman"/>
                      </a:endParaRPr>
                    </a:p>
                  </a:txBody>
                  <a:tcPr marL="0" marR="0" marT="0" marB="0" anchor="b">
                    <a:lnL w="12700" cap="flat" cmpd="sng" algn="ctr">
                      <a:solidFill>
                        <a:srgbClr val="4F81BD"/>
                      </a:solidFill>
                      <a:prstDash val="solid"/>
                      <a:round/>
                      <a:headEnd type="none" w="med" len="med"/>
                      <a:tailEnd type="none" w="med" len="med"/>
                    </a:lnL>
                    <a:lnR>
                      <a:noFill/>
                    </a:lnR>
                    <a:lnT>
                      <a:noFill/>
                    </a:lnT>
                    <a:lnB w="12700" cap="flat" cmpd="sng" algn="ctr">
                      <a:solidFill>
                        <a:srgbClr val="4F81BD"/>
                      </a:solidFill>
                      <a:prstDash val="solid"/>
                      <a:round/>
                      <a:headEnd type="none" w="med" len="med"/>
                      <a:tailEnd type="none" w="med" len="med"/>
                    </a:lnB>
                    <a:solidFill>
                      <a:srgbClr val="4F81BD"/>
                    </a:solidFill>
                  </a:tcPr>
                </a:tc>
                <a:tc vMerge="1">
                  <a:txBody>
                    <a:bodyPr/>
                    <a:lstStyle/>
                    <a:p>
                      <a:endParaRPr lang="en-US"/>
                    </a:p>
                  </a:txBody>
                  <a:tcPr/>
                </a:tc>
                <a:tc>
                  <a:txBody>
                    <a:bodyPr/>
                    <a:lstStyle/>
                    <a:p>
                      <a:pPr marL="0" marR="0">
                        <a:lnSpc>
                          <a:spcPct val="115000"/>
                        </a:lnSpc>
                        <a:spcBef>
                          <a:spcPts val="0"/>
                        </a:spcBef>
                        <a:spcAft>
                          <a:spcPts val="0"/>
                        </a:spcAft>
                      </a:pPr>
                      <a:endParaRPr lang="en-US" sz="900">
                        <a:latin typeface="Times New Roman"/>
                        <a:ea typeface="Times New Roman"/>
                        <a:cs typeface="Times New Roman"/>
                      </a:endParaRPr>
                    </a:p>
                  </a:txBody>
                  <a:tcPr marL="0" marR="0" marT="0" marB="0" anchor="b">
                    <a:lnL>
                      <a:noFill/>
                    </a:lnL>
                    <a:lnR>
                      <a:noFill/>
                    </a:lnR>
                    <a:lnT>
                      <a:noFill/>
                    </a:lnT>
                    <a:lnB w="12700" cap="flat" cmpd="sng" algn="ctr">
                      <a:solidFill>
                        <a:srgbClr val="4F81BD"/>
                      </a:solidFill>
                      <a:prstDash val="solid"/>
                      <a:round/>
                      <a:headEnd type="none" w="med" len="med"/>
                      <a:tailEnd type="none" w="med" len="med"/>
                    </a:lnB>
                    <a:solidFill>
                      <a:srgbClr val="4F81BD"/>
                    </a:solidFill>
                  </a:tcPr>
                </a:tc>
                <a:tc>
                  <a:txBody>
                    <a:bodyPr/>
                    <a:lstStyle/>
                    <a:p>
                      <a:pPr marL="0" marR="0">
                        <a:lnSpc>
                          <a:spcPct val="115000"/>
                        </a:lnSpc>
                        <a:spcBef>
                          <a:spcPts val="0"/>
                        </a:spcBef>
                        <a:spcAft>
                          <a:spcPts val="0"/>
                        </a:spcAft>
                      </a:pPr>
                      <a:endParaRPr lang="en-US" sz="900">
                        <a:latin typeface="Times New Roman"/>
                        <a:ea typeface="Times New Roman"/>
                        <a:cs typeface="Times New Roman"/>
                      </a:endParaRPr>
                    </a:p>
                  </a:txBody>
                  <a:tcPr marL="0" marR="0" marT="0" marB="0" anchor="b">
                    <a:lnL>
                      <a:noFill/>
                    </a:lnL>
                    <a:lnR w="12700" cap="flat" cmpd="sng" algn="ctr">
                      <a:solidFill>
                        <a:srgbClr val="4F81BD"/>
                      </a:solidFill>
                      <a:prstDash val="solid"/>
                      <a:round/>
                      <a:headEnd type="none" w="med" len="med"/>
                      <a:tailEnd type="none" w="med" len="med"/>
                    </a:lnR>
                    <a:lnT>
                      <a:noFill/>
                    </a:lnT>
                    <a:lnB w="12700" cap="flat" cmpd="sng" algn="ctr">
                      <a:solidFill>
                        <a:srgbClr val="4F81BD"/>
                      </a:solidFill>
                      <a:prstDash val="solid"/>
                      <a:round/>
                      <a:headEnd type="none" w="med" len="med"/>
                      <a:tailEnd type="none" w="med" len="med"/>
                    </a:lnB>
                    <a:solidFill>
                      <a:srgbClr val="4F81BD"/>
                    </a:solidFill>
                  </a:tcPr>
                </a:tc>
                <a:tc>
                  <a:txBody>
                    <a:bodyPr/>
                    <a:lstStyle/>
                    <a:p>
                      <a:pPr marL="0" marR="0">
                        <a:lnSpc>
                          <a:spcPct val="115000"/>
                        </a:lnSpc>
                        <a:spcBef>
                          <a:spcPts val="0"/>
                        </a:spcBef>
                        <a:spcAft>
                          <a:spcPts val="0"/>
                        </a:spcAft>
                      </a:pPr>
                      <a:endParaRPr lang="en-US" sz="900">
                        <a:latin typeface="Times New Roman"/>
                        <a:ea typeface="Times New Roman"/>
                        <a:cs typeface="Times New Roman"/>
                      </a:endParaRPr>
                    </a:p>
                  </a:txBody>
                  <a:tcPr marL="0" marR="0" marT="0" marB="0" anchor="b">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a:noFill/>
                    </a:lnT>
                    <a:lnB w="12700" cap="flat" cmpd="sng" algn="ctr">
                      <a:solidFill>
                        <a:srgbClr val="4F81BD"/>
                      </a:solidFill>
                      <a:prstDash val="solid"/>
                      <a:round/>
                      <a:headEnd type="none" w="med" len="med"/>
                      <a:tailEnd type="none" w="med" len="med"/>
                    </a:lnB>
                    <a:solidFill>
                      <a:srgbClr val="4F81BD"/>
                    </a:solidFill>
                  </a:tcPr>
                </a:tc>
                <a:tc>
                  <a:txBody>
                    <a:bodyPr/>
                    <a:lstStyle/>
                    <a:p>
                      <a:pPr marL="0" marR="0">
                        <a:lnSpc>
                          <a:spcPct val="115000"/>
                        </a:lnSpc>
                        <a:spcBef>
                          <a:spcPts val="0"/>
                        </a:spcBef>
                        <a:spcAft>
                          <a:spcPts val="0"/>
                        </a:spcAft>
                      </a:pPr>
                      <a:endParaRPr lang="en-US" sz="900">
                        <a:latin typeface="Times New Roman"/>
                        <a:ea typeface="Times New Roman"/>
                        <a:cs typeface="Times New Roman"/>
                      </a:endParaRPr>
                    </a:p>
                  </a:txBody>
                  <a:tcPr marL="0" marR="0" marT="0" marB="0" anchor="b">
                    <a:lnL w="12700" cap="flat" cmpd="sng" algn="ctr">
                      <a:solidFill>
                        <a:srgbClr val="4F81BD"/>
                      </a:solidFill>
                      <a:prstDash val="solid"/>
                      <a:round/>
                      <a:headEnd type="none" w="med" len="med"/>
                      <a:tailEnd type="none" w="med" len="med"/>
                    </a:lnL>
                    <a:lnR>
                      <a:noFill/>
                    </a:lnR>
                    <a:lnT>
                      <a:noFill/>
                    </a:lnT>
                    <a:lnB w="12700" cap="flat" cmpd="sng" algn="ctr">
                      <a:solidFill>
                        <a:srgbClr val="4F81BD"/>
                      </a:solidFill>
                      <a:prstDash val="solid"/>
                      <a:round/>
                      <a:headEnd type="none" w="med" len="med"/>
                      <a:tailEnd type="none" w="med" len="med"/>
                    </a:lnB>
                    <a:solidFill>
                      <a:srgbClr val="4F81BD"/>
                    </a:solidFill>
                  </a:tcPr>
                </a:tc>
                <a:tc>
                  <a:txBody>
                    <a:bodyPr/>
                    <a:lstStyle/>
                    <a:p>
                      <a:pPr marL="0" marR="0">
                        <a:lnSpc>
                          <a:spcPct val="115000"/>
                        </a:lnSpc>
                        <a:spcBef>
                          <a:spcPts val="0"/>
                        </a:spcBef>
                        <a:spcAft>
                          <a:spcPts val="0"/>
                        </a:spcAft>
                      </a:pPr>
                      <a:endParaRPr lang="en-US" sz="900">
                        <a:latin typeface="Times New Roman"/>
                        <a:ea typeface="Times New Roman"/>
                        <a:cs typeface="Times New Roman"/>
                      </a:endParaRPr>
                    </a:p>
                  </a:txBody>
                  <a:tcPr marL="0" marR="0" marT="0" marB="0" anchor="b">
                    <a:lnL>
                      <a:noFill/>
                    </a:lnL>
                    <a:lnR>
                      <a:noFill/>
                    </a:lnR>
                    <a:lnT>
                      <a:noFill/>
                    </a:lnT>
                    <a:lnB w="12700" cap="flat" cmpd="sng" algn="ctr">
                      <a:solidFill>
                        <a:srgbClr val="4F81BD"/>
                      </a:solidFill>
                      <a:prstDash val="solid"/>
                      <a:round/>
                      <a:headEnd type="none" w="med" len="med"/>
                      <a:tailEnd type="none" w="med" len="med"/>
                    </a:lnB>
                    <a:solidFill>
                      <a:srgbClr val="4F81BD"/>
                    </a:solidFill>
                  </a:tcPr>
                </a:tc>
                <a:tc>
                  <a:txBody>
                    <a:bodyPr/>
                    <a:lstStyle/>
                    <a:p>
                      <a:pPr marL="0" marR="0">
                        <a:lnSpc>
                          <a:spcPct val="115000"/>
                        </a:lnSpc>
                        <a:spcBef>
                          <a:spcPts val="0"/>
                        </a:spcBef>
                        <a:spcAft>
                          <a:spcPts val="0"/>
                        </a:spcAft>
                      </a:pPr>
                      <a:endParaRPr lang="en-US" sz="900">
                        <a:latin typeface="Times New Roman"/>
                        <a:ea typeface="Times New Roman"/>
                        <a:cs typeface="Times New Roman"/>
                      </a:endParaRPr>
                    </a:p>
                  </a:txBody>
                  <a:tcPr marL="0" marR="0" marT="0" marB="0" anchor="b">
                    <a:lnL>
                      <a:noFill/>
                    </a:lnL>
                    <a:lnR w="12700" cap="flat" cmpd="sng" algn="ctr">
                      <a:solidFill>
                        <a:srgbClr val="7BA0CD"/>
                      </a:solidFill>
                      <a:prstDash val="solid"/>
                      <a:round/>
                      <a:headEnd type="none" w="med" len="med"/>
                      <a:tailEnd type="none" w="med" len="med"/>
                    </a:lnR>
                    <a:lnT>
                      <a:noFill/>
                    </a:lnT>
                    <a:lnB w="12700" cap="flat" cmpd="sng" algn="ctr">
                      <a:solidFill>
                        <a:srgbClr val="4F81BD"/>
                      </a:solidFill>
                      <a:prstDash val="solid"/>
                      <a:round/>
                      <a:headEnd type="none" w="med" len="med"/>
                      <a:tailEnd type="none" w="med" len="med"/>
                    </a:lnB>
                    <a:solidFill>
                      <a:srgbClr val="4F81BD"/>
                    </a:solidFill>
                  </a:tcPr>
                </a:tc>
                <a:tc>
                  <a:txBody>
                    <a:bodyPr/>
                    <a:lstStyle/>
                    <a:p>
                      <a:pPr marL="0" marR="0">
                        <a:lnSpc>
                          <a:spcPct val="115000"/>
                        </a:lnSpc>
                        <a:spcBef>
                          <a:spcPts val="0"/>
                        </a:spcBef>
                        <a:spcAft>
                          <a:spcPts val="0"/>
                        </a:spcAft>
                      </a:pPr>
                      <a:endParaRPr lang="en-US" sz="900">
                        <a:latin typeface="Times New Roman"/>
                        <a:ea typeface="Times New Roman"/>
                        <a:cs typeface="Times New Roman"/>
                      </a:endParaRPr>
                    </a:p>
                  </a:txBody>
                  <a:tcPr marL="0" marR="0" marT="0" marB="0" anchor="b">
                    <a:lnL w="12700" cap="flat" cmpd="sng" algn="ctr">
                      <a:solidFill>
                        <a:srgbClr val="7BA0CD"/>
                      </a:solidFill>
                      <a:prstDash val="solid"/>
                      <a:round/>
                      <a:headEnd type="none" w="med" len="med"/>
                      <a:tailEnd type="none" w="med" len="med"/>
                    </a:lnL>
                    <a:lnR>
                      <a:noFill/>
                    </a:lnR>
                    <a:lnT>
                      <a:noFill/>
                    </a:lnT>
                    <a:lnB>
                      <a:noFill/>
                    </a:lnB>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03"/>
                  </a:ext>
                </a:extLst>
              </a:tr>
              <a:tr h="55127">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w="12700" cap="flat" cmpd="sng" algn="ctr">
                      <a:solidFill>
                        <a:srgbClr val="D3DFEE"/>
                      </a:solidFill>
                      <a:prstDash val="solid"/>
                      <a:round/>
                      <a:headEnd type="none" w="med" len="med"/>
                      <a:tailEnd type="none" w="med" len="med"/>
                    </a:lnR>
                    <a:lnT w="12700" cap="flat" cmpd="sng" algn="ctr">
                      <a:solidFill>
                        <a:srgbClr val="7BA0CD"/>
                      </a:solidFill>
                      <a:prstDash val="solid"/>
                      <a:round/>
                      <a:headEnd type="none" w="med" len="med"/>
                      <a:tailEnd type="none" w="med" len="med"/>
                    </a:lnT>
                    <a:lnB>
                      <a:noFill/>
                    </a:lnB>
                    <a:solidFill>
                      <a:srgbClr val="7BA0CD"/>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w="12700" cap="flat" cmpd="sng" algn="ctr">
                      <a:solidFill>
                        <a:srgbClr val="D3DFEE"/>
                      </a:solidFill>
                      <a:prstDash val="solid"/>
                      <a:round/>
                      <a:headEnd type="none" w="med" len="med"/>
                      <a:tailEnd type="none" w="med" len="med"/>
                    </a:lnL>
                    <a:lnR>
                      <a:noFill/>
                    </a:lnR>
                    <a:lnT w="12700" cap="flat" cmpd="sng" algn="ctr">
                      <a:solidFill>
                        <a:srgbClr val="4F81BD"/>
                      </a:solidFill>
                      <a:prstDash val="solid"/>
                      <a:round/>
                      <a:headEnd type="none" w="med" len="med"/>
                      <a:tailEnd type="none" w="med" len="med"/>
                    </a:lnT>
                    <a:lnB>
                      <a:noFill/>
                    </a:lnB>
                    <a:solidFill>
                      <a:srgbClr val="D3DFEE"/>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a:noFill/>
                    </a:lnR>
                    <a:lnT w="12700" cap="flat" cmpd="sng" algn="ctr">
                      <a:solidFill>
                        <a:srgbClr val="4F81BD"/>
                      </a:solidFill>
                      <a:prstDash val="solid"/>
                      <a:round/>
                      <a:headEnd type="none" w="med" len="med"/>
                      <a:tailEnd type="none" w="med" len="med"/>
                    </a:lnT>
                    <a:lnB>
                      <a:noFill/>
                    </a:lnB>
                    <a:solidFill>
                      <a:srgbClr val="D3DFEE"/>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a:noFill/>
                    </a:lnR>
                    <a:lnT w="12700" cap="flat" cmpd="sng" algn="ctr">
                      <a:solidFill>
                        <a:srgbClr val="4F81BD"/>
                      </a:solidFill>
                      <a:prstDash val="solid"/>
                      <a:round/>
                      <a:headEnd type="none" w="med" len="med"/>
                      <a:tailEnd type="none" w="med" len="med"/>
                    </a:lnT>
                    <a:lnB>
                      <a:noFill/>
                    </a:lnB>
                    <a:solidFill>
                      <a:srgbClr val="D3DFEE"/>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w="12700" cap="flat" cmpd="sng" algn="ctr">
                      <a:solidFill>
                        <a:srgbClr val="D3DFEE"/>
                      </a:solidFill>
                      <a:prstDash val="solid"/>
                      <a:round/>
                      <a:headEnd type="none" w="med" len="med"/>
                      <a:tailEnd type="none" w="med" len="med"/>
                    </a:lnR>
                    <a:lnT w="12700" cap="flat" cmpd="sng" algn="ctr">
                      <a:solidFill>
                        <a:srgbClr val="4F81BD"/>
                      </a:solidFill>
                      <a:prstDash val="solid"/>
                      <a:round/>
                      <a:headEnd type="none" w="med" len="med"/>
                      <a:tailEnd type="none" w="med" len="med"/>
                    </a:lnT>
                    <a:lnB>
                      <a:noFill/>
                    </a:lnB>
                    <a:solidFill>
                      <a:srgbClr val="D3DFEE"/>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w="12700" cap="flat" cmpd="sng" algn="ctr">
                      <a:solidFill>
                        <a:srgbClr val="D3DFEE"/>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4F81BD"/>
                      </a:solidFill>
                      <a:prstDash val="solid"/>
                      <a:round/>
                      <a:headEnd type="none" w="med" len="med"/>
                      <a:tailEnd type="none" w="med" len="med"/>
                    </a:lnT>
                    <a:lnB>
                      <a:noFill/>
                    </a:lnB>
                    <a:solidFill>
                      <a:srgbClr val="D3DFEE"/>
                    </a:solidFill>
                  </a:tcPr>
                </a:tc>
                <a:tc gridSpan="2">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4F81BD"/>
                      </a:solidFill>
                      <a:prstDash val="solid"/>
                      <a:round/>
                      <a:headEnd type="none" w="med" len="med"/>
                      <a:tailEnd type="none" w="med" len="med"/>
                    </a:lnT>
                    <a:lnB>
                      <a:noFill/>
                    </a:lnB>
                    <a:solidFill>
                      <a:srgbClr val="D3DFEE"/>
                    </a:solidFill>
                  </a:tcPr>
                </a:tc>
                <a:tc hMerge="1">
                  <a:txBody>
                    <a:bodyPr/>
                    <a:lstStyle/>
                    <a:p>
                      <a:endParaRPr lang="en-US"/>
                    </a:p>
                  </a:txBody>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w="12700" cap="flat" cmpd="sng" algn="ctr">
                      <a:solidFill>
                        <a:srgbClr val="7BA0CD"/>
                      </a:solidFill>
                      <a:prstDash val="solid"/>
                      <a:round/>
                      <a:headEnd type="none" w="med" len="med"/>
                      <a:tailEnd type="none" w="med" len="med"/>
                    </a:lnR>
                    <a:lnT w="12700" cap="flat" cmpd="sng" algn="ctr">
                      <a:solidFill>
                        <a:srgbClr val="4F81BD"/>
                      </a:solidFill>
                      <a:prstDash val="solid"/>
                      <a:round/>
                      <a:headEnd type="none" w="med" len="med"/>
                      <a:tailEnd type="none" w="med" len="med"/>
                    </a:lnT>
                    <a:lnB>
                      <a:noFill/>
                    </a:lnB>
                    <a:solidFill>
                      <a:srgbClr val="D3DFEE"/>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w="12700" cap="flat" cmpd="sng" algn="ctr">
                      <a:solidFill>
                        <a:srgbClr val="7BA0CD"/>
                      </a:solidFill>
                      <a:prstDash val="solid"/>
                      <a:round/>
                      <a:headEnd type="none" w="med" len="med"/>
                      <a:tailEnd type="none" w="med" len="med"/>
                    </a:lnL>
                    <a:lnR>
                      <a:noFill/>
                    </a:lnR>
                    <a:lnT>
                      <a:noFill/>
                    </a:lnT>
                    <a:lnB>
                      <a:noFill/>
                    </a:lnB>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04"/>
                  </a:ext>
                </a:extLst>
              </a:tr>
              <a:tr h="675969">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D3DFEE"/>
                      </a:solidFill>
                      <a:prstDash val="solid"/>
                      <a:round/>
                      <a:headEnd type="none" w="med" len="med"/>
                      <a:tailEnd type="none" w="med" len="med"/>
                    </a:lnR>
                    <a:lnT>
                      <a:noFill/>
                    </a:lnT>
                    <a:lnB>
                      <a:noFill/>
                    </a:lnB>
                    <a:solidFill>
                      <a:srgbClr val="7BA0CD"/>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D3DFEE"/>
                      </a:solidFill>
                      <a:prstDash val="solid"/>
                      <a:round/>
                      <a:headEnd type="none" w="med" len="med"/>
                      <a:tailEnd type="none" w="med" len="med"/>
                    </a:lnL>
                    <a:lnR>
                      <a:noFill/>
                    </a:lnR>
                    <a:lnT>
                      <a:noFill/>
                    </a:lnT>
                    <a:lnB>
                      <a:noFill/>
                    </a:lnB>
                    <a:solidFill>
                      <a:srgbClr val="D3DFEE"/>
                    </a:solidFill>
                  </a:tcPr>
                </a:tc>
                <a:tc>
                  <a:txBody>
                    <a:bodyPr/>
                    <a:lstStyle/>
                    <a:p>
                      <a:pPr marL="0" marR="0" algn="ctr">
                        <a:lnSpc>
                          <a:spcPts val="1590"/>
                        </a:lnSpc>
                        <a:spcBef>
                          <a:spcPts val="0"/>
                        </a:spcBef>
                        <a:spcAft>
                          <a:spcPts val="0"/>
                        </a:spcAft>
                      </a:pPr>
                      <a:r>
                        <a:rPr lang="en-US" sz="1400" b="1" dirty="0">
                          <a:latin typeface="Times New Roman"/>
                          <a:ea typeface="Times New Roman"/>
                          <a:cs typeface="Times New Roman"/>
                        </a:rPr>
                        <a:t>00</a:t>
                      </a:r>
                      <a:endParaRPr lang="en-US" sz="1100" dirty="0">
                        <a:latin typeface="Calibri"/>
                        <a:ea typeface="Times New Roman"/>
                        <a:cs typeface="Times New Roman"/>
                      </a:endParaRPr>
                    </a:p>
                  </a:txBody>
                  <a:tcPr marL="0" marR="0" marT="0" marB="0" anchor="b">
                    <a:lnL>
                      <a:noFill/>
                    </a:lnL>
                    <a:lnR>
                      <a:noFill/>
                    </a:lnR>
                    <a:lnT>
                      <a:noFill/>
                    </a:lnT>
                    <a:lnB>
                      <a:noFill/>
                    </a:lnB>
                    <a:solidFill>
                      <a:srgbClr val="D3DFEE"/>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a:noFill/>
                    </a:lnR>
                    <a:lnT>
                      <a:noFill/>
                    </a:lnT>
                    <a:lnB>
                      <a:noFill/>
                    </a:lnB>
                    <a:solidFill>
                      <a:srgbClr val="D3DFEE"/>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D3DFEE"/>
                      </a:solidFill>
                      <a:prstDash val="solid"/>
                      <a:round/>
                      <a:headEnd type="none" w="med" len="med"/>
                      <a:tailEnd type="none" w="med" len="med"/>
                    </a:lnR>
                    <a:lnT>
                      <a:noFill/>
                    </a:lnT>
                    <a:lnB>
                      <a:noFill/>
                    </a:lnB>
                    <a:solidFill>
                      <a:srgbClr val="D3DFEE"/>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D3DFEE"/>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3DFEE"/>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solidFill>
                      <a:srgbClr val="D3DFEE"/>
                    </a:solidFill>
                  </a:tcPr>
                </a:tc>
                <a:tc>
                  <a:txBody>
                    <a:bodyPr/>
                    <a:lstStyle/>
                    <a:p>
                      <a:pPr marL="0" marR="0" algn="ctr">
                        <a:lnSpc>
                          <a:spcPts val="1590"/>
                        </a:lnSpc>
                        <a:spcBef>
                          <a:spcPts val="0"/>
                        </a:spcBef>
                        <a:spcAft>
                          <a:spcPts val="0"/>
                        </a:spcAft>
                      </a:pPr>
                      <a:r>
                        <a:rPr lang="en-US" sz="1400" b="1" dirty="0">
                          <a:latin typeface="Times New Roman"/>
                          <a:ea typeface="Times New Roman"/>
                          <a:cs typeface="Times New Roman"/>
                        </a:rPr>
                        <a:t>1</a:t>
                      </a:r>
                      <a:endParaRPr lang="en-US" sz="1100" dirty="0">
                        <a:latin typeface="Calibri"/>
                        <a:ea typeface="Times New Roman"/>
                        <a:cs typeface="Times New Roman"/>
                      </a:endParaRPr>
                    </a:p>
                  </a:txBody>
                  <a:tcPr marL="0" marR="0" marT="0" marB="0" anchor="b">
                    <a:lnL>
                      <a:noFill/>
                    </a:lnL>
                    <a:lnR>
                      <a:noFill/>
                    </a:lnR>
                    <a:lnT>
                      <a:noFill/>
                    </a:lnT>
                    <a:lnB>
                      <a:noFill/>
                    </a:lnB>
                    <a:solidFill>
                      <a:srgbClr val="D3DFEE"/>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7BA0CD"/>
                      </a:solidFill>
                      <a:prstDash val="solid"/>
                      <a:round/>
                      <a:headEnd type="none" w="med" len="med"/>
                      <a:tailEnd type="none" w="med" len="med"/>
                    </a:lnR>
                    <a:lnT>
                      <a:noFill/>
                    </a:lnT>
                    <a:lnB>
                      <a:noFill/>
                    </a:lnB>
                    <a:solidFill>
                      <a:srgbClr val="D3DFEE"/>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7BA0CD"/>
                      </a:solidFill>
                      <a:prstDash val="solid"/>
                      <a:round/>
                      <a:headEnd type="none" w="med" len="med"/>
                      <a:tailEnd type="none" w="med" len="med"/>
                    </a:lnL>
                    <a:lnR>
                      <a:noFill/>
                    </a:lnR>
                    <a:lnT>
                      <a:noFill/>
                    </a:lnT>
                    <a:lnB>
                      <a:noFill/>
                    </a:lnB>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05"/>
                  </a:ext>
                </a:extLst>
              </a:tr>
              <a:tr h="117490">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w="12700" cap="flat" cmpd="sng" algn="ctr">
                      <a:solidFill>
                        <a:srgbClr val="D3DFEE"/>
                      </a:solidFill>
                      <a:prstDash val="solid"/>
                      <a:round/>
                      <a:headEnd type="none" w="med" len="med"/>
                      <a:tailEnd type="none" w="med" len="med"/>
                    </a:lnR>
                    <a:lnT>
                      <a:noFill/>
                    </a:lnT>
                    <a:lnB w="12700" cap="flat" cmpd="sng" algn="ctr">
                      <a:solidFill>
                        <a:srgbClr val="7BA0CD"/>
                      </a:solidFill>
                      <a:prstDash val="solid"/>
                      <a:round/>
                      <a:headEnd type="none" w="med" len="med"/>
                      <a:tailEnd type="none" w="med" len="med"/>
                    </a:lnB>
                    <a:solidFill>
                      <a:srgbClr val="7BA0CD"/>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w="12700" cap="flat" cmpd="sng" algn="ctr">
                      <a:solidFill>
                        <a:srgbClr val="D3DFEE"/>
                      </a:solidFill>
                      <a:prstDash val="solid"/>
                      <a:round/>
                      <a:headEnd type="none" w="med" len="med"/>
                      <a:tailEnd type="none" w="med" len="med"/>
                    </a:lnL>
                    <a:lnR>
                      <a:noFill/>
                    </a:lnR>
                    <a:lnT>
                      <a:noFill/>
                    </a:lnT>
                    <a:lnB w="12700" cap="flat" cmpd="sng" algn="ctr">
                      <a:solidFill>
                        <a:srgbClr val="7BA0CD"/>
                      </a:solidFill>
                      <a:prstDash val="solid"/>
                      <a:round/>
                      <a:headEnd type="none" w="med" len="med"/>
                      <a:tailEnd type="none" w="med" len="med"/>
                    </a:lnB>
                    <a:solidFill>
                      <a:srgbClr val="D3DFEE"/>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a:noFill/>
                    </a:lnR>
                    <a:lnT>
                      <a:noFill/>
                    </a:lnT>
                    <a:lnB w="12700" cap="flat" cmpd="sng" algn="ctr">
                      <a:solidFill>
                        <a:srgbClr val="7BA0CD"/>
                      </a:solidFill>
                      <a:prstDash val="solid"/>
                      <a:round/>
                      <a:headEnd type="none" w="med" len="med"/>
                      <a:tailEnd type="none" w="med" len="med"/>
                    </a:lnB>
                    <a:solidFill>
                      <a:srgbClr val="D3DFEE"/>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a:noFill/>
                    </a:lnR>
                    <a:lnT>
                      <a:noFill/>
                    </a:lnT>
                    <a:lnB w="12700" cap="flat" cmpd="sng" algn="ctr">
                      <a:solidFill>
                        <a:srgbClr val="7BA0CD"/>
                      </a:solidFill>
                      <a:prstDash val="solid"/>
                      <a:round/>
                      <a:headEnd type="none" w="med" len="med"/>
                      <a:tailEnd type="none" w="med" len="med"/>
                    </a:lnB>
                    <a:solidFill>
                      <a:srgbClr val="D3DFEE"/>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w="12700" cap="flat" cmpd="sng" algn="ctr">
                      <a:solidFill>
                        <a:srgbClr val="D3DFEE"/>
                      </a:solidFill>
                      <a:prstDash val="solid"/>
                      <a:round/>
                      <a:headEnd type="none" w="med" len="med"/>
                      <a:tailEnd type="none" w="med" len="med"/>
                    </a:lnR>
                    <a:lnT>
                      <a:noFill/>
                    </a:lnT>
                    <a:lnB w="12700" cap="flat" cmpd="sng" algn="ctr">
                      <a:solidFill>
                        <a:srgbClr val="7BA0CD"/>
                      </a:solidFill>
                      <a:prstDash val="solid"/>
                      <a:round/>
                      <a:headEnd type="none" w="med" len="med"/>
                      <a:tailEnd type="none" w="med" len="med"/>
                    </a:lnB>
                    <a:solidFill>
                      <a:srgbClr val="D3DFEE"/>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w="12700" cap="flat" cmpd="sng" algn="ctr">
                      <a:solidFill>
                        <a:srgbClr val="D3DFEE"/>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7BA0CD"/>
                      </a:solidFill>
                      <a:prstDash val="solid"/>
                      <a:round/>
                      <a:headEnd type="none" w="med" len="med"/>
                      <a:tailEnd type="none" w="med" len="med"/>
                    </a:lnB>
                    <a:solidFill>
                      <a:srgbClr val="D3DFEE"/>
                    </a:solidFill>
                  </a:tcPr>
                </a:tc>
                <a:tc gridSpan="2">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7BA0CD"/>
                      </a:solidFill>
                      <a:prstDash val="solid"/>
                      <a:round/>
                      <a:headEnd type="none" w="med" len="med"/>
                      <a:tailEnd type="none" w="med" len="med"/>
                    </a:lnB>
                    <a:solidFill>
                      <a:srgbClr val="D3DFEE"/>
                    </a:solidFill>
                  </a:tcPr>
                </a:tc>
                <a:tc hMerge="1">
                  <a:txBody>
                    <a:bodyPr/>
                    <a:lstStyle/>
                    <a:p>
                      <a:endParaRPr lang="en-US"/>
                    </a:p>
                  </a:txBody>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w="12700" cap="flat" cmpd="sng" algn="ctr">
                      <a:solidFill>
                        <a:srgbClr val="7BA0CD"/>
                      </a:solidFill>
                      <a:prstDash val="solid"/>
                      <a:round/>
                      <a:headEnd type="none" w="med" len="med"/>
                      <a:tailEnd type="none" w="med" len="med"/>
                    </a:lnR>
                    <a:lnT>
                      <a:noFill/>
                    </a:lnT>
                    <a:lnB w="12700" cap="flat" cmpd="sng" algn="ctr">
                      <a:solidFill>
                        <a:srgbClr val="7BA0CD"/>
                      </a:solidFill>
                      <a:prstDash val="solid"/>
                      <a:round/>
                      <a:headEnd type="none" w="med" len="med"/>
                      <a:tailEnd type="none" w="med" len="med"/>
                    </a:lnB>
                    <a:solidFill>
                      <a:srgbClr val="D3DFEE"/>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w="12700" cap="flat" cmpd="sng" algn="ctr">
                      <a:solidFill>
                        <a:srgbClr val="7BA0CD"/>
                      </a:solidFill>
                      <a:prstDash val="solid"/>
                      <a:round/>
                      <a:headEnd type="none" w="med" len="med"/>
                      <a:tailEnd type="none" w="med" len="med"/>
                    </a:lnL>
                    <a:lnR>
                      <a:noFill/>
                    </a:lnR>
                    <a:lnT>
                      <a:noFill/>
                    </a:lnT>
                    <a:lnB>
                      <a:noFill/>
                    </a:lnB>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06"/>
                  </a:ext>
                </a:extLst>
              </a:tr>
              <a:tr h="233978">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a:noFill/>
                    </a:lnR>
                    <a:lnT w="12700" cap="flat" cmpd="sng" algn="ctr">
                      <a:solidFill>
                        <a:srgbClr val="7BA0CD"/>
                      </a:solidFill>
                      <a:prstDash val="solid"/>
                      <a:round/>
                      <a:headEnd type="none" w="med" len="med"/>
                      <a:tailEnd type="none" w="med" len="med"/>
                    </a:lnT>
                    <a:lnB>
                      <a:noFill/>
                    </a:lnB>
                    <a:solidFill>
                      <a:srgbClr val="7BA0CD"/>
                    </a:solidFill>
                  </a:tcPr>
                </a:tc>
                <a:tc gridSpan="2">
                  <a:txBody>
                    <a:bodyPr/>
                    <a:lstStyle/>
                    <a:p>
                      <a:pPr marL="50800" marR="0" algn="ctr">
                        <a:lnSpc>
                          <a:spcPct val="115000"/>
                        </a:lnSpc>
                        <a:spcBef>
                          <a:spcPts val="0"/>
                        </a:spcBef>
                        <a:spcAft>
                          <a:spcPts val="0"/>
                        </a:spcAft>
                      </a:pPr>
                      <a:r>
                        <a:rPr lang="en-US" sz="1400" b="1">
                          <a:latin typeface="Times New Roman"/>
                          <a:ea typeface="Times New Roman"/>
                          <a:cs typeface="Times New Roman"/>
                        </a:rPr>
                        <a:t>01</a:t>
                      </a:r>
                      <a:endParaRPr lang="en-US" sz="1100">
                        <a:latin typeface="Calibri"/>
                        <a:ea typeface="Times New Roman"/>
                        <a:cs typeface="Times New Roman"/>
                      </a:endParaRPr>
                    </a:p>
                  </a:txBody>
                  <a:tcPr marL="0" marR="0" marT="0" marB="0" anchor="b">
                    <a:lnL>
                      <a:noFill/>
                    </a:lnL>
                    <a:lnR>
                      <a:noFill/>
                    </a:lnR>
                    <a:lnT w="12700" cap="flat" cmpd="sng" algn="ctr">
                      <a:solidFill>
                        <a:srgbClr val="7BA0CD"/>
                      </a:solidFill>
                      <a:prstDash val="solid"/>
                      <a:round/>
                      <a:headEnd type="none" w="med" len="med"/>
                      <a:tailEnd type="none" w="med" len="med"/>
                    </a:lnT>
                    <a:lnB>
                      <a:noFill/>
                    </a:lnB>
                  </a:tcPr>
                </a:tc>
                <a:tc hMerge="1">
                  <a:txBody>
                    <a:bodyPr/>
                    <a:lstStyle/>
                    <a:p>
                      <a:endParaRPr lang="en-US"/>
                    </a:p>
                  </a:txBody>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a:noFill/>
                    </a:lnR>
                    <a:lnT w="12700" cap="flat" cmpd="sng" algn="ctr">
                      <a:solidFill>
                        <a:srgbClr val="7BA0CD"/>
                      </a:solidFill>
                      <a:prstDash val="solid"/>
                      <a:round/>
                      <a:headEnd type="none" w="med" len="med"/>
                      <a:tailEnd type="none" w="med" len="med"/>
                    </a:lnT>
                    <a:lnB>
                      <a:noFill/>
                    </a:lnB>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a:noFill/>
                    </a:lnR>
                    <a:lnT w="12700" cap="flat" cmpd="sng" algn="ctr">
                      <a:solidFill>
                        <a:srgbClr val="7BA0CD"/>
                      </a:solidFill>
                      <a:prstDash val="solid"/>
                      <a:round/>
                      <a:headEnd type="none" w="med" len="med"/>
                      <a:tailEnd type="none" w="med" len="med"/>
                    </a:lnT>
                    <a:lnB>
                      <a:noFill/>
                    </a:lnB>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7BA0CD"/>
                      </a:solidFill>
                      <a:prstDash val="solid"/>
                      <a:round/>
                      <a:headEnd type="none" w="med" len="med"/>
                      <a:tailEnd type="none" w="med" len="med"/>
                    </a:lnT>
                    <a:lnB>
                      <a:noFill/>
                    </a:lnB>
                  </a:tcPr>
                </a:tc>
                <a:tc gridSpan="2">
                  <a:txBody>
                    <a:bodyPr/>
                    <a:lstStyle/>
                    <a:p>
                      <a:pPr marL="0" marR="0" algn="ctr">
                        <a:lnSpc>
                          <a:spcPct val="115000"/>
                        </a:lnSpc>
                        <a:spcBef>
                          <a:spcPts val="0"/>
                        </a:spcBef>
                        <a:spcAft>
                          <a:spcPts val="0"/>
                        </a:spcAft>
                      </a:pPr>
                      <a:r>
                        <a:rPr lang="en-US" sz="1400" b="1">
                          <a:latin typeface="Times New Roman"/>
                          <a:ea typeface="Times New Roman"/>
                          <a:cs typeface="Times New Roman"/>
                        </a:rPr>
                        <a:t>2</a:t>
                      </a:r>
                      <a:endParaRPr lang="en-US" sz="110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7BA0CD"/>
                      </a:solidFill>
                      <a:prstDash val="solid"/>
                      <a:round/>
                      <a:headEnd type="none" w="med" len="med"/>
                      <a:tailEnd type="none" w="med" len="med"/>
                    </a:lnT>
                    <a:lnB>
                      <a:noFill/>
                    </a:lnB>
                  </a:tcPr>
                </a:tc>
                <a:tc hMerge="1">
                  <a:txBody>
                    <a:bodyPr/>
                    <a:lstStyle/>
                    <a:p>
                      <a:endParaRPr lang="en-US"/>
                    </a:p>
                  </a:txBody>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7BA0CD"/>
                      </a:solidFill>
                      <a:prstDash val="solid"/>
                      <a:round/>
                      <a:headEnd type="none" w="med" len="med"/>
                      <a:tailEnd type="none" w="med" len="med"/>
                    </a:lnR>
                    <a:lnT w="12700" cap="flat" cmpd="sng" algn="ctr">
                      <a:solidFill>
                        <a:srgbClr val="7BA0CD"/>
                      </a:solidFill>
                      <a:prstDash val="solid"/>
                      <a:round/>
                      <a:headEnd type="none" w="med" len="med"/>
                      <a:tailEnd type="none" w="med" len="med"/>
                    </a:lnT>
                    <a:lnB>
                      <a:noFill/>
                    </a:lnB>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7BA0CD"/>
                      </a:solidFill>
                      <a:prstDash val="solid"/>
                      <a:round/>
                      <a:headEnd type="none" w="med" len="med"/>
                      <a:tailEnd type="none" w="med" len="med"/>
                    </a:lnL>
                    <a:lnR>
                      <a:noFill/>
                    </a:lnR>
                    <a:lnT>
                      <a:noFill/>
                    </a:lnT>
                    <a:lnB>
                      <a:noFill/>
                    </a:lnB>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07"/>
                  </a:ext>
                </a:extLst>
              </a:tr>
              <a:tr h="63003">
                <a:tc>
                  <a:txBody>
                    <a:bodyPr/>
                    <a:lstStyle/>
                    <a:p>
                      <a:pPr marL="0" marR="0">
                        <a:lnSpc>
                          <a:spcPct val="115000"/>
                        </a:lnSpc>
                        <a:spcBef>
                          <a:spcPts val="0"/>
                        </a:spcBef>
                        <a:spcAft>
                          <a:spcPts val="0"/>
                        </a:spcAft>
                      </a:pPr>
                      <a:endParaRPr lang="en-US" sz="400">
                        <a:latin typeface="Times New Roman"/>
                        <a:ea typeface="Times New Roman"/>
                        <a:cs typeface="Times New Roman"/>
                      </a:endParaRPr>
                    </a:p>
                  </a:txBody>
                  <a:tcPr marL="0" marR="0" marT="0" marB="0" anchor="b">
                    <a:lnL>
                      <a:noFill/>
                    </a:lnL>
                    <a:lnR>
                      <a:noFill/>
                    </a:lnR>
                    <a:lnT>
                      <a:noFill/>
                    </a:lnT>
                    <a:lnB w="12700" cap="flat" cmpd="sng" algn="ctr">
                      <a:solidFill>
                        <a:srgbClr val="7BA0CD"/>
                      </a:solidFill>
                      <a:prstDash val="solid"/>
                      <a:round/>
                      <a:headEnd type="none" w="med" len="med"/>
                      <a:tailEnd type="none" w="med" len="med"/>
                    </a:lnB>
                    <a:solidFill>
                      <a:srgbClr val="7BA0CD"/>
                    </a:solidFill>
                  </a:tcPr>
                </a:tc>
                <a:tc>
                  <a:txBody>
                    <a:bodyPr/>
                    <a:lstStyle/>
                    <a:p>
                      <a:pPr marL="0" marR="0">
                        <a:lnSpc>
                          <a:spcPct val="115000"/>
                        </a:lnSpc>
                        <a:spcBef>
                          <a:spcPts val="0"/>
                        </a:spcBef>
                        <a:spcAft>
                          <a:spcPts val="0"/>
                        </a:spcAft>
                      </a:pPr>
                      <a:endParaRPr lang="en-US" sz="400">
                        <a:latin typeface="Times New Roman"/>
                        <a:ea typeface="Times New Roman"/>
                        <a:cs typeface="Times New Roman"/>
                      </a:endParaRPr>
                    </a:p>
                  </a:txBody>
                  <a:tcPr marL="0" marR="0" marT="0" marB="0" anchor="b">
                    <a:lnL>
                      <a:noFill/>
                    </a:lnL>
                    <a:lnR>
                      <a:noFill/>
                    </a:lnR>
                    <a:lnT>
                      <a:noFill/>
                    </a:lnT>
                    <a:lnB w="12700" cap="flat" cmpd="sng" algn="ctr">
                      <a:solidFill>
                        <a:srgbClr val="7BA0CD"/>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400">
                        <a:latin typeface="Times New Roman"/>
                        <a:ea typeface="Times New Roman"/>
                        <a:cs typeface="Times New Roman"/>
                      </a:endParaRPr>
                    </a:p>
                  </a:txBody>
                  <a:tcPr marL="0" marR="0" marT="0" marB="0" anchor="b">
                    <a:lnL>
                      <a:noFill/>
                    </a:lnL>
                    <a:lnR>
                      <a:noFill/>
                    </a:lnR>
                    <a:lnT>
                      <a:noFill/>
                    </a:lnT>
                    <a:lnB w="12700" cap="flat" cmpd="sng" algn="ctr">
                      <a:solidFill>
                        <a:srgbClr val="7BA0CD"/>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400">
                        <a:latin typeface="Times New Roman"/>
                        <a:ea typeface="Times New Roman"/>
                        <a:cs typeface="Times New Roman"/>
                      </a:endParaRPr>
                    </a:p>
                  </a:txBody>
                  <a:tcPr marL="0" marR="0" marT="0" marB="0" anchor="b">
                    <a:lnL>
                      <a:noFill/>
                    </a:lnL>
                    <a:lnR>
                      <a:noFill/>
                    </a:lnR>
                    <a:lnT>
                      <a:noFill/>
                    </a:lnT>
                    <a:lnB w="12700" cap="flat" cmpd="sng" algn="ctr">
                      <a:solidFill>
                        <a:srgbClr val="7BA0CD"/>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400">
                        <a:latin typeface="Times New Roman"/>
                        <a:ea typeface="Times New Roman"/>
                        <a:cs typeface="Times New Roman"/>
                      </a:endParaRPr>
                    </a:p>
                  </a:txBody>
                  <a:tcPr marL="0" marR="0" marT="0" marB="0" anchor="b">
                    <a:lnL>
                      <a:noFill/>
                    </a:lnL>
                    <a:lnR>
                      <a:noFill/>
                    </a:lnR>
                    <a:lnT>
                      <a:noFill/>
                    </a:lnT>
                    <a:lnB w="12700" cap="flat" cmpd="sng" algn="ctr">
                      <a:solidFill>
                        <a:srgbClr val="7BA0CD"/>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4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w="12700" cap="flat" cmpd="sng" algn="ctr">
                      <a:solidFill>
                        <a:srgbClr val="7BA0CD"/>
                      </a:solidFill>
                      <a:prstDash val="solid"/>
                      <a:round/>
                      <a:headEnd type="none" w="med" len="med"/>
                      <a:tailEnd type="none" w="med" len="med"/>
                    </a:lnB>
                  </a:tcPr>
                </a:tc>
                <a:tc gridSpan="2">
                  <a:txBody>
                    <a:bodyPr/>
                    <a:lstStyle/>
                    <a:p>
                      <a:pPr marL="0" marR="0">
                        <a:lnSpc>
                          <a:spcPct val="115000"/>
                        </a:lnSpc>
                        <a:spcBef>
                          <a:spcPts val="0"/>
                        </a:spcBef>
                        <a:spcAft>
                          <a:spcPts val="0"/>
                        </a:spcAft>
                      </a:pPr>
                      <a:endParaRPr lang="en-US" sz="4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7BA0CD"/>
                      </a:solidFill>
                      <a:prstDash val="solid"/>
                      <a:round/>
                      <a:headEnd type="none" w="med" len="med"/>
                      <a:tailEnd type="none" w="med" len="med"/>
                    </a:lnB>
                  </a:tcPr>
                </a:tc>
                <a:tc hMerge="1">
                  <a:txBody>
                    <a:bodyPr/>
                    <a:lstStyle/>
                    <a:p>
                      <a:endParaRPr lang="en-US"/>
                    </a:p>
                  </a:txBody>
                  <a:tcPr/>
                </a:tc>
                <a:tc>
                  <a:txBody>
                    <a:bodyPr/>
                    <a:lstStyle/>
                    <a:p>
                      <a:pPr marL="0" marR="0">
                        <a:lnSpc>
                          <a:spcPct val="115000"/>
                        </a:lnSpc>
                        <a:spcBef>
                          <a:spcPts val="0"/>
                        </a:spcBef>
                        <a:spcAft>
                          <a:spcPts val="0"/>
                        </a:spcAft>
                      </a:pPr>
                      <a:endParaRPr lang="en-US" sz="400">
                        <a:latin typeface="Times New Roman"/>
                        <a:ea typeface="Times New Roman"/>
                        <a:cs typeface="Times New Roman"/>
                      </a:endParaRPr>
                    </a:p>
                  </a:txBody>
                  <a:tcPr marL="0" marR="0" marT="0" marB="0" anchor="b">
                    <a:lnL>
                      <a:noFill/>
                    </a:lnL>
                    <a:lnR w="12700" cap="flat" cmpd="sng" algn="ctr">
                      <a:solidFill>
                        <a:srgbClr val="7BA0CD"/>
                      </a:solidFill>
                      <a:prstDash val="solid"/>
                      <a:round/>
                      <a:headEnd type="none" w="med" len="med"/>
                      <a:tailEnd type="none" w="med" len="med"/>
                    </a:lnR>
                    <a:lnT>
                      <a:noFill/>
                    </a:lnT>
                    <a:lnB w="12700" cap="flat" cmpd="sng" algn="ctr">
                      <a:solidFill>
                        <a:srgbClr val="7BA0CD"/>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400">
                        <a:latin typeface="Times New Roman"/>
                        <a:ea typeface="Times New Roman"/>
                        <a:cs typeface="Times New Roman"/>
                      </a:endParaRPr>
                    </a:p>
                  </a:txBody>
                  <a:tcPr marL="0" marR="0" marT="0" marB="0" anchor="b">
                    <a:lnL w="12700" cap="flat" cmpd="sng" algn="ctr">
                      <a:solidFill>
                        <a:srgbClr val="7BA0CD"/>
                      </a:solidFill>
                      <a:prstDash val="solid"/>
                      <a:round/>
                      <a:headEnd type="none" w="med" len="med"/>
                      <a:tailEnd type="none" w="med" len="med"/>
                    </a:lnL>
                    <a:lnR>
                      <a:noFill/>
                    </a:lnR>
                    <a:lnT>
                      <a:noFill/>
                    </a:lnT>
                    <a:lnB>
                      <a:noFill/>
                    </a:lnB>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08"/>
                  </a:ext>
                </a:extLst>
              </a:tr>
              <a:tr h="55127">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w="12700" cap="flat" cmpd="sng" algn="ctr">
                      <a:solidFill>
                        <a:srgbClr val="D3DFEE"/>
                      </a:solidFill>
                      <a:prstDash val="solid"/>
                      <a:round/>
                      <a:headEnd type="none" w="med" len="med"/>
                      <a:tailEnd type="none" w="med" len="med"/>
                    </a:lnR>
                    <a:lnT w="12700" cap="flat" cmpd="sng" algn="ctr">
                      <a:solidFill>
                        <a:srgbClr val="7BA0CD"/>
                      </a:solidFill>
                      <a:prstDash val="solid"/>
                      <a:round/>
                      <a:headEnd type="none" w="med" len="med"/>
                      <a:tailEnd type="none" w="med" len="med"/>
                    </a:lnT>
                    <a:lnB>
                      <a:noFill/>
                    </a:lnB>
                    <a:solidFill>
                      <a:srgbClr val="7BA0CD"/>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w="12700" cap="flat" cmpd="sng" algn="ctr">
                      <a:solidFill>
                        <a:srgbClr val="D3DFEE"/>
                      </a:solidFill>
                      <a:prstDash val="solid"/>
                      <a:round/>
                      <a:headEnd type="none" w="med" len="med"/>
                      <a:tailEnd type="none" w="med" len="med"/>
                    </a:lnL>
                    <a:lnR>
                      <a:noFill/>
                    </a:lnR>
                    <a:lnT w="12700" cap="flat" cmpd="sng" algn="ctr">
                      <a:solidFill>
                        <a:srgbClr val="7BA0CD"/>
                      </a:solidFill>
                      <a:prstDash val="solid"/>
                      <a:round/>
                      <a:headEnd type="none" w="med" len="med"/>
                      <a:tailEnd type="none" w="med" len="med"/>
                    </a:lnT>
                    <a:lnB>
                      <a:noFill/>
                    </a:lnB>
                    <a:solidFill>
                      <a:srgbClr val="D3DFEE"/>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a:noFill/>
                    </a:lnR>
                    <a:lnT w="12700" cap="flat" cmpd="sng" algn="ctr">
                      <a:solidFill>
                        <a:srgbClr val="7BA0CD"/>
                      </a:solidFill>
                      <a:prstDash val="solid"/>
                      <a:round/>
                      <a:headEnd type="none" w="med" len="med"/>
                      <a:tailEnd type="none" w="med" len="med"/>
                    </a:lnT>
                    <a:lnB>
                      <a:noFill/>
                    </a:lnB>
                    <a:solidFill>
                      <a:srgbClr val="D3DFEE"/>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a:noFill/>
                    </a:lnR>
                    <a:lnT w="12700" cap="flat" cmpd="sng" algn="ctr">
                      <a:solidFill>
                        <a:srgbClr val="7BA0CD"/>
                      </a:solidFill>
                      <a:prstDash val="solid"/>
                      <a:round/>
                      <a:headEnd type="none" w="med" len="med"/>
                      <a:tailEnd type="none" w="med" len="med"/>
                    </a:lnT>
                    <a:lnB>
                      <a:noFill/>
                    </a:lnB>
                    <a:solidFill>
                      <a:srgbClr val="D3DFEE"/>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w="12700" cap="flat" cmpd="sng" algn="ctr">
                      <a:solidFill>
                        <a:srgbClr val="D3DFEE"/>
                      </a:solidFill>
                      <a:prstDash val="solid"/>
                      <a:round/>
                      <a:headEnd type="none" w="med" len="med"/>
                      <a:tailEnd type="none" w="med" len="med"/>
                    </a:lnR>
                    <a:lnT w="12700" cap="flat" cmpd="sng" algn="ctr">
                      <a:solidFill>
                        <a:srgbClr val="7BA0CD"/>
                      </a:solidFill>
                      <a:prstDash val="solid"/>
                      <a:round/>
                      <a:headEnd type="none" w="med" len="med"/>
                      <a:tailEnd type="none" w="med" len="med"/>
                    </a:lnT>
                    <a:lnB>
                      <a:noFill/>
                    </a:lnB>
                    <a:solidFill>
                      <a:srgbClr val="D3DFEE"/>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w="12700" cap="flat" cmpd="sng" algn="ctr">
                      <a:solidFill>
                        <a:srgbClr val="D3DFEE"/>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7BA0CD"/>
                      </a:solidFill>
                      <a:prstDash val="solid"/>
                      <a:round/>
                      <a:headEnd type="none" w="med" len="med"/>
                      <a:tailEnd type="none" w="med" len="med"/>
                    </a:lnT>
                    <a:lnB>
                      <a:noFill/>
                    </a:lnB>
                    <a:solidFill>
                      <a:srgbClr val="D3DFEE"/>
                    </a:solidFill>
                  </a:tcPr>
                </a:tc>
                <a:tc gridSpan="2">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7BA0CD"/>
                      </a:solidFill>
                      <a:prstDash val="solid"/>
                      <a:round/>
                      <a:headEnd type="none" w="med" len="med"/>
                      <a:tailEnd type="none" w="med" len="med"/>
                    </a:lnT>
                    <a:lnB>
                      <a:noFill/>
                    </a:lnB>
                    <a:solidFill>
                      <a:srgbClr val="D3DFEE"/>
                    </a:solidFill>
                  </a:tcPr>
                </a:tc>
                <a:tc hMerge="1">
                  <a:txBody>
                    <a:bodyPr/>
                    <a:lstStyle/>
                    <a:p>
                      <a:endParaRPr lang="en-US"/>
                    </a:p>
                  </a:txBody>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w="12700" cap="flat" cmpd="sng" algn="ctr">
                      <a:solidFill>
                        <a:srgbClr val="7BA0CD"/>
                      </a:solidFill>
                      <a:prstDash val="solid"/>
                      <a:round/>
                      <a:headEnd type="none" w="med" len="med"/>
                      <a:tailEnd type="none" w="med" len="med"/>
                    </a:lnR>
                    <a:lnT w="12700" cap="flat" cmpd="sng" algn="ctr">
                      <a:solidFill>
                        <a:srgbClr val="7BA0CD"/>
                      </a:solidFill>
                      <a:prstDash val="solid"/>
                      <a:round/>
                      <a:headEnd type="none" w="med" len="med"/>
                      <a:tailEnd type="none" w="med" len="med"/>
                    </a:lnT>
                    <a:lnB>
                      <a:noFill/>
                    </a:lnB>
                    <a:solidFill>
                      <a:srgbClr val="D3DFEE"/>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w="12700" cap="flat" cmpd="sng" algn="ctr">
                      <a:solidFill>
                        <a:srgbClr val="7BA0CD"/>
                      </a:solidFill>
                      <a:prstDash val="solid"/>
                      <a:round/>
                      <a:headEnd type="none" w="med" len="med"/>
                      <a:tailEnd type="none" w="med" len="med"/>
                    </a:lnL>
                    <a:lnR>
                      <a:noFill/>
                    </a:lnR>
                    <a:lnT>
                      <a:noFill/>
                    </a:lnT>
                    <a:lnB>
                      <a:noFill/>
                    </a:lnB>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09"/>
                  </a:ext>
                </a:extLst>
              </a:tr>
              <a:tr h="189008">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D3DFEE"/>
                      </a:solidFill>
                      <a:prstDash val="solid"/>
                      <a:round/>
                      <a:headEnd type="none" w="med" len="med"/>
                      <a:tailEnd type="none" w="med" len="med"/>
                    </a:lnR>
                    <a:lnT>
                      <a:noFill/>
                    </a:lnT>
                    <a:lnB>
                      <a:noFill/>
                    </a:lnB>
                    <a:solidFill>
                      <a:srgbClr val="7BA0CD"/>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D3DFEE"/>
                      </a:solidFill>
                      <a:prstDash val="solid"/>
                      <a:round/>
                      <a:headEnd type="none" w="med" len="med"/>
                      <a:tailEnd type="none" w="med" len="med"/>
                    </a:lnL>
                    <a:lnR>
                      <a:noFill/>
                    </a:lnR>
                    <a:lnT>
                      <a:noFill/>
                    </a:lnT>
                    <a:lnB>
                      <a:noFill/>
                    </a:lnB>
                    <a:solidFill>
                      <a:srgbClr val="D3DFEE"/>
                    </a:solidFill>
                  </a:tcPr>
                </a:tc>
                <a:tc>
                  <a:txBody>
                    <a:bodyPr/>
                    <a:lstStyle/>
                    <a:p>
                      <a:pPr marL="0" marR="0" algn="ctr">
                        <a:lnSpc>
                          <a:spcPts val="1590"/>
                        </a:lnSpc>
                        <a:spcBef>
                          <a:spcPts val="0"/>
                        </a:spcBef>
                        <a:spcAft>
                          <a:spcPts val="0"/>
                        </a:spcAft>
                      </a:pPr>
                      <a:r>
                        <a:rPr lang="en-US" sz="1400" b="1">
                          <a:latin typeface="Times New Roman"/>
                          <a:ea typeface="Times New Roman"/>
                          <a:cs typeface="Times New Roman"/>
                        </a:rPr>
                        <a:t>10</a:t>
                      </a:r>
                      <a:endParaRPr lang="en-US" sz="1100">
                        <a:latin typeface="Calibri"/>
                        <a:ea typeface="Times New Roman"/>
                        <a:cs typeface="Times New Roman"/>
                      </a:endParaRPr>
                    </a:p>
                  </a:txBody>
                  <a:tcPr marL="0" marR="0" marT="0" marB="0" anchor="b">
                    <a:lnL>
                      <a:noFill/>
                    </a:lnL>
                    <a:lnR>
                      <a:noFill/>
                    </a:lnR>
                    <a:lnT>
                      <a:noFill/>
                    </a:lnT>
                    <a:lnB>
                      <a:noFill/>
                    </a:lnB>
                    <a:solidFill>
                      <a:srgbClr val="D3DFEE"/>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a:noFill/>
                    </a:lnR>
                    <a:lnT>
                      <a:noFill/>
                    </a:lnT>
                    <a:lnB>
                      <a:noFill/>
                    </a:lnB>
                    <a:solidFill>
                      <a:srgbClr val="D3DFEE"/>
                    </a:solidFill>
                  </a:tcPr>
                </a:tc>
                <a:tc>
                  <a:txBody>
                    <a:bodyPr/>
                    <a:lstStyle/>
                    <a:p>
                      <a:pPr marL="0" marR="0">
                        <a:lnSpc>
                          <a:spcPct val="115000"/>
                        </a:lnSpc>
                        <a:spcBef>
                          <a:spcPts val="0"/>
                        </a:spcBef>
                        <a:spcAft>
                          <a:spcPts val="0"/>
                        </a:spcAft>
                      </a:pPr>
                      <a:endParaRPr lang="en-US" sz="1200" dirty="0">
                        <a:latin typeface="Times New Roman"/>
                        <a:ea typeface="Times New Roman"/>
                        <a:cs typeface="Times New Roman"/>
                      </a:endParaRPr>
                    </a:p>
                  </a:txBody>
                  <a:tcPr marL="0" marR="0" marT="0" marB="0" anchor="b">
                    <a:lnL>
                      <a:noFill/>
                    </a:lnL>
                    <a:lnR w="12700" cap="flat" cmpd="sng" algn="ctr">
                      <a:solidFill>
                        <a:srgbClr val="D3DFEE"/>
                      </a:solidFill>
                      <a:prstDash val="solid"/>
                      <a:round/>
                      <a:headEnd type="none" w="med" len="med"/>
                      <a:tailEnd type="none" w="med" len="med"/>
                    </a:lnR>
                    <a:lnT>
                      <a:noFill/>
                    </a:lnT>
                    <a:lnB>
                      <a:noFill/>
                    </a:lnB>
                    <a:solidFill>
                      <a:srgbClr val="D3DFEE"/>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D3DFEE"/>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D3DFEE"/>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solidFill>
                      <a:srgbClr val="D3DFEE"/>
                    </a:solidFill>
                  </a:tcPr>
                </a:tc>
                <a:tc>
                  <a:txBody>
                    <a:bodyPr/>
                    <a:lstStyle/>
                    <a:p>
                      <a:pPr marL="0" marR="0" algn="ctr">
                        <a:lnSpc>
                          <a:spcPts val="1590"/>
                        </a:lnSpc>
                        <a:spcBef>
                          <a:spcPts val="0"/>
                        </a:spcBef>
                        <a:spcAft>
                          <a:spcPts val="0"/>
                        </a:spcAft>
                      </a:pPr>
                      <a:r>
                        <a:rPr lang="en-US" sz="1400" b="1" dirty="0">
                          <a:latin typeface="Times New Roman"/>
                          <a:ea typeface="Times New Roman"/>
                          <a:cs typeface="Times New Roman"/>
                        </a:rPr>
                        <a:t>4</a:t>
                      </a:r>
                      <a:endParaRPr lang="en-US" sz="1100" dirty="0">
                        <a:latin typeface="Calibri"/>
                        <a:ea typeface="Times New Roman"/>
                        <a:cs typeface="Times New Roman"/>
                      </a:endParaRPr>
                    </a:p>
                  </a:txBody>
                  <a:tcPr marL="0" marR="0" marT="0" marB="0" anchor="b">
                    <a:lnL>
                      <a:noFill/>
                    </a:lnL>
                    <a:lnR>
                      <a:noFill/>
                    </a:lnR>
                    <a:lnT>
                      <a:noFill/>
                    </a:lnT>
                    <a:lnB>
                      <a:noFill/>
                    </a:lnB>
                    <a:solidFill>
                      <a:srgbClr val="D3DFEE"/>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7BA0CD"/>
                      </a:solidFill>
                      <a:prstDash val="solid"/>
                      <a:round/>
                      <a:headEnd type="none" w="med" len="med"/>
                      <a:tailEnd type="none" w="med" len="med"/>
                    </a:lnR>
                    <a:lnT>
                      <a:noFill/>
                    </a:lnT>
                    <a:lnB>
                      <a:noFill/>
                    </a:lnB>
                    <a:solidFill>
                      <a:srgbClr val="D3DFEE"/>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7BA0CD"/>
                      </a:solidFill>
                      <a:prstDash val="solid"/>
                      <a:round/>
                      <a:headEnd type="none" w="med" len="med"/>
                      <a:tailEnd type="none" w="med" len="med"/>
                    </a:lnL>
                    <a:lnR>
                      <a:noFill/>
                    </a:lnR>
                    <a:lnT>
                      <a:noFill/>
                    </a:lnT>
                    <a:lnB>
                      <a:noFill/>
                    </a:lnB>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10"/>
                  </a:ext>
                </a:extLst>
              </a:tr>
              <a:tr h="55127">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w="12700" cap="flat" cmpd="sng" algn="ctr">
                      <a:solidFill>
                        <a:srgbClr val="D3DFEE"/>
                      </a:solidFill>
                      <a:prstDash val="solid"/>
                      <a:round/>
                      <a:headEnd type="none" w="med" len="med"/>
                      <a:tailEnd type="none" w="med" len="med"/>
                    </a:lnR>
                    <a:lnT>
                      <a:noFill/>
                    </a:lnT>
                    <a:lnB w="12700" cap="flat" cmpd="sng" algn="ctr">
                      <a:solidFill>
                        <a:srgbClr val="7BA0CD"/>
                      </a:solidFill>
                      <a:prstDash val="solid"/>
                      <a:round/>
                      <a:headEnd type="none" w="med" len="med"/>
                      <a:tailEnd type="none" w="med" len="med"/>
                    </a:lnB>
                    <a:solidFill>
                      <a:srgbClr val="7BA0CD"/>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w="12700" cap="flat" cmpd="sng" algn="ctr">
                      <a:solidFill>
                        <a:srgbClr val="D3DFEE"/>
                      </a:solidFill>
                      <a:prstDash val="solid"/>
                      <a:round/>
                      <a:headEnd type="none" w="med" len="med"/>
                      <a:tailEnd type="none" w="med" len="med"/>
                    </a:lnL>
                    <a:lnR>
                      <a:noFill/>
                    </a:lnR>
                    <a:lnT>
                      <a:noFill/>
                    </a:lnT>
                    <a:lnB w="12700" cap="flat" cmpd="sng" algn="ctr">
                      <a:solidFill>
                        <a:srgbClr val="7BA0CD"/>
                      </a:solidFill>
                      <a:prstDash val="solid"/>
                      <a:round/>
                      <a:headEnd type="none" w="med" len="med"/>
                      <a:tailEnd type="none" w="med" len="med"/>
                    </a:lnB>
                    <a:solidFill>
                      <a:srgbClr val="D3DFEE"/>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a:noFill/>
                    </a:lnR>
                    <a:lnT>
                      <a:noFill/>
                    </a:lnT>
                    <a:lnB w="12700" cap="flat" cmpd="sng" algn="ctr">
                      <a:solidFill>
                        <a:srgbClr val="7BA0CD"/>
                      </a:solidFill>
                      <a:prstDash val="solid"/>
                      <a:round/>
                      <a:headEnd type="none" w="med" len="med"/>
                      <a:tailEnd type="none" w="med" len="med"/>
                    </a:lnB>
                    <a:solidFill>
                      <a:srgbClr val="D3DFEE"/>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a:noFill/>
                    </a:lnR>
                    <a:lnT>
                      <a:noFill/>
                    </a:lnT>
                    <a:lnB w="12700" cap="flat" cmpd="sng" algn="ctr">
                      <a:solidFill>
                        <a:srgbClr val="7BA0CD"/>
                      </a:solidFill>
                      <a:prstDash val="solid"/>
                      <a:round/>
                      <a:headEnd type="none" w="med" len="med"/>
                      <a:tailEnd type="none" w="med" len="med"/>
                    </a:lnB>
                    <a:solidFill>
                      <a:srgbClr val="D3DFEE"/>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w="12700" cap="flat" cmpd="sng" algn="ctr">
                      <a:solidFill>
                        <a:srgbClr val="D3DFEE"/>
                      </a:solidFill>
                      <a:prstDash val="solid"/>
                      <a:round/>
                      <a:headEnd type="none" w="med" len="med"/>
                      <a:tailEnd type="none" w="med" len="med"/>
                    </a:lnR>
                    <a:lnT>
                      <a:noFill/>
                    </a:lnT>
                    <a:lnB w="12700" cap="flat" cmpd="sng" algn="ctr">
                      <a:solidFill>
                        <a:srgbClr val="7BA0CD"/>
                      </a:solidFill>
                      <a:prstDash val="solid"/>
                      <a:round/>
                      <a:headEnd type="none" w="med" len="med"/>
                      <a:tailEnd type="none" w="med" len="med"/>
                    </a:lnB>
                    <a:solidFill>
                      <a:srgbClr val="D3DFEE"/>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w="12700" cap="flat" cmpd="sng" algn="ctr">
                      <a:solidFill>
                        <a:srgbClr val="D3DFEE"/>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7BA0CD"/>
                      </a:solidFill>
                      <a:prstDash val="solid"/>
                      <a:round/>
                      <a:headEnd type="none" w="med" len="med"/>
                      <a:tailEnd type="none" w="med" len="med"/>
                    </a:lnB>
                    <a:solidFill>
                      <a:srgbClr val="D3DFEE"/>
                    </a:solidFill>
                  </a:tcPr>
                </a:tc>
                <a:tc gridSpan="2">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7BA0CD"/>
                      </a:solidFill>
                      <a:prstDash val="solid"/>
                      <a:round/>
                      <a:headEnd type="none" w="med" len="med"/>
                      <a:tailEnd type="none" w="med" len="med"/>
                    </a:lnB>
                    <a:solidFill>
                      <a:srgbClr val="D3DFEE"/>
                    </a:solidFill>
                  </a:tcPr>
                </a:tc>
                <a:tc hMerge="1">
                  <a:txBody>
                    <a:bodyPr/>
                    <a:lstStyle/>
                    <a:p>
                      <a:endParaRPr lang="en-US"/>
                    </a:p>
                  </a:txBody>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a:noFill/>
                    </a:lnL>
                    <a:lnR w="12700" cap="flat" cmpd="sng" algn="ctr">
                      <a:solidFill>
                        <a:srgbClr val="7BA0CD"/>
                      </a:solidFill>
                      <a:prstDash val="solid"/>
                      <a:round/>
                      <a:headEnd type="none" w="med" len="med"/>
                      <a:tailEnd type="none" w="med" len="med"/>
                    </a:lnR>
                    <a:lnT>
                      <a:noFill/>
                    </a:lnT>
                    <a:lnB w="12700" cap="flat" cmpd="sng" algn="ctr">
                      <a:solidFill>
                        <a:srgbClr val="7BA0CD"/>
                      </a:solidFill>
                      <a:prstDash val="solid"/>
                      <a:round/>
                      <a:headEnd type="none" w="med" len="med"/>
                      <a:tailEnd type="none" w="med" len="med"/>
                    </a:lnB>
                    <a:solidFill>
                      <a:srgbClr val="D3DFEE"/>
                    </a:solidFill>
                  </a:tcPr>
                </a:tc>
                <a:tc>
                  <a:txBody>
                    <a:bodyPr/>
                    <a:lstStyle/>
                    <a:p>
                      <a:pPr marL="0" marR="0">
                        <a:lnSpc>
                          <a:spcPct val="115000"/>
                        </a:lnSpc>
                        <a:spcBef>
                          <a:spcPts val="0"/>
                        </a:spcBef>
                        <a:spcAft>
                          <a:spcPts val="0"/>
                        </a:spcAft>
                      </a:pPr>
                      <a:endParaRPr lang="en-US" sz="350">
                        <a:latin typeface="Times New Roman"/>
                        <a:ea typeface="Times New Roman"/>
                        <a:cs typeface="Times New Roman"/>
                      </a:endParaRPr>
                    </a:p>
                  </a:txBody>
                  <a:tcPr marL="0" marR="0" marT="0" marB="0" anchor="b">
                    <a:lnL w="12700" cap="flat" cmpd="sng" algn="ctr">
                      <a:solidFill>
                        <a:srgbClr val="7BA0CD"/>
                      </a:solidFill>
                      <a:prstDash val="solid"/>
                      <a:round/>
                      <a:headEnd type="none" w="med" len="med"/>
                      <a:tailEnd type="none" w="med" len="med"/>
                    </a:lnL>
                    <a:lnR>
                      <a:noFill/>
                    </a:lnR>
                    <a:lnT>
                      <a:noFill/>
                    </a:lnT>
                    <a:lnB>
                      <a:noFill/>
                    </a:lnB>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11"/>
                  </a:ext>
                </a:extLst>
              </a:tr>
              <a:tr h="251669">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a:noFill/>
                    </a:lnR>
                    <a:lnT w="12700" cap="flat" cmpd="sng" algn="ctr">
                      <a:solidFill>
                        <a:srgbClr val="7BA0CD"/>
                      </a:solidFill>
                      <a:prstDash val="solid"/>
                      <a:round/>
                      <a:headEnd type="none" w="med" len="med"/>
                      <a:tailEnd type="none" w="med" len="med"/>
                    </a:lnT>
                    <a:lnB>
                      <a:noFill/>
                    </a:lnB>
                    <a:solidFill>
                      <a:srgbClr val="7BA0CD"/>
                    </a:solidFill>
                  </a:tcPr>
                </a:tc>
                <a:tc gridSpan="2">
                  <a:txBody>
                    <a:bodyPr/>
                    <a:lstStyle/>
                    <a:p>
                      <a:pPr marL="50800" marR="0" algn="ctr">
                        <a:lnSpc>
                          <a:spcPct val="115000"/>
                        </a:lnSpc>
                        <a:spcBef>
                          <a:spcPts val="0"/>
                        </a:spcBef>
                        <a:spcAft>
                          <a:spcPts val="0"/>
                        </a:spcAft>
                      </a:pPr>
                      <a:r>
                        <a:rPr lang="en-US" sz="1400" b="1" dirty="0">
                          <a:latin typeface="Times New Roman"/>
                          <a:ea typeface="Times New Roman"/>
                          <a:cs typeface="Times New Roman"/>
                        </a:rPr>
                        <a:t>11</a:t>
                      </a:r>
                      <a:endParaRPr lang="en-US" sz="1100" dirty="0">
                        <a:latin typeface="Calibri"/>
                        <a:ea typeface="Times New Roman"/>
                        <a:cs typeface="Times New Roman"/>
                      </a:endParaRPr>
                    </a:p>
                  </a:txBody>
                  <a:tcPr marL="0" marR="0" marT="0" marB="0" anchor="b">
                    <a:lnL>
                      <a:noFill/>
                    </a:lnL>
                    <a:lnR>
                      <a:noFill/>
                    </a:lnR>
                    <a:lnT w="12700" cap="flat" cmpd="sng" algn="ctr">
                      <a:solidFill>
                        <a:srgbClr val="7BA0CD"/>
                      </a:solidFill>
                      <a:prstDash val="solid"/>
                      <a:round/>
                      <a:headEnd type="none" w="med" len="med"/>
                      <a:tailEnd type="none" w="med" len="med"/>
                    </a:lnT>
                    <a:lnB>
                      <a:noFill/>
                    </a:lnB>
                  </a:tcPr>
                </a:tc>
                <a:tc hMerge="1">
                  <a:txBody>
                    <a:bodyPr/>
                    <a:lstStyle/>
                    <a:p>
                      <a:endParaRPr lang="en-US"/>
                    </a:p>
                  </a:txBody>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a:noFill/>
                    </a:lnR>
                    <a:lnT w="12700" cap="flat" cmpd="sng" algn="ctr">
                      <a:solidFill>
                        <a:srgbClr val="7BA0CD"/>
                      </a:solidFill>
                      <a:prstDash val="solid"/>
                      <a:round/>
                      <a:headEnd type="none" w="med" len="med"/>
                      <a:tailEnd type="none" w="med" len="med"/>
                    </a:lnT>
                    <a:lnB>
                      <a:noFill/>
                    </a:lnB>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a:noFill/>
                    </a:lnR>
                    <a:lnT w="12700" cap="flat" cmpd="sng" algn="ctr">
                      <a:solidFill>
                        <a:srgbClr val="7BA0CD"/>
                      </a:solidFill>
                      <a:prstDash val="solid"/>
                      <a:round/>
                      <a:headEnd type="none" w="med" len="med"/>
                      <a:tailEnd type="none" w="med" len="med"/>
                    </a:lnT>
                    <a:lnB>
                      <a:noFill/>
                    </a:lnB>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7BA0CD"/>
                      </a:solidFill>
                      <a:prstDash val="solid"/>
                      <a:round/>
                      <a:headEnd type="none" w="med" len="med"/>
                      <a:tailEnd type="none" w="med" len="med"/>
                    </a:lnT>
                    <a:lnB>
                      <a:noFill/>
                    </a:lnB>
                  </a:tcPr>
                </a:tc>
                <a:tc gridSpan="2">
                  <a:txBody>
                    <a:bodyPr/>
                    <a:lstStyle/>
                    <a:p>
                      <a:pPr marL="0" marR="0" algn="ctr">
                        <a:lnSpc>
                          <a:spcPct val="115000"/>
                        </a:lnSpc>
                        <a:spcBef>
                          <a:spcPts val="0"/>
                        </a:spcBef>
                        <a:spcAft>
                          <a:spcPts val="0"/>
                        </a:spcAft>
                      </a:pPr>
                      <a:r>
                        <a:rPr lang="en-US" sz="1400" b="1">
                          <a:latin typeface="Times New Roman"/>
                          <a:ea typeface="Times New Roman"/>
                          <a:cs typeface="Times New Roman"/>
                        </a:rPr>
                        <a:t>8</a:t>
                      </a:r>
                      <a:endParaRPr lang="en-US" sz="110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7BA0CD"/>
                      </a:solidFill>
                      <a:prstDash val="solid"/>
                      <a:round/>
                      <a:headEnd type="none" w="med" len="med"/>
                      <a:tailEnd type="none" w="med" len="med"/>
                    </a:lnT>
                    <a:lnB>
                      <a:noFill/>
                    </a:lnB>
                  </a:tcPr>
                </a:tc>
                <a:tc hMerge="1">
                  <a:txBody>
                    <a:bodyPr/>
                    <a:lstStyle/>
                    <a:p>
                      <a:endParaRPr lang="en-US"/>
                    </a:p>
                  </a:txBody>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7BA0CD"/>
                      </a:solidFill>
                      <a:prstDash val="solid"/>
                      <a:round/>
                      <a:headEnd type="none" w="med" len="med"/>
                      <a:tailEnd type="none" w="med" len="med"/>
                    </a:lnR>
                    <a:lnT w="12700" cap="flat" cmpd="sng" algn="ctr">
                      <a:solidFill>
                        <a:srgbClr val="7BA0CD"/>
                      </a:solidFill>
                      <a:prstDash val="solid"/>
                      <a:round/>
                      <a:headEnd type="none" w="med" len="med"/>
                      <a:tailEnd type="none" w="med" len="med"/>
                    </a:lnT>
                    <a:lnB>
                      <a:noFill/>
                    </a:lnB>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7BA0CD"/>
                      </a:solidFill>
                      <a:prstDash val="solid"/>
                      <a:round/>
                      <a:headEnd type="none" w="med" len="med"/>
                      <a:tailEnd type="none" w="med" len="med"/>
                    </a:lnL>
                    <a:lnR>
                      <a:noFill/>
                    </a:lnR>
                    <a:lnT>
                      <a:noFill/>
                    </a:lnT>
                    <a:lnB>
                      <a:noFill/>
                    </a:lnB>
                  </a:tcPr>
                </a:tc>
                <a:tc>
                  <a:txBody>
                    <a:bodyPr/>
                    <a:lstStyle/>
                    <a:p>
                      <a:pPr marL="0" marR="0">
                        <a:lnSpc>
                          <a:spcPct val="115000"/>
                        </a:lnSpc>
                        <a:spcBef>
                          <a:spcPts val="0"/>
                        </a:spcBef>
                        <a:spcAft>
                          <a:spcPts val="0"/>
                        </a:spcAft>
                      </a:pPr>
                      <a:endParaRPr lang="en-US" sz="100" dirty="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12"/>
                  </a:ext>
                </a:extLst>
              </a:tr>
            </a:tbl>
          </a:graphicData>
        </a:graphic>
      </p:graphicFrame>
      <p:sp>
        <p:nvSpPr>
          <p:cNvPr id="3" name="Content Placeholder 2"/>
          <p:cNvSpPr>
            <a:spLocks noGrp="1"/>
          </p:cNvSpPr>
          <p:nvPr>
            <p:ph idx="1"/>
          </p:nvPr>
        </p:nvSpPr>
        <p:spPr>
          <a:xfrm>
            <a:off x="152400" y="601100"/>
            <a:ext cx="8991600" cy="3047999"/>
          </a:xfrm>
          <a:solidFill>
            <a:schemeClr val="bg1"/>
          </a:solidFill>
        </p:spPr>
        <p:txBody>
          <a:bodyPr>
            <a:normAutofit fontScale="25000" lnSpcReduction="20000"/>
          </a:bodyPr>
          <a:lstStyle/>
          <a:p>
            <a:pPr marL="0" lvl="0" indent="0" hangingPunct="0">
              <a:buNone/>
            </a:pPr>
            <a:r>
              <a:rPr lang="en-US" sz="8000" b="1" dirty="0" smtClean="0">
                <a:solidFill>
                  <a:srgbClr val="FF0000"/>
                </a:solidFill>
                <a:latin typeface="Times New Roman" panose="02020603050405020304" pitchFamily="18" charset="0"/>
                <a:cs typeface="Times New Roman" panose="02020603050405020304" pitchFamily="18" charset="0"/>
              </a:rPr>
              <a:t>Steps for PLL programming</a:t>
            </a:r>
          </a:p>
          <a:p>
            <a:pPr lvl="0" hangingPunct="0"/>
            <a:r>
              <a:rPr lang="en-US" sz="7200" dirty="0" smtClean="0">
                <a:latin typeface="Times New Roman" panose="02020603050405020304" pitchFamily="18" charset="0"/>
                <a:cs typeface="Times New Roman" panose="02020603050405020304" pitchFamily="18" charset="0"/>
              </a:rPr>
              <a:t>Select the desired operating frequency for your system (Processor operating frequency) CCLK. </a:t>
            </a:r>
          </a:p>
          <a:p>
            <a:pPr lvl="0" hangingPunct="0"/>
            <a:r>
              <a:rPr lang="en-US" sz="7200" dirty="0" smtClean="0">
                <a:latin typeface="Times New Roman" panose="02020603050405020304" pitchFamily="18" charset="0"/>
                <a:cs typeface="Times New Roman" panose="02020603050405020304" pitchFamily="18" charset="0"/>
              </a:rPr>
              <a:t>Check the oscillator connected to the controller on board. (FOSC) </a:t>
            </a:r>
          </a:p>
          <a:p>
            <a:pPr lvl="0" hangingPunct="0"/>
            <a:r>
              <a:rPr lang="en-US" sz="7200" dirty="0" smtClean="0">
                <a:latin typeface="Times New Roman" panose="02020603050405020304" pitchFamily="18" charset="0"/>
                <a:cs typeface="Times New Roman" panose="02020603050405020304" pitchFamily="18" charset="0"/>
              </a:rPr>
              <a:t>Calculate the value of PLL multiplier “M”. CCLK = M × FOSC </a:t>
            </a:r>
          </a:p>
          <a:p>
            <a:pPr lvl="0" hangingPunct="0"/>
            <a:r>
              <a:rPr lang="en-US" sz="7200" dirty="0" smtClean="0">
                <a:latin typeface="Times New Roman" panose="02020603050405020304" pitchFamily="18" charset="0"/>
                <a:cs typeface="Times New Roman" panose="02020603050405020304" pitchFamily="18" charset="0"/>
              </a:rPr>
              <a:t>Find the value of PLL Divider “P” in such a way that is in the range of 156 MHz to 320 </a:t>
            </a:r>
            <a:r>
              <a:rPr lang="en-US" sz="7200" dirty="0" err="1" smtClean="0">
                <a:latin typeface="Times New Roman" panose="02020603050405020304" pitchFamily="18" charset="0"/>
                <a:cs typeface="Times New Roman" panose="02020603050405020304" pitchFamily="18" charset="0"/>
              </a:rPr>
              <a:t>MHz.</a:t>
            </a:r>
            <a:r>
              <a:rPr lang="en-US" sz="7200" dirty="0" smtClean="0">
                <a:latin typeface="Times New Roman" panose="02020603050405020304" pitchFamily="18" charset="0"/>
                <a:cs typeface="Times New Roman" panose="02020603050405020304" pitchFamily="18" charset="0"/>
              </a:rPr>
              <a:t> </a:t>
            </a:r>
          </a:p>
          <a:p>
            <a:pPr hangingPunct="0"/>
            <a:r>
              <a:rPr lang="en-US" sz="7200" dirty="0" smtClean="0">
                <a:latin typeface="Times New Roman" panose="02020603050405020304" pitchFamily="18" charset="0"/>
                <a:cs typeface="Times New Roman" panose="02020603050405020304" pitchFamily="18" charset="0"/>
              </a:rPr>
              <a:t>156 &lt; FCCO &lt; 320 = CCLK x 2 x P </a:t>
            </a:r>
          </a:p>
          <a:p>
            <a:pPr lvl="0" hangingPunct="0"/>
            <a:r>
              <a:rPr lang="en-US" sz="7200" dirty="0" smtClean="0">
                <a:latin typeface="Times New Roman" panose="02020603050405020304" pitchFamily="18" charset="0"/>
                <a:cs typeface="Times New Roman" panose="02020603050405020304" pitchFamily="18" charset="0"/>
              </a:rPr>
              <a:t>Write the values PLLCON and PLLCFG. </a:t>
            </a:r>
          </a:p>
          <a:p>
            <a:pPr lvl="0" hangingPunct="0"/>
            <a:r>
              <a:rPr lang="en-US" sz="7200" dirty="0" smtClean="0">
                <a:latin typeface="Times New Roman" panose="02020603050405020304" pitchFamily="18" charset="0"/>
                <a:cs typeface="Times New Roman" panose="02020603050405020304" pitchFamily="18" charset="0"/>
              </a:rPr>
              <a:t>Write the PLLFEED Values 0xAA and 0x55. </a:t>
            </a:r>
          </a:p>
          <a:p>
            <a:pPr lvl="0" hangingPunct="0"/>
            <a:r>
              <a:rPr lang="en-US" sz="7200" dirty="0" smtClean="0">
                <a:latin typeface="Times New Roman" panose="02020603050405020304" pitchFamily="18" charset="0"/>
                <a:cs typeface="Times New Roman" panose="02020603050405020304" pitchFamily="18" charset="0"/>
              </a:rPr>
              <a:t>Wait for PLL to lock. </a:t>
            </a:r>
          </a:p>
          <a:p>
            <a:pPr hangingPunct="0"/>
            <a:r>
              <a:rPr lang="en-US" sz="7200" dirty="0" smtClean="0">
                <a:latin typeface="Times New Roman" panose="02020603050405020304" pitchFamily="18" charset="0"/>
                <a:cs typeface="Times New Roman" panose="02020603050405020304" pitchFamily="18" charset="0"/>
              </a:rPr>
              <a:t>Connect the PLL. </a:t>
            </a:r>
          </a:p>
          <a:p>
            <a:pPr lvl="0" hangingPunct="0"/>
            <a:endParaRPr lang="en-US" dirty="0" smtClean="0"/>
          </a:p>
          <a:p>
            <a:endParaRPr lang="en-US" dirty="0"/>
          </a:p>
        </p:txBody>
      </p:sp>
      <p:sp>
        <p:nvSpPr>
          <p:cNvPr id="5" name="Rectangle 4"/>
          <p:cNvSpPr/>
          <p:nvPr/>
        </p:nvSpPr>
        <p:spPr>
          <a:xfrm>
            <a:off x="552664" y="6468223"/>
            <a:ext cx="2942216" cy="369332"/>
          </a:xfrm>
          <a:prstGeom prst="rect">
            <a:avLst/>
          </a:prstGeom>
        </p:spPr>
        <p:txBody>
          <a:bodyPr wrap="none">
            <a:spAutoFit/>
          </a:bodyPr>
          <a:lstStyle/>
          <a:p>
            <a:r>
              <a:rPr lang="en-US" b="1" dirty="0" smtClean="0">
                <a:latin typeface="Times New Roman" panose="02020603050405020304" pitchFamily="18" charset="0"/>
                <a:cs typeface="Times New Roman" panose="02020603050405020304" pitchFamily="18" charset="0"/>
              </a:rPr>
              <a:t>Table 1: PLL Divider values</a:t>
            </a:r>
            <a:endParaRPr lang="en-US"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4114800" y="3429001"/>
            <a:ext cx="4832358" cy="3032748"/>
          </a:xfrm>
          <a:prstGeom prst="rect">
            <a:avLst/>
          </a:prstGeom>
        </p:spPr>
      </p:pic>
      <p:sp>
        <p:nvSpPr>
          <p:cNvPr id="7" name="Rectangle 6"/>
          <p:cNvSpPr/>
          <p:nvPr/>
        </p:nvSpPr>
        <p:spPr>
          <a:xfrm>
            <a:off x="4669971" y="6408385"/>
            <a:ext cx="3269228" cy="369332"/>
          </a:xfrm>
          <a:prstGeom prst="rect">
            <a:avLst/>
          </a:prstGeom>
        </p:spPr>
        <p:txBody>
          <a:bodyPr wrap="none">
            <a:spAutoFit/>
          </a:bodyPr>
          <a:lstStyle/>
          <a:p>
            <a:r>
              <a:rPr lang="en-US" b="1" dirty="0" smtClean="0">
                <a:latin typeface="Times New Roman" panose="02020603050405020304" pitchFamily="18" charset="0"/>
                <a:cs typeface="Times New Roman" panose="02020603050405020304" pitchFamily="18" charset="0"/>
              </a:rPr>
              <a:t>Table 2 : PLL Multiplier values</a:t>
            </a:r>
            <a:endParaRPr lang="en-US" dirty="0">
              <a:latin typeface="Times New Roman" panose="02020603050405020304" pitchFamily="18" charset="0"/>
              <a:cs typeface="Times New Roman" panose="02020603050405020304" pitchFamily="18" charset="0"/>
            </a:endParaRPr>
          </a:p>
        </p:txBody>
      </p:sp>
      <p:sp>
        <p:nvSpPr>
          <p:cNvPr id="8" name="Rectangle 7"/>
          <p:cNvSpPr/>
          <p:nvPr/>
        </p:nvSpPr>
        <p:spPr>
          <a:xfrm>
            <a:off x="2819400" y="10886"/>
            <a:ext cx="4195892" cy="661720"/>
          </a:xfrm>
          <a:prstGeom prst="rect">
            <a:avLst/>
          </a:prstGeom>
          <a:solidFill>
            <a:schemeClr val="bg1"/>
          </a:solidFill>
        </p:spPr>
        <p:txBody>
          <a:bodyPr wrap="none">
            <a:spAutoFit/>
          </a:bodyPr>
          <a:lstStyle/>
          <a:p>
            <a:r>
              <a:rPr lang="en-US" sz="3700" b="1" dirty="0">
                <a:latin typeface="Times New Roman" panose="02020603050405020304" pitchFamily="18" charset="0"/>
                <a:cs typeface="Times New Roman" panose="02020603050405020304" pitchFamily="18" charset="0"/>
              </a:rPr>
              <a:t>PLL Programming:</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1"/>
          <p:cNvSpPr>
            <a:spLocks noChangeArrowheads="1"/>
          </p:cNvSpPr>
          <p:nvPr/>
        </p:nvSpPr>
        <p:spPr bwMode="auto">
          <a:xfrm>
            <a:off x="152400" y="801858"/>
            <a:ext cx="8915400" cy="5539978"/>
          </a:xfrm>
          <a:prstGeom prst="rect">
            <a:avLst/>
          </a:prstGeom>
          <a:solidFill>
            <a:schemeClr val="bg1"/>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kumimoji="0" lang="en-US" sz="24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Example 1</a:t>
            </a:r>
            <a:r>
              <a:rPr kumimoji="0" lang="en-US" sz="24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an application not using the USB - configuring the PLL0</a:t>
            </a:r>
            <a:r>
              <a:rPr kumimoji="0" lang="en-US" sz="2400" b="1"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24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System design asks for FOSC= 10 MHz and requires CCLK = 60 MHz. Based on these specifications,</a:t>
            </a:r>
            <a:endPar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M = CCLK / </a:t>
            </a:r>
            <a:r>
              <a:rPr kumimoji="0" lang="en-US" sz="2400" b="0" i="0" u="none" strike="noStrike" cap="none" normalizeH="0" baseline="0" dirty="0" err="1" smtClean="0">
                <a:ln>
                  <a:noFill/>
                </a:ln>
                <a:solidFill>
                  <a:schemeClr val="tx1"/>
                </a:solidFill>
                <a:effectLst/>
                <a:latin typeface="Times New Roman" pitchFamily="18" charset="0"/>
                <a:ea typeface="Times New Roman" pitchFamily="18" charset="0"/>
                <a:cs typeface="Times New Roman" pitchFamily="18" charset="0"/>
              </a:rPr>
              <a:t>Fosc</a:t>
            </a: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 60 MHz / 10 MHz = 6.</a:t>
            </a:r>
            <a:endPar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Consequently,</a:t>
            </a:r>
            <a:endPar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M - 1 = 5 will be written as PLLCFG[4:0]</a:t>
            </a:r>
            <a:endPar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Value for P can be derived from P = FCCO/ (CCLK x 2), using condition that FCCO must be in range of 156 MHz to 320 MHz.</a:t>
            </a:r>
          </a:p>
          <a:p>
            <a:pPr hangingPunct="0"/>
            <a:r>
              <a:rPr lang="en-US" sz="2400" dirty="0" smtClean="0">
                <a:latin typeface="Times New Roman" panose="02020603050405020304" pitchFamily="18" charset="0"/>
                <a:cs typeface="Times New Roman" panose="02020603050405020304" pitchFamily="18" charset="0"/>
              </a:rPr>
              <a:t>Assuming the lowest allowed frequency for FCCO = 156 MHz, P = 156 MHz / (2 x 60 MHz) = 1.3.</a:t>
            </a:r>
          </a:p>
          <a:p>
            <a:r>
              <a:rPr lang="en-US" sz="2400" dirty="0" smtClean="0">
                <a:latin typeface="Times New Roman" panose="02020603050405020304" pitchFamily="18" charset="0"/>
                <a:cs typeface="Times New Roman" panose="02020603050405020304" pitchFamily="18" charset="0"/>
              </a:rPr>
              <a:t>The highest FCCO frequency criteria produces P = 2.67.</a:t>
            </a:r>
          </a:p>
          <a:p>
            <a:pPr hangingPunct="0"/>
            <a:r>
              <a:rPr lang="en-US" sz="2400" dirty="0" smtClean="0">
                <a:latin typeface="Times New Roman" panose="02020603050405020304" pitchFamily="18" charset="0"/>
                <a:cs typeface="Times New Roman" panose="02020603050405020304" pitchFamily="18" charset="0"/>
              </a:rPr>
              <a:t>The only solution for P that satisfies both of these requirements and is listed in Table1 is P = 2.         </a:t>
            </a:r>
          </a:p>
          <a:p>
            <a:pPr hangingPunct="0"/>
            <a:r>
              <a:rPr lang="en-US" sz="2400" dirty="0" smtClean="0">
                <a:latin typeface="Times New Roman" panose="02020603050405020304" pitchFamily="18" charset="0"/>
                <a:cs typeface="Times New Roman" panose="02020603050405020304" pitchFamily="18" charset="0"/>
              </a:rPr>
              <a:t>Therefore, PLLCFG[6:5] = 1 will be used.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3" name="Footer Placeholder 2"/>
          <p:cNvSpPr>
            <a:spLocks noGrp="1"/>
          </p:cNvSpPr>
          <p:nvPr>
            <p:ph type="ftr" sz="quarter" idx="11"/>
          </p:nvPr>
        </p:nvSpPr>
        <p:spPr/>
        <p:txBody>
          <a:bodyPr/>
          <a:lstStyle/>
          <a:p>
            <a:r>
              <a:rPr lang="en-US" altLang="en-US" b="1" dirty="0"/>
              <a:t>Dr. S. S. </a:t>
            </a:r>
            <a:r>
              <a:rPr lang="en-US" altLang="en-US" b="1" dirty="0" err="1"/>
              <a:t>Lavhate</a:t>
            </a:r>
            <a:endParaRPr lang="en-US" altLang="en-US" b="1" dirty="0"/>
          </a:p>
        </p:txBody>
      </p:sp>
      <p:sp>
        <p:nvSpPr>
          <p:cNvPr id="6" name="Rectangle 5"/>
          <p:cNvSpPr/>
          <p:nvPr/>
        </p:nvSpPr>
        <p:spPr>
          <a:xfrm>
            <a:off x="772036" y="-82562"/>
            <a:ext cx="7904728" cy="646331"/>
          </a:xfrm>
          <a:prstGeom prst="rect">
            <a:avLst/>
          </a:prstGeom>
        </p:spPr>
        <p:txBody>
          <a:bodyPr wrap="none">
            <a:spAutoFit/>
          </a:bodyPr>
          <a:lstStyle/>
          <a:p>
            <a:r>
              <a:rPr lang="en-US" sz="3600" b="1" dirty="0">
                <a:latin typeface="Times New Roman" panose="02020603050405020304" pitchFamily="18" charset="0"/>
                <a:cs typeface="Times New Roman" panose="02020603050405020304" pitchFamily="18" charset="0"/>
              </a:rPr>
              <a:t>PLL0 and PLL1 configuring examples:</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457200"/>
            <a:ext cx="8839200" cy="5715000"/>
          </a:xfrm>
          <a:solidFill>
            <a:schemeClr val="bg1"/>
          </a:solidFill>
        </p:spPr>
        <p:txBody>
          <a:bodyPr>
            <a:noAutofit/>
          </a:bodyPr>
          <a:lstStyle/>
          <a:p>
            <a:pPr algn="just"/>
            <a:r>
              <a:rPr lang="en-US" sz="2200" b="1" dirty="0" smtClean="0">
                <a:latin typeface="Times New Roman" panose="02020603050405020304" pitchFamily="18" charset="0"/>
                <a:cs typeface="Times New Roman" panose="02020603050405020304" pitchFamily="18" charset="0"/>
              </a:rPr>
              <a:t>Example 2: </a:t>
            </a:r>
            <a:r>
              <a:rPr lang="en-US" sz="2200" dirty="0" smtClean="0">
                <a:latin typeface="Times New Roman" panose="02020603050405020304" pitchFamily="18" charset="0"/>
                <a:cs typeface="Times New Roman" panose="02020603050405020304" pitchFamily="18" charset="0"/>
              </a:rPr>
              <a:t>an application using the USB - configuring the PLL1</a:t>
            </a:r>
          </a:p>
          <a:p>
            <a:pPr algn="just" hangingPunct="0"/>
            <a:r>
              <a:rPr lang="en-US" sz="2200" dirty="0" smtClean="0">
                <a:latin typeface="Times New Roman" panose="02020603050405020304" pitchFamily="18" charset="0"/>
                <a:cs typeface="Times New Roman" panose="02020603050405020304" pitchFamily="18" charset="0"/>
              </a:rPr>
              <a:t>System design asks for FOSC= 12 MHz and requires the USB clock of 48 </a:t>
            </a:r>
            <a:r>
              <a:rPr lang="en-US" sz="2200" dirty="0" err="1" smtClean="0">
                <a:latin typeface="Times New Roman" panose="02020603050405020304" pitchFamily="18" charset="0"/>
                <a:cs typeface="Times New Roman" panose="02020603050405020304" pitchFamily="18" charset="0"/>
              </a:rPr>
              <a:t>MHz.</a:t>
            </a:r>
            <a:r>
              <a:rPr lang="en-US" sz="2200" dirty="0" smtClean="0">
                <a:latin typeface="Times New Roman" panose="02020603050405020304" pitchFamily="18" charset="0"/>
                <a:cs typeface="Times New Roman" panose="02020603050405020304" pitchFamily="18" charset="0"/>
              </a:rPr>
              <a:t> Based on these specifications,</a:t>
            </a:r>
          </a:p>
          <a:p>
            <a:pPr algn="just"/>
            <a:r>
              <a:rPr lang="en-US" sz="2200" dirty="0" smtClean="0">
                <a:latin typeface="Times New Roman" panose="02020603050405020304" pitchFamily="18" charset="0"/>
                <a:cs typeface="Times New Roman" panose="02020603050405020304" pitchFamily="18" charset="0"/>
              </a:rPr>
              <a:t>M = 48 MHz / </a:t>
            </a:r>
            <a:r>
              <a:rPr lang="en-US" sz="2200" dirty="0" err="1" smtClean="0">
                <a:latin typeface="Times New Roman" panose="02020603050405020304" pitchFamily="18" charset="0"/>
                <a:cs typeface="Times New Roman" panose="02020603050405020304" pitchFamily="18" charset="0"/>
              </a:rPr>
              <a:t>Fosc</a:t>
            </a:r>
            <a:r>
              <a:rPr lang="en-US" sz="2200" dirty="0" smtClean="0">
                <a:latin typeface="Times New Roman" panose="02020603050405020304" pitchFamily="18" charset="0"/>
                <a:cs typeface="Times New Roman" panose="02020603050405020304" pitchFamily="18" charset="0"/>
              </a:rPr>
              <a:t> = 48 MHz / 12 MHz = 4.</a:t>
            </a:r>
          </a:p>
          <a:p>
            <a:pPr algn="just"/>
            <a:r>
              <a:rPr lang="en-US" sz="2200" dirty="0" smtClean="0">
                <a:latin typeface="Times New Roman" panose="02020603050405020304" pitchFamily="18" charset="0"/>
                <a:cs typeface="Times New Roman" panose="02020603050405020304" pitchFamily="18" charset="0"/>
              </a:rPr>
              <a:t>Consequently,</a:t>
            </a:r>
          </a:p>
          <a:p>
            <a:pPr algn="just"/>
            <a:r>
              <a:rPr lang="en-US" sz="2200" dirty="0" smtClean="0">
                <a:latin typeface="Times New Roman" panose="02020603050405020304" pitchFamily="18" charset="0"/>
                <a:cs typeface="Times New Roman" panose="02020603050405020304" pitchFamily="18" charset="0"/>
              </a:rPr>
              <a:t>M - 1 = 3 will be written as PLLCFG[4:0]</a:t>
            </a:r>
          </a:p>
          <a:p>
            <a:pPr algn="just" hangingPunct="0"/>
            <a:r>
              <a:rPr lang="en-US" sz="2200" dirty="0" smtClean="0">
                <a:latin typeface="Times New Roman" panose="02020603050405020304" pitchFamily="18" charset="0"/>
                <a:cs typeface="Times New Roman" panose="02020603050405020304" pitchFamily="18" charset="0"/>
              </a:rPr>
              <a:t>Value for P can be derived from P = FCCO / (48 MHz x 2), using condition that FCCO must be in range of 156 MHz to 320 </a:t>
            </a:r>
            <a:r>
              <a:rPr lang="en-US" sz="2200" dirty="0" err="1" smtClean="0">
                <a:latin typeface="Times New Roman" panose="02020603050405020304" pitchFamily="18" charset="0"/>
                <a:cs typeface="Times New Roman" panose="02020603050405020304" pitchFamily="18" charset="0"/>
              </a:rPr>
              <a:t>MHz.</a:t>
            </a:r>
            <a:endParaRPr lang="en-US" sz="2200" dirty="0" smtClean="0">
              <a:latin typeface="Times New Roman" panose="02020603050405020304" pitchFamily="18" charset="0"/>
              <a:cs typeface="Times New Roman" panose="02020603050405020304" pitchFamily="18" charset="0"/>
            </a:endParaRPr>
          </a:p>
          <a:p>
            <a:pPr algn="just" hangingPunct="0"/>
            <a:r>
              <a:rPr lang="en-US" sz="2200" dirty="0" smtClean="0">
                <a:latin typeface="Times New Roman" panose="02020603050405020304" pitchFamily="18" charset="0"/>
                <a:cs typeface="Times New Roman" panose="02020603050405020304" pitchFamily="18" charset="0"/>
              </a:rPr>
              <a:t>Assuming the lowest allowed frequency for FCCO = 156 MHz, P = 156 MHz / (2 x 48 MHz) = 1.625.</a:t>
            </a:r>
          </a:p>
          <a:p>
            <a:pPr algn="just"/>
            <a:r>
              <a:rPr lang="en-US" sz="2200" dirty="0" smtClean="0">
                <a:latin typeface="Times New Roman" panose="02020603050405020304" pitchFamily="18" charset="0"/>
                <a:cs typeface="Times New Roman" panose="02020603050405020304" pitchFamily="18" charset="0"/>
              </a:rPr>
              <a:t>The highest FCCO frequency criteria produces P = 3.33.</a:t>
            </a:r>
          </a:p>
          <a:p>
            <a:pPr algn="just" hangingPunct="0"/>
            <a:r>
              <a:rPr lang="en-US" sz="2200" dirty="0" smtClean="0">
                <a:latin typeface="Times New Roman" panose="02020603050405020304" pitchFamily="18" charset="0"/>
                <a:cs typeface="Times New Roman" panose="02020603050405020304" pitchFamily="18" charset="0"/>
              </a:rPr>
              <a:t>Solution for P that satisfy both of these requirements and are listed in Table 1 are P = 2 and P = 3.</a:t>
            </a:r>
          </a:p>
          <a:p>
            <a:pPr algn="just" hangingPunct="0"/>
            <a:r>
              <a:rPr lang="en-US" sz="2200" dirty="0" smtClean="0">
                <a:latin typeface="Times New Roman" panose="02020603050405020304" pitchFamily="18" charset="0"/>
                <a:cs typeface="Times New Roman" panose="02020603050405020304" pitchFamily="18" charset="0"/>
              </a:rPr>
              <a:t>Therefore, either of these two values can be used to program PLLCFG[6:5] in the PLL1.</a:t>
            </a:r>
          </a:p>
          <a:p>
            <a:endParaRPr lang="en-US" sz="2400" dirty="0"/>
          </a:p>
        </p:txBody>
      </p:sp>
      <p:sp>
        <p:nvSpPr>
          <p:cNvPr id="4" name="Footer Placeholder 3"/>
          <p:cNvSpPr>
            <a:spLocks noGrp="1"/>
          </p:cNvSpPr>
          <p:nvPr>
            <p:ph type="ftr" sz="quarter" idx="11"/>
          </p:nvPr>
        </p:nvSpPr>
        <p:spPr/>
        <p:txBody>
          <a:bodyPr/>
          <a:lstStyle/>
          <a:p>
            <a:r>
              <a:rPr lang="en-US" altLang="en-US" b="1" dirty="0"/>
              <a:t>Dr. S. S. </a:t>
            </a:r>
            <a:r>
              <a:rPr lang="en-US" altLang="en-US" b="1" dirty="0" err="1"/>
              <a:t>Lavhate</a:t>
            </a:r>
            <a:endParaRPr lang="en-US" altLang="en-US" b="1"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PLL Programming flow chart</a:t>
            </a:r>
            <a:endParaRPr lang="en-US" b="1"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2143551" y="1600994"/>
            <a:ext cx="4414411" cy="5028406"/>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altLang="en-US" b="1" dirty="0"/>
              <a:t>Dr. S. S. </a:t>
            </a:r>
            <a:r>
              <a:rPr lang="en-US" altLang="en-US" b="1" dirty="0" err="1"/>
              <a:t>Lavhate</a:t>
            </a:r>
            <a:endParaRPr lang="en-US" altLang="en-US" b="1" dirty="0"/>
          </a:p>
        </p:txBody>
      </p:sp>
      <p:sp>
        <p:nvSpPr>
          <p:cNvPr id="3" name="TextBox 2"/>
          <p:cNvSpPr txBox="1"/>
          <p:nvPr/>
        </p:nvSpPr>
        <p:spPr>
          <a:xfrm>
            <a:off x="3162300" y="5117613"/>
            <a:ext cx="533400" cy="400110"/>
          </a:xfrm>
          <a:prstGeom prst="rect">
            <a:avLst/>
          </a:prstGeom>
          <a:noFill/>
          <a:ln>
            <a:solidFill>
              <a:schemeClr val="bg1"/>
            </a:solidFill>
          </a:ln>
        </p:spPr>
        <p:txBody>
          <a:bodyPr wrap="square" rtlCol="0">
            <a:spAutoFit/>
          </a:bodyPr>
          <a:lstStyle/>
          <a:p>
            <a:r>
              <a:rPr lang="en-US" sz="2000" b="1" dirty="0" smtClean="0"/>
              <a:t>No</a:t>
            </a:r>
            <a:endParaRPr lang="en-US" sz="2000" b="1" dirty="0"/>
          </a:p>
        </p:txBody>
      </p:sp>
      <p:sp>
        <p:nvSpPr>
          <p:cNvPr id="6" name="TextBox 5"/>
          <p:cNvSpPr txBox="1"/>
          <p:nvPr/>
        </p:nvSpPr>
        <p:spPr>
          <a:xfrm>
            <a:off x="4648200" y="5391090"/>
            <a:ext cx="533400" cy="400110"/>
          </a:xfrm>
          <a:prstGeom prst="rect">
            <a:avLst/>
          </a:prstGeom>
          <a:noFill/>
          <a:ln>
            <a:solidFill>
              <a:schemeClr val="bg1"/>
            </a:solidFill>
          </a:ln>
        </p:spPr>
        <p:txBody>
          <a:bodyPr wrap="square" rtlCol="0">
            <a:spAutoFit/>
          </a:bodyPr>
          <a:lstStyle/>
          <a:p>
            <a:r>
              <a:rPr lang="en-US" sz="2000" b="1" dirty="0" smtClean="0"/>
              <a:t>Yes</a:t>
            </a:r>
            <a:endParaRPr lang="en-US" sz="2000" b="1"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533399"/>
            <a:ext cx="8991600" cy="6188075"/>
          </a:xfrm>
          <a:solidFill>
            <a:schemeClr val="bg1"/>
          </a:solidFill>
        </p:spPr>
        <p:txBody>
          <a:bodyPr>
            <a:normAutofit fontScale="47500" lnSpcReduction="20000"/>
          </a:bodyPr>
          <a:lstStyle/>
          <a:p>
            <a:r>
              <a:rPr lang="en-US" dirty="0" smtClean="0">
                <a:latin typeface="Times New Roman" pitchFamily="18" charset="0"/>
                <a:cs typeface="Times New Roman" pitchFamily="18" charset="0"/>
              </a:rPr>
              <a:t> </a:t>
            </a:r>
          </a:p>
          <a:p>
            <a:pPr marL="231775" indent="-168275" algn="just" hangingPunct="0"/>
            <a:r>
              <a:rPr lang="en-US" sz="5100" dirty="0" smtClean="0">
                <a:latin typeface="Times New Roman" pitchFamily="18" charset="0"/>
                <a:cs typeface="Times New Roman" pitchFamily="18" charset="0"/>
              </a:rPr>
              <a:t>The VPB divider determines the relationship between the processor clock (CCLK) and the clock used by peripheral devices (PCLK).</a:t>
            </a:r>
          </a:p>
          <a:p>
            <a:pPr marL="231775" indent="-168275" algn="just" hangingPunct="0"/>
            <a:endParaRPr lang="en-US" sz="2200" dirty="0" smtClean="0">
              <a:latin typeface="Times New Roman" pitchFamily="18" charset="0"/>
              <a:cs typeface="Times New Roman" pitchFamily="18" charset="0"/>
            </a:endParaRPr>
          </a:p>
          <a:p>
            <a:pPr marL="231775" indent="-168275" algn="just"/>
            <a:r>
              <a:rPr lang="en-US" sz="5100" dirty="0" smtClean="0">
                <a:latin typeface="Times New Roman" pitchFamily="18" charset="0"/>
                <a:cs typeface="Times New Roman" pitchFamily="18" charset="0"/>
              </a:rPr>
              <a:t>The VPB divider serves two purposes.</a:t>
            </a:r>
          </a:p>
          <a:p>
            <a:pPr marL="231775" indent="-168275" algn="just"/>
            <a:endParaRPr lang="en-US" sz="2800" dirty="0" smtClean="0">
              <a:latin typeface="Times New Roman" pitchFamily="18" charset="0"/>
              <a:cs typeface="Times New Roman" pitchFamily="18" charset="0"/>
            </a:endParaRPr>
          </a:p>
          <a:p>
            <a:pPr marL="231775" lvl="0" indent="-168275" algn="just" hangingPunct="0"/>
            <a:r>
              <a:rPr lang="en-US" sz="5100" dirty="0" smtClean="0">
                <a:latin typeface="Times New Roman" pitchFamily="18" charset="0"/>
                <a:cs typeface="Times New Roman" pitchFamily="18" charset="0"/>
              </a:rPr>
              <a:t>The first is to provide peripherals with the desired PCLK via VPB bus so that they can operate at the speed chosen for the ARM processor. </a:t>
            </a:r>
          </a:p>
          <a:p>
            <a:pPr marL="231775" lvl="0" indent="-168275" algn="just" hangingPunct="0"/>
            <a:endParaRPr lang="en-US" sz="2200" dirty="0" smtClean="0">
              <a:latin typeface="Times New Roman" pitchFamily="18" charset="0"/>
              <a:cs typeface="Times New Roman" pitchFamily="18" charset="0"/>
            </a:endParaRPr>
          </a:p>
          <a:p>
            <a:pPr marL="231775" indent="-168275" algn="just" hangingPunct="0"/>
            <a:r>
              <a:rPr lang="en-US" sz="5100" dirty="0" smtClean="0">
                <a:latin typeface="Times New Roman" pitchFamily="18" charset="0"/>
                <a:cs typeface="Times New Roman" pitchFamily="18" charset="0"/>
              </a:rPr>
              <a:t>In order to achieve this, the VPB bus may be slowed down to 1⁄2 to 1⁄4 of the processor clock rate. Because the VPB bus must work properly at power-up (and its timing cannot be altered if it does not work since the VPB divider control registers reside on the VPB bus), the default condition at reset is for the VPB bus to run at 1⁄4 of the processor clock rate.</a:t>
            </a:r>
          </a:p>
          <a:p>
            <a:pPr marL="231775" indent="-168275" algn="just" hangingPunct="0"/>
            <a:endParaRPr lang="en-US" sz="2200" dirty="0" smtClean="0">
              <a:latin typeface="Times New Roman" pitchFamily="18" charset="0"/>
              <a:cs typeface="Times New Roman" pitchFamily="18" charset="0"/>
            </a:endParaRPr>
          </a:p>
          <a:p>
            <a:pPr marL="231775" lvl="0" indent="-168275" algn="just" hangingPunct="0"/>
            <a:r>
              <a:rPr lang="en-US" sz="5100" dirty="0" smtClean="0">
                <a:latin typeface="Times New Roman" pitchFamily="18" charset="0"/>
                <a:cs typeface="Times New Roman" pitchFamily="18" charset="0"/>
              </a:rPr>
              <a:t>The second purpose of the VPB divider is to allow power savings when an application does not require any peripherals to run at the full processor rate. Because the VPB divider is connected to the PLL output, the PLL remains active (if it was running) during Idle mode </a:t>
            </a:r>
            <a:r>
              <a:rPr lang="en-US" dirty="0" smtClean="0">
                <a:latin typeface="Times New Roman" pitchFamily="18" charset="0"/>
                <a:cs typeface="Times New Roman" pitchFamily="18" charset="0"/>
              </a:rPr>
              <a:t>. </a:t>
            </a:r>
          </a:p>
        </p:txBody>
      </p:sp>
      <p:sp>
        <p:nvSpPr>
          <p:cNvPr id="2" name="Title 1"/>
          <p:cNvSpPr>
            <a:spLocks noGrp="1"/>
          </p:cNvSpPr>
          <p:nvPr>
            <p:ph type="title"/>
          </p:nvPr>
        </p:nvSpPr>
        <p:spPr>
          <a:xfrm>
            <a:off x="533400" y="0"/>
            <a:ext cx="8229600" cy="639762"/>
          </a:xfrm>
          <a:solidFill>
            <a:schemeClr val="bg1"/>
          </a:solidFill>
        </p:spPr>
        <p:txBody>
          <a:bodyPr>
            <a:normAutofit fontScale="90000"/>
          </a:bodyPr>
          <a:lstStyle/>
          <a:p>
            <a:r>
              <a:rPr lang="en-US" b="1" dirty="0" smtClean="0"/>
              <a:t/>
            </a:r>
            <a:br>
              <a:rPr lang="en-US" b="1" dirty="0" smtClean="0"/>
            </a:br>
            <a:r>
              <a:rPr lang="en-US" b="1" dirty="0" smtClean="0">
                <a:latin typeface="Times New Roman" panose="02020603050405020304" pitchFamily="18" charset="0"/>
                <a:cs typeface="Times New Roman" panose="02020603050405020304" pitchFamily="18" charset="0"/>
              </a:rPr>
              <a:t>VPB Divider:</a:t>
            </a:r>
            <a:r>
              <a:rPr lang="en-US" b="1" dirty="0" smtClean="0"/>
              <a:t/>
            </a:r>
            <a:br>
              <a:rPr lang="en-US" b="1" dirty="0" smtClean="0"/>
            </a:br>
            <a:endParaRPr lang="en-US" b="1" dirty="0"/>
          </a:p>
        </p:txBody>
      </p:sp>
      <p:sp>
        <p:nvSpPr>
          <p:cNvPr id="5" name="Footer Placeholder 4"/>
          <p:cNvSpPr>
            <a:spLocks noGrp="1"/>
          </p:cNvSpPr>
          <p:nvPr>
            <p:ph type="ftr" sz="quarter" idx="11"/>
          </p:nvPr>
        </p:nvSpPr>
        <p:spPr/>
        <p:txBody>
          <a:bodyPr/>
          <a:lstStyle/>
          <a:p>
            <a:r>
              <a:rPr lang="en-US" altLang="en-US" b="1" dirty="0"/>
              <a:t>Dr. S. S. </a:t>
            </a:r>
            <a:r>
              <a:rPr lang="en-US" altLang="en-US" b="1" dirty="0" err="1"/>
              <a:t>Lavhate</a:t>
            </a:r>
            <a:endParaRPr lang="en-US" altLang="en-US" b="1"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1"/>
          <p:cNvSpPr>
            <a:spLocks noChangeArrowheads="1"/>
          </p:cNvSpPr>
          <p:nvPr/>
        </p:nvSpPr>
        <p:spPr bwMode="auto">
          <a:xfrm>
            <a:off x="0" y="4803576"/>
            <a:ext cx="9067800" cy="1200329"/>
          </a:xfrm>
          <a:prstGeom prst="rect">
            <a:avLst/>
          </a:prstGeom>
          <a:solidFill>
            <a:schemeClr val="bg1"/>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1" fontAlgn="base" latinLnBrk="0" hangingPunct="1">
              <a:lnSpc>
                <a:spcPct val="100000"/>
              </a:lnSpc>
              <a:spcBef>
                <a:spcPct val="0"/>
              </a:spcBef>
              <a:spcAft>
                <a:spcPct val="0"/>
              </a:spcAft>
              <a:buClrTx/>
              <a:buSzTx/>
              <a:buFont typeface="Wingdings" panose="05000000000000000000" pitchFamily="2" charset="2"/>
              <a:buChar char="§"/>
              <a:tabLst>
                <a:tab pos="114300" algn="l"/>
              </a:tabLst>
            </a:pP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VPBDIV registers least 2 significant bits can be changed for desired PCLK </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tab pos="114300" algn="l"/>
              </a:tabLst>
            </a:pP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Peripherals on LPC2000 series can run at the full 60 MHz clock. </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pic>
        <p:nvPicPr>
          <p:cNvPr id="4" name="Content Placeholder 3"/>
          <p:cNvPicPr>
            <a:picLocks noGrp="1"/>
          </p:cNvPicPr>
          <p:nvPr>
            <p:ph idx="1"/>
          </p:nvPr>
        </p:nvPicPr>
        <p:blipFill>
          <a:blip r:embed="rId2" cstate="print"/>
          <a:srcRect/>
          <a:stretch>
            <a:fillRect/>
          </a:stretch>
        </p:blipFill>
        <p:spPr bwMode="auto">
          <a:xfrm>
            <a:off x="419100" y="838200"/>
            <a:ext cx="8229600" cy="3360121"/>
          </a:xfrm>
          <a:prstGeom prst="rect">
            <a:avLst/>
          </a:prstGeom>
          <a:noFill/>
        </p:spPr>
      </p:pic>
      <p:sp>
        <p:nvSpPr>
          <p:cNvPr id="3" name="Footer Placeholder 2"/>
          <p:cNvSpPr>
            <a:spLocks noGrp="1"/>
          </p:cNvSpPr>
          <p:nvPr>
            <p:ph type="ftr" sz="quarter" idx="11"/>
          </p:nvPr>
        </p:nvSpPr>
        <p:spPr/>
        <p:txBody>
          <a:bodyPr/>
          <a:lstStyle/>
          <a:p>
            <a:r>
              <a:rPr lang="en-US" altLang="en-US" b="1" dirty="0"/>
              <a:t>Dr. S. S. </a:t>
            </a:r>
            <a:r>
              <a:rPr lang="en-US" altLang="en-US" b="1" dirty="0" err="1"/>
              <a:t>Lavhate</a:t>
            </a:r>
            <a:endParaRPr lang="en-US" altLang="en-US" b="1" dirty="0"/>
          </a:p>
        </p:txBody>
      </p:sp>
      <p:sp>
        <p:nvSpPr>
          <p:cNvPr id="2" name="Rectangle 1"/>
          <p:cNvSpPr/>
          <p:nvPr/>
        </p:nvSpPr>
        <p:spPr>
          <a:xfrm>
            <a:off x="3009900" y="-3565"/>
            <a:ext cx="3428999" cy="646331"/>
          </a:xfrm>
          <a:prstGeom prst="rect">
            <a:avLst/>
          </a:prstGeom>
        </p:spPr>
        <p:txBody>
          <a:bodyPr wrap="square">
            <a:spAutoFit/>
          </a:bodyPr>
          <a:lstStyle/>
          <a:p>
            <a:r>
              <a:rPr lang="en-US" sz="3600" b="1" dirty="0">
                <a:latin typeface="Times New Roman" panose="02020603050405020304" pitchFamily="18" charset="0"/>
                <a:cs typeface="Times New Roman" panose="02020603050405020304" pitchFamily="18" charset="0"/>
              </a:rPr>
              <a:t>VPB Divider:</a:t>
            </a:r>
            <a:endParaRPr lang="en-US" sz="36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cstate="print"/>
          <a:srcRect/>
          <a:stretch>
            <a:fillRect/>
          </a:stretch>
        </p:blipFill>
        <p:spPr bwMode="auto">
          <a:xfrm>
            <a:off x="457200" y="762000"/>
            <a:ext cx="8305800" cy="4343400"/>
          </a:xfrm>
          <a:prstGeom prst="rect">
            <a:avLst/>
          </a:prstGeom>
          <a:noFill/>
        </p:spPr>
      </p:pic>
      <p:sp>
        <p:nvSpPr>
          <p:cNvPr id="3" name="Footer Placeholder 2"/>
          <p:cNvSpPr>
            <a:spLocks noGrp="1"/>
          </p:cNvSpPr>
          <p:nvPr>
            <p:ph type="ftr" sz="quarter" idx="11"/>
          </p:nvPr>
        </p:nvSpPr>
        <p:spPr/>
        <p:txBody>
          <a:bodyPr/>
          <a:lstStyle/>
          <a:p>
            <a:r>
              <a:rPr lang="en-US" altLang="en-US" b="1" dirty="0"/>
              <a:t>Dr. S. S. </a:t>
            </a:r>
            <a:r>
              <a:rPr lang="en-US" altLang="en-US" b="1" dirty="0" err="1"/>
              <a:t>Lavhate</a:t>
            </a:r>
            <a:endParaRPr lang="en-US" altLang="en-US" b="1" dirty="0"/>
          </a:p>
        </p:txBody>
      </p:sp>
      <p:sp>
        <p:nvSpPr>
          <p:cNvPr id="5" name="Rectangle 4"/>
          <p:cNvSpPr/>
          <p:nvPr/>
        </p:nvSpPr>
        <p:spPr>
          <a:xfrm>
            <a:off x="3009900" y="-3565"/>
            <a:ext cx="3428999" cy="646331"/>
          </a:xfrm>
          <a:prstGeom prst="rect">
            <a:avLst/>
          </a:prstGeom>
        </p:spPr>
        <p:txBody>
          <a:bodyPr wrap="square">
            <a:spAutoFit/>
          </a:bodyPr>
          <a:lstStyle/>
          <a:p>
            <a:r>
              <a:rPr lang="en-US" sz="3600" b="1" dirty="0">
                <a:latin typeface="Times New Roman" panose="02020603050405020304" pitchFamily="18" charset="0"/>
                <a:cs typeface="Times New Roman" panose="02020603050405020304" pitchFamily="18" charset="0"/>
              </a:rPr>
              <a:t>VPB </a:t>
            </a:r>
            <a:r>
              <a:rPr lang="en-US" sz="3600" b="1" dirty="0" smtClean="0">
                <a:latin typeface="Times New Roman" panose="02020603050405020304" pitchFamily="18" charset="0"/>
                <a:cs typeface="Times New Roman" panose="02020603050405020304" pitchFamily="18" charset="0"/>
              </a:rPr>
              <a:t>Divider</a:t>
            </a:r>
            <a:endParaRPr lang="en-US" sz="36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a:solidFill>
            <a:schemeClr val="bg1"/>
          </a:solidFill>
        </p:spPr>
        <p:txBody>
          <a:bodyPr>
            <a:normAutofit fontScale="90000"/>
          </a:bodyPr>
          <a:lstStyle/>
          <a:p>
            <a:pPr lvl="0"/>
            <a:r>
              <a:rPr lang="en-US" b="1" dirty="0" smtClean="0"/>
              <a:t/>
            </a:r>
            <a:br>
              <a:rPr lang="en-US" b="1" dirty="0" smtClean="0"/>
            </a:br>
            <a:r>
              <a:rPr lang="en-US" b="1" dirty="0" smtClean="0">
                <a:latin typeface="Times New Roman" panose="02020603050405020304" pitchFamily="18" charset="0"/>
                <a:cs typeface="Times New Roman" panose="02020603050405020304" pitchFamily="18" charset="0"/>
              </a:rPr>
              <a:t>Memory map</a:t>
            </a:r>
            <a:r>
              <a:rPr lang="en-US" sz="3200" dirty="0" smtClean="0"/>
              <a:t/>
            </a:r>
            <a:br>
              <a:rPr lang="en-US" sz="3200" dirty="0" smtClean="0"/>
            </a:br>
            <a:endParaRPr lang="en-US" dirty="0"/>
          </a:p>
        </p:txBody>
      </p:sp>
      <p:sp>
        <p:nvSpPr>
          <p:cNvPr id="3" name="Content Placeholder 2"/>
          <p:cNvSpPr>
            <a:spLocks noGrp="1"/>
          </p:cNvSpPr>
          <p:nvPr>
            <p:ph idx="1"/>
          </p:nvPr>
        </p:nvSpPr>
        <p:spPr>
          <a:xfrm>
            <a:off x="0" y="639762"/>
            <a:ext cx="8991600" cy="6248400"/>
          </a:xfrm>
          <a:solidFill>
            <a:schemeClr val="bg1"/>
          </a:solidFill>
        </p:spPr>
        <p:txBody>
          <a:bodyPr>
            <a:normAutofit lnSpcReduction="10000"/>
          </a:bodyPr>
          <a:lstStyle/>
          <a:p>
            <a:pPr marL="577850" lvl="1" indent="-457200" hangingPunct="0">
              <a:buFont typeface="Wingdings" panose="05000000000000000000" pitchFamily="2" charset="2"/>
              <a:buChar char="§"/>
            </a:pPr>
            <a:r>
              <a:rPr lang="en-US" sz="2600" dirty="0" smtClean="0">
                <a:latin typeface="Times New Roman" panose="02020603050405020304" pitchFamily="18" charset="0"/>
                <a:cs typeface="Times New Roman" panose="02020603050405020304" pitchFamily="18" charset="0"/>
              </a:rPr>
              <a:t>The basic concept on the LPC2148 is that each memory area has a "natural" location in the memory map. </a:t>
            </a:r>
          </a:p>
          <a:p>
            <a:pPr marL="577850" lvl="1" indent="-457200" hangingPunct="0">
              <a:buFont typeface="Wingdings" panose="05000000000000000000" pitchFamily="2" charset="2"/>
              <a:buChar char="§"/>
            </a:pPr>
            <a:r>
              <a:rPr lang="en-US" sz="2600" dirty="0" smtClean="0">
                <a:latin typeface="Times New Roman" panose="02020603050405020304" pitchFamily="18" charset="0"/>
                <a:cs typeface="Times New Roman" panose="02020603050405020304" pitchFamily="18" charset="0"/>
              </a:rPr>
              <a:t>This is the address range for which code residing in that area is written. </a:t>
            </a:r>
          </a:p>
          <a:p>
            <a:pPr marL="577850" lvl="1" indent="-457200" hangingPunct="0">
              <a:buFont typeface="Wingdings" panose="05000000000000000000" pitchFamily="2" charset="2"/>
              <a:buChar char="§"/>
            </a:pPr>
            <a:r>
              <a:rPr lang="en-US" sz="2600" dirty="0" smtClean="0">
                <a:latin typeface="Times New Roman" panose="02020603050405020304" pitchFamily="18" charset="0"/>
                <a:cs typeface="Times New Roman" panose="02020603050405020304" pitchFamily="18" charset="0"/>
              </a:rPr>
              <a:t>The bulk of each memory space remains permanently fixed in the same location, eliminating the need to have portions of the code designed to run in different address ranges. </a:t>
            </a:r>
          </a:p>
          <a:p>
            <a:pPr marL="577850" lvl="1" indent="-457200" hangingPunct="0">
              <a:buFont typeface="Wingdings" panose="05000000000000000000" pitchFamily="2" charset="2"/>
              <a:buChar char="§"/>
            </a:pPr>
            <a:r>
              <a:rPr lang="en-US" sz="2600" dirty="0" smtClean="0">
                <a:latin typeface="Times New Roman" panose="02020603050405020304" pitchFamily="18" charset="0"/>
                <a:cs typeface="Times New Roman" panose="02020603050405020304" pitchFamily="18" charset="0"/>
              </a:rPr>
              <a:t>LPC2148 memory map 0x00000000 ~ 0xFFFFFFFF space that 4G mapping space </a:t>
            </a:r>
          </a:p>
          <a:p>
            <a:pPr marL="577850" lvl="1" indent="-457200" hangingPunct="0">
              <a:buFont typeface="Wingdings" panose="05000000000000000000" pitchFamily="2" charset="2"/>
              <a:buChar char="§"/>
            </a:pPr>
            <a:r>
              <a:rPr lang="en-US" sz="2600" dirty="0" smtClean="0">
                <a:latin typeface="Times New Roman" panose="02020603050405020304" pitchFamily="18" charset="0"/>
                <a:cs typeface="Times New Roman" panose="02020603050405020304" pitchFamily="18" charset="0"/>
              </a:rPr>
              <a:t>In general, 0x00000000 started sequentially stored FLASH , </a:t>
            </a:r>
          </a:p>
          <a:p>
            <a:pPr marL="577850" lvl="1" indent="-457200" hangingPunct="0">
              <a:buFont typeface="Wingdings" panose="05000000000000000000" pitchFamily="2" charset="2"/>
              <a:buChar char="§"/>
            </a:pPr>
            <a:r>
              <a:rPr lang="en-US" sz="2600" dirty="0" smtClean="0">
                <a:latin typeface="Times New Roman" panose="02020603050405020304" pitchFamily="18" charset="0"/>
                <a:cs typeface="Times New Roman" panose="02020603050405020304" pitchFamily="18" charset="0"/>
              </a:rPr>
              <a:t>SRAM - 0x40000000, </a:t>
            </a:r>
          </a:p>
          <a:p>
            <a:pPr marL="577850" lvl="1" indent="-457200" hangingPunct="0">
              <a:buFont typeface="Wingdings" panose="05000000000000000000" pitchFamily="2" charset="2"/>
              <a:buChar char="§"/>
            </a:pPr>
            <a:r>
              <a:rPr lang="en-US" sz="2600" dirty="0" smtClean="0">
                <a:latin typeface="Times New Roman" panose="02020603050405020304" pitchFamily="18" charset="0"/>
                <a:cs typeface="Times New Roman" panose="02020603050405020304" pitchFamily="18" charset="0"/>
              </a:rPr>
              <a:t>the APB (low-speed peripherals address, such as GPIO, UART) - at 0xE0000000 </a:t>
            </a:r>
          </a:p>
          <a:p>
            <a:pPr marL="577850" lvl="1" indent="-457200" hangingPunct="0">
              <a:buFont typeface="Wingdings" panose="05000000000000000000" pitchFamily="2" charset="2"/>
              <a:buChar char="§"/>
            </a:pPr>
            <a:r>
              <a:rPr lang="en-US" sz="2600" dirty="0" smtClean="0">
                <a:latin typeface="Times New Roman" panose="02020603050405020304" pitchFamily="18" charset="0"/>
                <a:cs typeface="Times New Roman" panose="02020603050405020304" pitchFamily="18" charset="0"/>
              </a:rPr>
              <a:t>AHB (high-speed peripherals: vector interrupt controller external memory controller) - from 0XF0000000 </a:t>
            </a:r>
          </a:p>
          <a:p>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684439"/>
            <a:ext cx="8915400" cy="6051550"/>
          </a:xfrm>
          <a:solidFill>
            <a:schemeClr val="bg1"/>
          </a:solidFill>
        </p:spPr>
        <p:txBody>
          <a:bodyPr>
            <a:normAutofit fontScale="77500" lnSpcReduction="20000"/>
          </a:bodyPr>
          <a:lstStyle/>
          <a:p>
            <a:pPr marL="0" lvl="1" indent="0" algn="just" hangingPunct="0">
              <a:buNone/>
            </a:pPr>
            <a:r>
              <a:rPr lang="en-US" b="1" dirty="0" smtClean="0">
                <a:latin typeface="Times New Roman" panose="02020603050405020304" pitchFamily="18" charset="0"/>
                <a:cs typeface="Times New Roman" panose="02020603050405020304" pitchFamily="18" charset="0"/>
              </a:rPr>
              <a:t>On-chip flash memory system: </a:t>
            </a:r>
          </a:p>
          <a:p>
            <a:pPr marL="231775" lvl="2" indent="-231775" algn="just" hangingPunct="0"/>
            <a:r>
              <a:rPr lang="en-US" sz="2600" dirty="0" smtClean="0">
                <a:latin typeface="Times New Roman" panose="02020603050405020304" pitchFamily="18" charset="0"/>
                <a:cs typeface="Times New Roman" panose="02020603050405020304" pitchFamily="18" charset="0"/>
              </a:rPr>
              <a:t>The LPC21418 incorporate a 512 </a:t>
            </a:r>
            <a:r>
              <a:rPr lang="en-US" sz="2600" dirty="0" err="1" smtClean="0">
                <a:latin typeface="Times New Roman" panose="02020603050405020304" pitchFamily="18" charset="0"/>
                <a:cs typeface="Times New Roman" panose="02020603050405020304" pitchFamily="18" charset="0"/>
              </a:rPr>
              <a:t>kB</a:t>
            </a:r>
            <a:r>
              <a:rPr lang="en-US" sz="2600" dirty="0" smtClean="0">
                <a:latin typeface="Times New Roman" panose="02020603050405020304" pitchFamily="18" charset="0"/>
                <a:cs typeface="Times New Roman" panose="02020603050405020304" pitchFamily="18" charset="0"/>
              </a:rPr>
              <a:t> Flash memory system. </a:t>
            </a:r>
            <a:endParaRPr lang="en-US" sz="2000" dirty="0" smtClean="0">
              <a:latin typeface="Times New Roman" panose="02020603050405020304" pitchFamily="18" charset="0"/>
              <a:cs typeface="Times New Roman" panose="02020603050405020304" pitchFamily="18" charset="0"/>
            </a:endParaRPr>
          </a:p>
          <a:p>
            <a:pPr marL="231775" lvl="2" indent="-231775" algn="just" hangingPunct="0"/>
            <a:r>
              <a:rPr lang="en-US" sz="2600" dirty="0" smtClean="0">
                <a:latin typeface="Times New Roman" panose="02020603050405020304" pitchFamily="18" charset="0"/>
                <a:cs typeface="Times New Roman" panose="02020603050405020304" pitchFamily="18" charset="0"/>
              </a:rPr>
              <a:t>This memory may be used for both code and data storage. </a:t>
            </a:r>
          </a:p>
          <a:p>
            <a:pPr marL="231775" lvl="2" indent="-231775" algn="just" hangingPunct="0"/>
            <a:r>
              <a:rPr lang="en-US" sz="2600" dirty="0" smtClean="0">
                <a:latin typeface="Times New Roman" panose="02020603050405020304" pitchFamily="18" charset="0"/>
                <a:cs typeface="Times New Roman" panose="02020603050405020304" pitchFamily="18" charset="0"/>
              </a:rPr>
              <a:t>Programming of the Flash memory may be accomplished in several ways: 1)JTAG 2) ISP and 3)UART0 or by means of (IAP) capabilities.  </a:t>
            </a:r>
          </a:p>
          <a:p>
            <a:pPr marL="231775" lvl="2" indent="-231775" algn="just" hangingPunct="0"/>
            <a:r>
              <a:rPr lang="en-US" sz="2600" dirty="0" smtClean="0">
                <a:latin typeface="Times New Roman" panose="02020603050405020304" pitchFamily="18" charset="0"/>
                <a:cs typeface="Times New Roman" panose="02020603050405020304" pitchFamily="18" charset="0"/>
              </a:rPr>
              <a:t>The application program, using the IAP functions, may also erase and/or program the Flash while the application is running. </a:t>
            </a:r>
          </a:p>
          <a:p>
            <a:pPr marL="231775" lvl="2" indent="-231775" algn="just" hangingPunct="0"/>
            <a:r>
              <a:rPr lang="en-US" sz="2600" dirty="0" smtClean="0">
                <a:latin typeface="Times New Roman" panose="02020603050405020304" pitchFamily="18" charset="0"/>
                <a:cs typeface="Times New Roman" panose="02020603050405020304" pitchFamily="18" charset="0"/>
              </a:rPr>
              <a:t>When the LPC2148 on-chip boot loader is used, 500 </a:t>
            </a:r>
            <a:r>
              <a:rPr lang="en-US" sz="2600" dirty="0" err="1" smtClean="0">
                <a:latin typeface="Times New Roman" panose="02020603050405020304" pitchFamily="18" charset="0"/>
                <a:cs typeface="Times New Roman" panose="02020603050405020304" pitchFamily="18" charset="0"/>
              </a:rPr>
              <a:t>kB</a:t>
            </a:r>
            <a:r>
              <a:rPr lang="en-US" sz="2600" dirty="0" smtClean="0">
                <a:latin typeface="Times New Roman" panose="02020603050405020304" pitchFamily="18" charset="0"/>
                <a:cs typeface="Times New Roman" panose="02020603050405020304" pitchFamily="18" charset="0"/>
              </a:rPr>
              <a:t> of Flash memory is available for user code (12 KB is used by boot loader). </a:t>
            </a:r>
          </a:p>
          <a:p>
            <a:pPr marL="0" lvl="1" indent="0" algn="just" hangingPunct="0">
              <a:buNone/>
            </a:pPr>
            <a:r>
              <a:rPr lang="en-US" sz="2700" b="1" dirty="0" smtClean="0">
                <a:latin typeface="Times New Roman" panose="02020603050405020304" pitchFamily="18" charset="0"/>
                <a:cs typeface="Times New Roman" panose="02020603050405020304" pitchFamily="18" charset="0"/>
              </a:rPr>
              <a:t>On-chip Static RAM (SRAM): </a:t>
            </a:r>
          </a:p>
          <a:p>
            <a:pPr marL="231775" lvl="2" indent="-231775" algn="just" hangingPunct="0"/>
            <a:r>
              <a:rPr lang="en-US" dirty="0" smtClean="0">
                <a:latin typeface="Times New Roman" panose="02020603050405020304" pitchFamily="18" charset="0"/>
                <a:cs typeface="Times New Roman" panose="02020603050405020304" pitchFamily="18" charset="0"/>
              </a:rPr>
              <a:t>On-chip Static RAM (SRAM) may be used for code and/or data storage. </a:t>
            </a:r>
            <a:endParaRPr lang="en-US" sz="1800" dirty="0" smtClean="0">
              <a:latin typeface="Times New Roman" panose="02020603050405020304" pitchFamily="18" charset="0"/>
              <a:cs typeface="Times New Roman" panose="02020603050405020304" pitchFamily="18" charset="0"/>
            </a:endParaRPr>
          </a:p>
          <a:p>
            <a:pPr marL="231775" lvl="2" indent="-231775" algn="just" hangingPunct="0"/>
            <a:r>
              <a:rPr lang="en-US" dirty="0" smtClean="0">
                <a:latin typeface="Times New Roman" panose="02020603050405020304" pitchFamily="18" charset="0"/>
                <a:cs typeface="Times New Roman" panose="02020603050405020304" pitchFamily="18" charset="0"/>
              </a:rPr>
              <a:t>The LPC2148 provide 32 </a:t>
            </a:r>
            <a:r>
              <a:rPr lang="en-US" dirty="0" err="1" smtClean="0">
                <a:latin typeface="Times New Roman" panose="02020603050405020304" pitchFamily="18" charset="0"/>
                <a:cs typeface="Times New Roman" panose="02020603050405020304" pitchFamily="18" charset="0"/>
              </a:rPr>
              <a:t>kB</a:t>
            </a:r>
            <a:r>
              <a:rPr lang="en-US" dirty="0" smtClean="0">
                <a:latin typeface="Times New Roman" panose="02020603050405020304" pitchFamily="18" charset="0"/>
                <a:cs typeface="Times New Roman" panose="02020603050405020304" pitchFamily="18" charset="0"/>
              </a:rPr>
              <a:t> of static RAM. </a:t>
            </a:r>
            <a:endParaRPr lang="en-US" sz="2400" dirty="0" smtClean="0">
              <a:latin typeface="Times New Roman" panose="02020603050405020304" pitchFamily="18" charset="0"/>
              <a:cs typeface="Times New Roman" panose="02020603050405020304" pitchFamily="18" charset="0"/>
            </a:endParaRPr>
          </a:p>
          <a:p>
            <a:pPr marL="231775" lvl="2" indent="-231775" algn="just" hangingPunct="0"/>
            <a:r>
              <a:rPr lang="en-US" dirty="0" smtClean="0">
                <a:latin typeface="Times New Roman" panose="02020603050405020304" pitchFamily="18" charset="0"/>
                <a:cs typeface="Times New Roman" panose="02020603050405020304" pitchFamily="18" charset="0"/>
              </a:rPr>
              <a:t>The LPC2148 SRAM is designed to be accessed as a byte addressed memory. </a:t>
            </a:r>
            <a:endParaRPr lang="en-US" sz="2400" dirty="0" smtClean="0">
              <a:latin typeface="Times New Roman" panose="02020603050405020304" pitchFamily="18" charset="0"/>
              <a:cs typeface="Times New Roman" panose="02020603050405020304" pitchFamily="18" charset="0"/>
            </a:endParaRPr>
          </a:p>
          <a:p>
            <a:pPr marL="231775" lvl="2" indent="-231775" algn="just" hangingPunct="0"/>
            <a:r>
              <a:rPr lang="en-US" dirty="0" smtClean="0">
                <a:latin typeface="Times New Roman" panose="02020603050405020304" pitchFamily="18" charset="0"/>
                <a:cs typeface="Times New Roman" panose="02020603050405020304" pitchFamily="18" charset="0"/>
              </a:rPr>
              <a:t>The SRAM controller incorporates a write-back buffer in order to prevent CPU stalls during back-to-back writes. The write-back buffer always holds the last data sent by software to the SRAM. </a:t>
            </a:r>
            <a:endParaRPr lang="en-US" sz="1800" dirty="0" smtClean="0">
              <a:latin typeface="Times New Roman" panose="02020603050405020304" pitchFamily="18" charset="0"/>
              <a:cs typeface="Times New Roman" panose="02020603050405020304" pitchFamily="18" charset="0"/>
            </a:endParaRPr>
          </a:p>
          <a:p>
            <a:pPr marL="231775" lvl="2" indent="-231775" algn="just" hangingPunct="0"/>
            <a:r>
              <a:rPr lang="en-US" dirty="0" smtClean="0">
                <a:latin typeface="Times New Roman" panose="02020603050405020304" pitchFamily="18" charset="0"/>
                <a:cs typeface="Times New Roman" panose="02020603050405020304" pitchFamily="18" charset="0"/>
              </a:rPr>
              <a:t>8 KB RAM shared with USB DMA. </a:t>
            </a:r>
          </a:p>
          <a:p>
            <a:pPr marL="231775" lvl="2" indent="-231775" algn="just" hangingPunct="0"/>
            <a:endParaRPr lang="en-US" sz="2400" dirty="0" smtClean="0">
              <a:latin typeface="Times New Roman" panose="02020603050405020304" pitchFamily="18" charset="0"/>
              <a:cs typeface="Times New Roman" panose="02020603050405020304" pitchFamily="18" charset="0"/>
            </a:endParaRPr>
          </a:p>
          <a:p>
            <a:pPr marL="231775" lvl="1" indent="-231775" algn="just" hangingPunct="0"/>
            <a:r>
              <a:rPr lang="en-US" sz="2600" b="1" dirty="0" smtClean="0">
                <a:latin typeface="Times New Roman" panose="02020603050405020304" pitchFamily="18" charset="0"/>
                <a:cs typeface="Times New Roman" panose="02020603050405020304" pitchFamily="18" charset="0"/>
              </a:rPr>
              <a:t>To access any peripheral we need its address. The entire address space can be divided in to several section</a:t>
            </a:r>
            <a:r>
              <a:rPr lang="en-US" sz="2600" dirty="0" smtClean="0">
                <a:latin typeface="Times New Roman" panose="02020603050405020304" pitchFamily="18" charset="0"/>
                <a:cs typeface="Times New Roman" panose="02020603050405020304" pitchFamily="18" charset="0"/>
              </a:rPr>
              <a:t>s. </a:t>
            </a:r>
            <a:endParaRPr lang="en-US" sz="2800" dirty="0" smtClean="0"/>
          </a:p>
          <a:p>
            <a:pPr marL="231775" indent="-231775"/>
            <a:endParaRPr lang="en-US" dirty="0"/>
          </a:p>
        </p:txBody>
      </p:sp>
      <p:sp>
        <p:nvSpPr>
          <p:cNvPr id="4" name="Footer Placeholder 3"/>
          <p:cNvSpPr>
            <a:spLocks noGrp="1"/>
          </p:cNvSpPr>
          <p:nvPr>
            <p:ph type="ftr" sz="quarter" idx="11"/>
          </p:nvPr>
        </p:nvSpPr>
        <p:spPr/>
        <p:txBody>
          <a:bodyPr/>
          <a:lstStyle/>
          <a:p>
            <a:r>
              <a:rPr lang="en-US" altLang="en-US" b="1" dirty="0"/>
              <a:t>Dr. S. S. </a:t>
            </a:r>
            <a:r>
              <a:rPr lang="en-US" altLang="en-US" b="1" dirty="0" err="1"/>
              <a:t>Lavhate</a:t>
            </a:r>
            <a:endParaRPr lang="en-US" altLang="en-US" b="1" dirty="0"/>
          </a:p>
        </p:txBody>
      </p:sp>
      <p:sp>
        <p:nvSpPr>
          <p:cNvPr id="2" name="Rectangle 1"/>
          <p:cNvSpPr/>
          <p:nvPr/>
        </p:nvSpPr>
        <p:spPr>
          <a:xfrm>
            <a:off x="2895600" y="14514"/>
            <a:ext cx="3695700" cy="707886"/>
          </a:xfrm>
          <a:prstGeom prst="rect">
            <a:avLst/>
          </a:prstGeom>
          <a:solidFill>
            <a:schemeClr val="bg1"/>
          </a:solidFill>
        </p:spPr>
        <p:txBody>
          <a:bodyPr wrap="square">
            <a:spAutoFit/>
          </a:bodyPr>
          <a:lstStyle/>
          <a:p>
            <a:r>
              <a:rPr lang="en-US" sz="4000" b="1" dirty="0">
                <a:latin typeface="Times New Roman" panose="02020603050405020304" pitchFamily="18" charset="0"/>
                <a:cs typeface="Times New Roman" panose="02020603050405020304" pitchFamily="18" charset="0"/>
              </a:rPr>
              <a:t>Memory </a:t>
            </a:r>
            <a:r>
              <a:rPr lang="en-US" sz="4000" b="1" dirty="0" smtClean="0">
                <a:latin typeface="Times New Roman" panose="02020603050405020304" pitchFamily="18" charset="0"/>
                <a:cs typeface="Times New Roman" panose="02020603050405020304" pitchFamily="18" charset="0"/>
              </a:rPr>
              <a:t>map</a:t>
            </a:r>
            <a:endParaRPr lang="en-US" sz="40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cstate="print"/>
          <a:srcRect/>
          <a:stretch>
            <a:fillRect/>
          </a:stretch>
        </p:blipFill>
        <p:spPr bwMode="auto">
          <a:xfrm>
            <a:off x="1600200" y="701675"/>
            <a:ext cx="6629400" cy="6156325"/>
          </a:xfrm>
          <a:prstGeom prst="rect">
            <a:avLst/>
          </a:prstGeom>
          <a:noFill/>
        </p:spPr>
      </p:pic>
      <p:sp>
        <p:nvSpPr>
          <p:cNvPr id="3" name="Footer Placeholder 2"/>
          <p:cNvSpPr>
            <a:spLocks noGrp="1"/>
          </p:cNvSpPr>
          <p:nvPr>
            <p:ph type="ftr" sz="quarter" idx="11"/>
          </p:nvPr>
        </p:nvSpPr>
        <p:spPr/>
        <p:txBody>
          <a:bodyPr/>
          <a:lstStyle/>
          <a:p>
            <a:r>
              <a:rPr lang="en-US" altLang="en-US" b="1" dirty="0"/>
              <a:t>Dr. S. S. </a:t>
            </a:r>
            <a:r>
              <a:rPr lang="en-US" altLang="en-US" b="1" dirty="0" err="1"/>
              <a:t>Lavhate</a:t>
            </a:r>
            <a:endParaRPr lang="en-US" altLang="en-US" b="1" dirty="0"/>
          </a:p>
        </p:txBody>
      </p:sp>
      <p:sp>
        <p:nvSpPr>
          <p:cNvPr id="2" name="Rectangle 1"/>
          <p:cNvSpPr/>
          <p:nvPr/>
        </p:nvSpPr>
        <p:spPr>
          <a:xfrm>
            <a:off x="3810000" y="-6211"/>
            <a:ext cx="3163045" cy="707886"/>
          </a:xfrm>
          <a:prstGeom prst="rect">
            <a:avLst/>
          </a:prstGeom>
          <a:solidFill>
            <a:schemeClr val="bg1"/>
          </a:solidFill>
        </p:spPr>
        <p:txBody>
          <a:bodyPr wrap="none">
            <a:spAutoFit/>
          </a:bodyPr>
          <a:lstStyle/>
          <a:p>
            <a:r>
              <a:rPr lang="en-US" sz="4000" b="1" dirty="0">
                <a:latin typeface="Times New Roman" panose="02020603050405020304" pitchFamily="18" charset="0"/>
                <a:cs typeface="Times New Roman" panose="02020603050405020304" pitchFamily="18" charset="0"/>
              </a:rPr>
              <a:t>Memory map</a:t>
            </a:r>
            <a:endParaRPr lang="en-US" sz="40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0"/>
            <a:ext cx="8991600" cy="5730874"/>
          </a:xfrm>
          <a:solidFill>
            <a:schemeClr val="bg1"/>
          </a:solidFill>
        </p:spPr>
        <p:txBody>
          <a:bodyPr>
            <a:normAutofit/>
          </a:bodyPr>
          <a:lstStyle/>
          <a:p>
            <a:pPr algn="just" hangingPunct="0"/>
            <a:r>
              <a:rPr lang="en-US" sz="2400" dirty="0" smtClean="0">
                <a:latin typeface="Times New Roman" panose="02020603050405020304" pitchFamily="18" charset="0"/>
                <a:cs typeface="Times New Roman" panose="02020603050405020304" pitchFamily="18" charset="0"/>
              </a:rPr>
              <a:t>Because of the location of the interrupt vectors on the ARM7 processor (at addresses 0x0000 0000 through 0x0000 001C,) a small portion of the Boot Block and SRAM spaces need to be re-mapped in order to allow alternative uses of interrupts in the different operating modes Re-mapping of the interrupts is accomplished via the Memory Mapping Control feature</a:t>
            </a:r>
          </a:p>
          <a:p>
            <a:pPr algn="just"/>
            <a:r>
              <a:rPr lang="en-US" sz="2400" dirty="0" smtClean="0">
                <a:latin typeface="Times New Roman" panose="02020603050405020304" pitchFamily="18" charset="0"/>
                <a:cs typeface="Times New Roman" panose="02020603050405020304" pitchFamily="18" charset="0"/>
              </a:rPr>
              <a:t>Peripheral memory Map (AHB, APB):</a:t>
            </a:r>
          </a:p>
          <a:p>
            <a:pPr algn="just"/>
            <a:r>
              <a:rPr lang="en-US" sz="2400" dirty="0" smtClean="0">
                <a:latin typeface="Times New Roman" panose="02020603050405020304" pitchFamily="18" charset="0"/>
                <a:cs typeface="Times New Roman" panose="02020603050405020304" pitchFamily="18" charset="0"/>
              </a:rPr>
              <a:t>Figures 3 show different views of the peripheral address space.</a:t>
            </a:r>
          </a:p>
          <a:p>
            <a:pPr algn="just" hangingPunct="0"/>
            <a:r>
              <a:rPr lang="en-US" sz="2400" dirty="0" smtClean="0">
                <a:latin typeface="Times New Roman" panose="02020603050405020304" pitchFamily="18" charset="0"/>
                <a:cs typeface="Times New Roman" panose="02020603050405020304" pitchFamily="18" charset="0"/>
              </a:rPr>
              <a:t>Both the AHB and APB peripheral areas are 2 megabyte spaces which are divided up into 128 peripherals. Each peripheral space is 16 kilobytes in size.</a:t>
            </a:r>
          </a:p>
          <a:p>
            <a:pPr algn="just"/>
            <a:r>
              <a:rPr lang="en-US" sz="2400" dirty="0" smtClean="0">
                <a:latin typeface="Times New Roman" panose="02020603050405020304" pitchFamily="18" charset="0"/>
                <a:cs typeface="Times New Roman" panose="02020603050405020304" pitchFamily="18" charset="0"/>
              </a:rPr>
              <a:t>This allows simplifying the address decoding for each peripheral.</a:t>
            </a:r>
          </a:p>
          <a:p>
            <a:pPr algn="just" hangingPunct="0"/>
            <a:r>
              <a:rPr lang="en-US" sz="2400" dirty="0" smtClean="0">
                <a:latin typeface="Times New Roman" panose="02020603050405020304" pitchFamily="18" charset="0"/>
                <a:cs typeface="Times New Roman" panose="02020603050405020304" pitchFamily="18" charset="0"/>
              </a:rPr>
              <a:t>All peripheral register addresses are word aligned (to 32-bit boundaries) regardless of their size.</a:t>
            </a:r>
          </a:p>
          <a:p>
            <a:pPr algn="just"/>
            <a:endParaRPr lang="en-US" dirty="0"/>
          </a:p>
        </p:txBody>
      </p:sp>
      <p:sp>
        <p:nvSpPr>
          <p:cNvPr id="2" name="Rectangle 1"/>
          <p:cNvSpPr/>
          <p:nvPr/>
        </p:nvSpPr>
        <p:spPr>
          <a:xfrm>
            <a:off x="3142343" y="-22086"/>
            <a:ext cx="3334657" cy="707886"/>
          </a:xfrm>
          <a:prstGeom prst="rect">
            <a:avLst/>
          </a:prstGeom>
          <a:solidFill>
            <a:schemeClr val="bg1"/>
          </a:solidFill>
        </p:spPr>
        <p:txBody>
          <a:bodyPr wrap="square">
            <a:spAutoFit/>
          </a:bodyPr>
          <a:lstStyle/>
          <a:p>
            <a:r>
              <a:rPr lang="en-US" sz="4000" b="1" dirty="0">
                <a:latin typeface="Times New Roman" panose="02020603050405020304" pitchFamily="18" charset="0"/>
                <a:cs typeface="Times New Roman" panose="02020603050405020304" pitchFamily="18" charset="0"/>
              </a:rPr>
              <a:t>Memory map</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200"/>
          </a:xfrm>
          <a:solidFill>
            <a:schemeClr val="bg1"/>
          </a:solidFill>
        </p:spPr>
        <p:txBody>
          <a:bodyPr>
            <a:normAutofit fontScale="90000"/>
          </a:bodyPr>
          <a:lstStyle/>
          <a:p>
            <a:pPr lvl="0"/>
            <a:r>
              <a:rPr lang="en-US" b="1" dirty="0" smtClean="0"/>
              <a:t/>
            </a:r>
            <a:br>
              <a:rPr lang="en-US" b="1" dirty="0" smtClean="0"/>
            </a:br>
            <a:r>
              <a:rPr lang="en-US" b="1" dirty="0" smtClean="0">
                <a:latin typeface="Times New Roman" panose="02020603050405020304" pitchFamily="18" charset="0"/>
                <a:cs typeface="Times New Roman" panose="02020603050405020304" pitchFamily="18" charset="0"/>
              </a:rPr>
              <a:t>Pin Connect Block:</a:t>
            </a:r>
            <a:r>
              <a:rPr lang="en-US" b="1" dirty="0" smtClean="0"/>
              <a:t> </a:t>
            </a:r>
            <a:r>
              <a:rPr lang="en-US" sz="3200" dirty="0" smtClean="0"/>
              <a:t/>
            </a:r>
            <a:br>
              <a:rPr lang="en-US" sz="3200" dirty="0" smtClean="0"/>
            </a:br>
            <a:endParaRPr lang="en-US" dirty="0"/>
          </a:p>
        </p:txBody>
      </p:sp>
      <p:sp>
        <p:nvSpPr>
          <p:cNvPr id="3" name="Content Placeholder 2"/>
          <p:cNvSpPr>
            <a:spLocks noGrp="1"/>
          </p:cNvSpPr>
          <p:nvPr>
            <p:ph idx="1"/>
          </p:nvPr>
        </p:nvSpPr>
        <p:spPr>
          <a:xfrm>
            <a:off x="0" y="457200"/>
            <a:ext cx="9144000" cy="6019800"/>
          </a:xfrm>
          <a:solidFill>
            <a:schemeClr val="bg1"/>
          </a:solidFill>
        </p:spPr>
        <p:txBody>
          <a:bodyPr>
            <a:normAutofit fontScale="25000" lnSpcReduction="20000"/>
          </a:bodyPr>
          <a:lstStyle/>
          <a:p>
            <a:pPr>
              <a:buNone/>
            </a:pPr>
            <a:endParaRPr lang="en-US" sz="2000" dirty="0" smtClean="0"/>
          </a:p>
          <a:p>
            <a:pPr marL="465138" lvl="1" indent="-403225" algn="just" hangingPunct="0">
              <a:buFont typeface="Wingdings" panose="05000000000000000000" pitchFamily="2" charset="2"/>
              <a:buChar char="§"/>
            </a:pPr>
            <a:r>
              <a:rPr lang="en-US" sz="8000" dirty="0" smtClean="0">
                <a:latin typeface="Times New Roman" panose="02020603050405020304" pitchFamily="18" charset="0"/>
                <a:cs typeface="Times New Roman" panose="02020603050405020304" pitchFamily="18" charset="0"/>
              </a:rPr>
              <a:t>It is a 32 bit processor, consists of two ports (P0, P1) each of 32 pins. </a:t>
            </a:r>
            <a:r>
              <a:rPr lang="en-US" sz="8000" dirty="0" err="1" smtClean="0">
                <a:latin typeface="Times New Roman" panose="02020603050405020304" pitchFamily="18" charset="0"/>
                <a:cs typeface="Times New Roman" panose="02020603050405020304" pitchFamily="18" charset="0"/>
              </a:rPr>
              <a:t>i.e</a:t>
            </a:r>
            <a:r>
              <a:rPr lang="en-US" sz="8000" dirty="0" smtClean="0">
                <a:latin typeface="Times New Roman" panose="02020603050405020304" pitchFamily="18" charset="0"/>
                <a:cs typeface="Times New Roman" panose="02020603050405020304" pitchFamily="18" charset="0"/>
              </a:rPr>
              <a:t> total number of pins =64. </a:t>
            </a:r>
          </a:p>
          <a:p>
            <a:pPr marL="465138" lvl="1" indent="-403225" algn="just" hangingPunct="0">
              <a:buFont typeface="Wingdings" panose="05000000000000000000" pitchFamily="2" charset="2"/>
              <a:buChar char="§"/>
            </a:pPr>
            <a:r>
              <a:rPr lang="en-US" sz="8000" dirty="0" smtClean="0">
                <a:latin typeface="Times New Roman" panose="02020603050405020304" pitchFamily="18" charset="0"/>
                <a:cs typeface="Times New Roman" panose="02020603050405020304" pitchFamily="18" charset="0"/>
              </a:rPr>
              <a:t>Out of above two ports, P0 is fully available to user to access any data or take data. </a:t>
            </a:r>
          </a:p>
          <a:p>
            <a:pPr marL="465138" lvl="1" indent="-403225" algn="just" hangingPunct="0">
              <a:buFont typeface="Wingdings" panose="05000000000000000000" pitchFamily="2" charset="2"/>
              <a:buChar char="§"/>
            </a:pPr>
            <a:r>
              <a:rPr lang="en-US" sz="8000" dirty="0" smtClean="0">
                <a:latin typeface="Times New Roman" panose="02020603050405020304" pitchFamily="18" charset="0"/>
                <a:cs typeface="Times New Roman" panose="02020603050405020304" pitchFamily="18" charset="0"/>
              </a:rPr>
              <a:t>For P1, lower half (LSB-16 bit) is used by processor itself &amp; not available for user whereas upper half (MSB-16 bit)is available for user </a:t>
            </a:r>
          </a:p>
          <a:p>
            <a:pPr marL="465138" lvl="1" indent="-403225" algn="just" hangingPunct="0">
              <a:buFont typeface="Wingdings" panose="05000000000000000000" pitchFamily="2" charset="2"/>
              <a:buChar char="§"/>
            </a:pPr>
            <a:r>
              <a:rPr lang="en-US" sz="8000" dirty="0" smtClean="0">
                <a:latin typeface="Times New Roman" panose="02020603050405020304" pitchFamily="18" charset="0"/>
                <a:cs typeface="Times New Roman" panose="02020603050405020304" pitchFamily="18" charset="0"/>
              </a:rPr>
              <a:t>The pin connect block allows selected pins of the microcontroller to have more than one function. Configuration registers control the multiplexers to allow connection between the pin and the on chip peripherals. </a:t>
            </a:r>
          </a:p>
          <a:p>
            <a:pPr marL="465138" lvl="1" indent="-403225" algn="just" hangingPunct="0">
              <a:buFont typeface="Wingdings" panose="05000000000000000000" pitchFamily="2" charset="2"/>
              <a:buChar char="§"/>
            </a:pPr>
            <a:r>
              <a:rPr lang="en-US" sz="8000" dirty="0" smtClean="0">
                <a:latin typeface="Times New Roman" panose="02020603050405020304" pitchFamily="18" charset="0"/>
                <a:cs typeface="Times New Roman" panose="02020603050405020304" pitchFamily="18" charset="0"/>
              </a:rPr>
              <a:t>Peripherals should be connected to the appropriate pins prior to being activated, and prior to any related interrupt(s) being enabled. </a:t>
            </a:r>
          </a:p>
          <a:p>
            <a:pPr marL="465138" lvl="1" indent="-403225" algn="just" hangingPunct="0">
              <a:buFont typeface="Wingdings" panose="05000000000000000000" pitchFamily="2" charset="2"/>
              <a:buChar char="§"/>
            </a:pPr>
            <a:r>
              <a:rPr lang="en-US" sz="8000" dirty="0" smtClean="0">
                <a:latin typeface="Times New Roman" panose="02020603050405020304" pitchFamily="18" charset="0"/>
                <a:cs typeface="Times New Roman" panose="02020603050405020304" pitchFamily="18" charset="0"/>
              </a:rPr>
              <a:t>Activity of any enabled peripheral function that is not mapped to a related pin should be considered undefined. </a:t>
            </a:r>
          </a:p>
          <a:p>
            <a:pPr marL="465138" lvl="1" indent="-403225" algn="just" hangingPunct="0">
              <a:buFont typeface="Wingdings" panose="05000000000000000000" pitchFamily="2" charset="2"/>
              <a:buChar char="§"/>
            </a:pPr>
            <a:r>
              <a:rPr lang="en-US" sz="8000" dirty="0" smtClean="0">
                <a:latin typeface="Times New Roman" panose="02020603050405020304" pitchFamily="18" charset="0"/>
                <a:cs typeface="Times New Roman" panose="02020603050405020304" pitchFamily="18" charset="0"/>
              </a:rPr>
              <a:t>Selection of a single function on a port pin completely excludes all other functions otherwise available on the same pin. </a:t>
            </a:r>
          </a:p>
          <a:p>
            <a:pPr marL="465138" lvl="1" indent="-403225" algn="just" hangingPunct="0">
              <a:buFont typeface="Wingdings" panose="05000000000000000000" pitchFamily="2" charset="2"/>
              <a:buChar char="§"/>
            </a:pPr>
            <a:r>
              <a:rPr lang="en-US" sz="8000" dirty="0" smtClean="0">
                <a:latin typeface="Times New Roman" panose="02020603050405020304" pitchFamily="18" charset="0"/>
                <a:cs typeface="Times New Roman" panose="02020603050405020304" pitchFamily="18" charset="0"/>
              </a:rPr>
              <a:t>To enable pin functions three 32 bit PINSEL registers: PINSEL0, PINSEL1 and PINSEL2 are used </a:t>
            </a:r>
          </a:p>
          <a:p>
            <a:endParaRPr lang="en-US" dirty="0"/>
          </a:p>
        </p:txBody>
      </p:sp>
      <p:sp>
        <p:nvSpPr>
          <p:cNvPr id="5" name="Footer Placeholder 4"/>
          <p:cNvSpPr>
            <a:spLocks noGrp="1"/>
          </p:cNvSpPr>
          <p:nvPr>
            <p:ph type="ftr" sz="quarter" idx="11"/>
          </p:nvPr>
        </p:nvSpPr>
        <p:spPr/>
        <p:txBody>
          <a:bodyPr/>
          <a:lstStyle/>
          <a:p>
            <a:r>
              <a:rPr lang="en-US" dirty="0" smtClean="0"/>
              <a:t>Prof. S. A. </a:t>
            </a:r>
            <a:r>
              <a:rPr lang="en-US" dirty="0" err="1" smtClean="0"/>
              <a:t>Shaikh</a:t>
            </a:r>
            <a:endParaRPr lang="en-US" dirty="0"/>
          </a:p>
        </p:txBody>
      </p:sp>
      <p:pic>
        <p:nvPicPr>
          <p:cNvPr id="6" name="Content Placeholder 3"/>
          <p:cNvPicPr>
            <a:picLocks/>
          </p:cNvPicPr>
          <p:nvPr/>
        </p:nvPicPr>
        <p:blipFill>
          <a:blip r:embed="rId2" cstate="print"/>
          <a:srcRect/>
          <a:stretch>
            <a:fillRect/>
          </a:stretch>
        </p:blipFill>
        <p:spPr bwMode="auto">
          <a:xfrm>
            <a:off x="2895600" y="4800600"/>
            <a:ext cx="4648200" cy="2057399"/>
          </a:xfrm>
          <a:prstGeom prst="rect">
            <a:avLst/>
          </a:prstGeom>
          <a:noFill/>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1"/>
          <p:cNvSpPr>
            <a:spLocks noChangeArrowheads="1"/>
          </p:cNvSpPr>
          <p:nvPr/>
        </p:nvSpPr>
        <p:spPr bwMode="auto">
          <a:xfrm>
            <a:off x="0" y="238542"/>
            <a:ext cx="9144000" cy="2123658"/>
          </a:xfrm>
          <a:prstGeom prst="rect">
            <a:avLst/>
          </a:prstGeom>
          <a:solidFill>
            <a:schemeClr val="bg1"/>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347663" marR="0" lvl="0" indent="-347663" algn="l" defTabSz="914400" rtl="0" eaLnBrk="1" fontAlgn="base" latinLnBrk="0" hangingPunct="1">
              <a:lnSpc>
                <a:spcPct val="100000"/>
              </a:lnSpc>
              <a:spcBef>
                <a:spcPct val="0"/>
              </a:spcBef>
              <a:spcAft>
                <a:spcPct val="0"/>
              </a:spcAft>
              <a:buClrTx/>
              <a:buSzTx/>
              <a:buFontTx/>
              <a:buNone/>
              <a:tabLst>
                <a:tab pos="508000" algn="l"/>
              </a:tabLst>
            </a:pPr>
            <a:r>
              <a:rPr kumimoji="0" lang="en-US" sz="3600" b="1" i="0" u="none" strike="noStrike" cap="none" normalizeH="0" baseline="0" dirty="0" smtClean="0">
                <a:ln>
                  <a:noFill/>
                </a:ln>
                <a:effectLst/>
                <a:latin typeface="Times New Roman" pitchFamily="18" charset="0"/>
                <a:ea typeface="Times New Roman" pitchFamily="18" charset="0"/>
                <a:cs typeface="Times New Roman" pitchFamily="18" charset="0"/>
              </a:rPr>
              <a:t>PINSEL0:</a:t>
            </a:r>
            <a:endParaRPr kumimoji="0" lang="en-US" sz="1600" b="1" i="0" u="none" strike="noStrike" cap="none" normalizeH="0" baseline="0" dirty="0" smtClean="0">
              <a:ln>
                <a:noFill/>
              </a:ln>
              <a:effectLst/>
              <a:latin typeface="Arial" pitchFamily="34" charset="0"/>
              <a:cs typeface="Arial" pitchFamily="34" charset="0"/>
            </a:endParaRPr>
          </a:p>
          <a:p>
            <a:pPr marL="347663" marR="0" lvl="0" indent="-347663" algn="l" defTabSz="914400" rtl="0" eaLnBrk="0" fontAlgn="base" latinLnBrk="0" hangingPunct="0">
              <a:lnSpc>
                <a:spcPct val="100000"/>
              </a:lnSpc>
              <a:spcBef>
                <a:spcPct val="0"/>
              </a:spcBef>
              <a:spcAft>
                <a:spcPct val="0"/>
              </a:spcAft>
              <a:buClrTx/>
              <a:buSzTx/>
              <a:buFontTx/>
              <a:buChar char="•"/>
              <a:tabLst>
                <a:tab pos="508000" algn="l"/>
              </a:tabLst>
            </a:pPr>
            <a:r>
              <a:rPr kumimoji="0" lang="en-US" sz="240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contains GPIO pins P0.0 to P0.15 </a:t>
            </a:r>
            <a:endParaRPr kumimoji="0" lang="en-US" sz="1100" i="0" u="none" strike="noStrike" cap="none" normalizeH="0" baseline="0" dirty="0" smtClean="0">
              <a:ln>
                <a:noFill/>
              </a:ln>
              <a:solidFill>
                <a:schemeClr val="tx1"/>
              </a:solidFill>
              <a:effectLst/>
              <a:latin typeface="Arial" pitchFamily="34" charset="0"/>
              <a:cs typeface="Arial" pitchFamily="34" charset="0"/>
            </a:endParaRPr>
          </a:p>
          <a:p>
            <a:pPr marL="347663" marR="0" lvl="0" indent="-347663" algn="l" defTabSz="914400" rtl="0" eaLnBrk="0" fontAlgn="base" latinLnBrk="0" hangingPunct="0">
              <a:lnSpc>
                <a:spcPct val="100000"/>
              </a:lnSpc>
              <a:spcBef>
                <a:spcPct val="0"/>
              </a:spcBef>
              <a:spcAft>
                <a:spcPct val="0"/>
              </a:spcAft>
              <a:buClrTx/>
              <a:buSzTx/>
              <a:buFontTx/>
              <a:buChar char="•"/>
              <a:tabLst>
                <a:tab pos="508000" algn="l"/>
              </a:tabLst>
            </a:pPr>
            <a:r>
              <a:rPr kumimoji="0" lang="en-US" sz="240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This is of 32 bit register </a:t>
            </a:r>
            <a:endParaRPr kumimoji="0" lang="en-US" sz="1100" i="0" u="none" strike="noStrike" cap="none" normalizeH="0" baseline="0" dirty="0" smtClean="0">
              <a:ln>
                <a:noFill/>
              </a:ln>
              <a:solidFill>
                <a:schemeClr val="tx1"/>
              </a:solidFill>
              <a:effectLst/>
              <a:latin typeface="Arial" pitchFamily="34" charset="0"/>
              <a:cs typeface="Arial" pitchFamily="34" charset="0"/>
            </a:endParaRPr>
          </a:p>
          <a:p>
            <a:pPr marL="347663" marR="0" lvl="0" indent="-347663" algn="l" defTabSz="914400" rtl="0" eaLnBrk="0" fontAlgn="base" latinLnBrk="0" hangingPunct="0">
              <a:lnSpc>
                <a:spcPct val="100000"/>
              </a:lnSpc>
              <a:spcBef>
                <a:spcPct val="0"/>
              </a:spcBef>
              <a:spcAft>
                <a:spcPct val="0"/>
              </a:spcAft>
              <a:buClrTx/>
              <a:buSzTx/>
              <a:buFontTx/>
              <a:buChar char="•"/>
              <a:tabLst>
                <a:tab pos="508000" algn="l"/>
              </a:tabLst>
            </a:pPr>
            <a:r>
              <a:rPr kumimoji="0" lang="en-US" sz="240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Group of two bits starting from LSB decides the function of each pin of respective port </a:t>
            </a:r>
            <a:endParaRPr kumimoji="0" lang="en-US" sz="3200" i="0" u="none" strike="noStrike" cap="none" normalizeH="0" baseline="0" dirty="0" smtClean="0">
              <a:ln>
                <a:noFill/>
              </a:ln>
              <a:solidFill>
                <a:schemeClr val="tx1"/>
              </a:solidFill>
              <a:effectLst/>
              <a:latin typeface="Arial" pitchFamily="34" charset="0"/>
              <a:cs typeface="Arial" pitchFamily="34"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576512"/>
            <a:ext cx="6095999"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1" name="Picture 1"/>
          <p:cNvPicPr>
            <a:picLocks noGrp="1" noChangeAspect="1" noChangeArrowheads="1"/>
          </p:cNvPicPr>
          <p:nvPr>
            <p:ph idx="1"/>
          </p:nvPr>
        </p:nvPicPr>
        <p:blipFill>
          <a:blip r:embed="rId2" cstate="print"/>
          <a:srcRect/>
          <a:stretch>
            <a:fillRect/>
          </a:stretch>
        </p:blipFill>
        <p:spPr bwMode="auto">
          <a:xfrm>
            <a:off x="1143000" y="1"/>
            <a:ext cx="6629400" cy="1676399"/>
          </a:xfrm>
          <a:prstGeom prst="rect">
            <a:avLst/>
          </a:prstGeom>
          <a:noFill/>
          <a:ln w="9525">
            <a:noFill/>
            <a:miter lim="800000"/>
            <a:headEnd/>
            <a:tailEnd/>
          </a:ln>
          <a:effectLst/>
        </p:spPr>
      </p:pic>
      <p:graphicFrame>
        <p:nvGraphicFramePr>
          <p:cNvPr id="5" name="Table 4"/>
          <p:cNvGraphicFramePr>
            <a:graphicFrameLocks noGrp="1"/>
          </p:cNvGraphicFramePr>
          <p:nvPr>
            <p:extLst>
              <p:ext uri="{D42A27DB-BD31-4B8C-83A1-F6EECF244321}">
                <p14:modId xmlns:p14="http://schemas.microsoft.com/office/powerpoint/2010/main" val="112230791"/>
              </p:ext>
            </p:extLst>
          </p:nvPr>
        </p:nvGraphicFramePr>
        <p:xfrm>
          <a:off x="1600200" y="2057400"/>
          <a:ext cx="5791200" cy="3084576"/>
        </p:xfrm>
        <a:graphic>
          <a:graphicData uri="http://schemas.openxmlformats.org/drawingml/2006/table">
            <a:tbl>
              <a:tblPr/>
              <a:tblGrid>
                <a:gridCol w="530860">
                  <a:extLst>
                    <a:ext uri="{9D8B030D-6E8A-4147-A177-3AD203B41FA5}">
                      <a16:colId xmlns="" xmlns:a16="http://schemas.microsoft.com/office/drawing/2014/main" val="20000"/>
                    </a:ext>
                  </a:extLst>
                </a:gridCol>
                <a:gridCol w="80433">
                  <a:extLst>
                    <a:ext uri="{9D8B030D-6E8A-4147-A177-3AD203B41FA5}">
                      <a16:colId xmlns="" xmlns:a16="http://schemas.microsoft.com/office/drawing/2014/main" val="20001"/>
                    </a:ext>
                  </a:extLst>
                </a:gridCol>
                <a:gridCol w="788247">
                  <a:extLst>
                    <a:ext uri="{9D8B030D-6E8A-4147-A177-3AD203B41FA5}">
                      <a16:colId xmlns="" xmlns:a16="http://schemas.microsoft.com/office/drawing/2014/main" val="20002"/>
                    </a:ext>
                  </a:extLst>
                </a:gridCol>
                <a:gridCol w="96520">
                  <a:extLst>
                    <a:ext uri="{9D8B030D-6E8A-4147-A177-3AD203B41FA5}">
                      <a16:colId xmlns="" xmlns:a16="http://schemas.microsoft.com/office/drawing/2014/main" val="20003"/>
                    </a:ext>
                  </a:extLst>
                </a:gridCol>
                <a:gridCol w="80433">
                  <a:extLst>
                    <a:ext uri="{9D8B030D-6E8A-4147-A177-3AD203B41FA5}">
                      <a16:colId xmlns="" xmlns:a16="http://schemas.microsoft.com/office/drawing/2014/main" val="20004"/>
                    </a:ext>
                  </a:extLst>
                </a:gridCol>
                <a:gridCol w="1319107">
                  <a:extLst>
                    <a:ext uri="{9D8B030D-6E8A-4147-A177-3AD203B41FA5}">
                      <a16:colId xmlns="" xmlns:a16="http://schemas.microsoft.com/office/drawing/2014/main" val="20005"/>
                    </a:ext>
                  </a:extLst>
                </a:gridCol>
                <a:gridCol w="96520">
                  <a:extLst>
                    <a:ext uri="{9D8B030D-6E8A-4147-A177-3AD203B41FA5}">
                      <a16:colId xmlns="" xmlns:a16="http://schemas.microsoft.com/office/drawing/2014/main" val="20006"/>
                    </a:ext>
                  </a:extLst>
                </a:gridCol>
                <a:gridCol w="80433">
                  <a:extLst>
                    <a:ext uri="{9D8B030D-6E8A-4147-A177-3AD203B41FA5}">
                      <a16:colId xmlns="" xmlns:a16="http://schemas.microsoft.com/office/drawing/2014/main" val="20007"/>
                    </a:ext>
                  </a:extLst>
                </a:gridCol>
                <a:gridCol w="2622127">
                  <a:extLst>
                    <a:ext uri="{9D8B030D-6E8A-4147-A177-3AD203B41FA5}">
                      <a16:colId xmlns="" xmlns:a16="http://schemas.microsoft.com/office/drawing/2014/main" val="20008"/>
                    </a:ext>
                  </a:extLst>
                </a:gridCol>
                <a:gridCol w="96520">
                  <a:extLst>
                    <a:ext uri="{9D8B030D-6E8A-4147-A177-3AD203B41FA5}">
                      <a16:colId xmlns="" xmlns:a16="http://schemas.microsoft.com/office/drawing/2014/main" val="20009"/>
                    </a:ext>
                  </a:extLst>
                </a:gridCol>
              </a:tblGrid>
              <a:tr h="241416">
                <a:tc>
                  <a:txBody>
                    <a:bodyPr/>
                    <a:lstStyle/>
                    <a:p>
                      <a:pPr marL="0" marR="0">
                        <a:lnSpc>
                          <a:spcPct val="115000"/>
                        </a:lnSpc>
                        <a:spcBef>
                          <a:spcPts val="0"/>
                        </a:spcBef>
                        <a:spcAft>
                          <a:spcPts val="0"/>
                        </a:spcAft>
                      </a:pPr>
                      <a:endParaRPr lang="en-US" sz="1200" dirty="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tcPr>
                </a:tc>
                <a:tc gridSpan="2">
                  <a:txBody>
                    <a:bodyPr/>
                    <a:lstStyle/>
                    <a:p>
                      <a:pPr marL="203200" marR="0">
                        <a:lnSpc>
                          <a:spcPct val="115000"/>
                        </a:lnSpc>
                        <a:spcBef>
                          <a:spcPts val="0"/>
                        </a:spcBef>
                        <a:spcAft>
                          <a:spcPts val="0"/>
                        </a:spcAft>
                      </a:pPr>
                      <a:r>
                        <a:rPr lang="en-US" sz="1800" b="1" dirty="0">
                          <a:latin typeface="Times New Roman"/>
                          <a:ea typeface="Times New Roman"/>
                          <a:cs typeface="Times New Roman"/>
                        </a:rPr>
                        <a:t>Bit</a:t>
                      </a:r>
                      <a:endParaRPr lang="en-US" sz="1400" dirty="0">
                        <a:latin typeface="Calibri"/>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a:txBody>
                    <a:bodyPr/>
                    <a:lstStyle/>
                    <a:p>
                      <a:pPr marL="0" marR="0">
                        <a:lnSpc>
                          <a:spcPct val="115000"/>
                        </a:lnSpc>
                        <a:spcBef>
                          <a:spcPts val="0"/>
                        </a:spcBef>
                        <a:spcAft>
                          <a:spcPts val="0"/>
                        </a:spcAft>
                      </a:pPr>
                      <a:endParaRPr lang="en-US" sz="16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tcPr>
                </a:tc>
                <a:tc gridSpan="2">
                  <a:txBody>
                    <a:bodyPr/>
                    <a:lstStyle/>
                    <a:p>
                      <a:pPr marL="558800" marR="0">
                        <a:lnSpc>
                          <a:spcPct val="115000"/>
                        </a:lnSpc>
                        <a:spcBef>
                          <a:spcPts val="0"/>
                        </a:spcBef>
                        <a:spcAft>
                          <a:spcPts val="0"/>
                        </a:spcAft>
                      </a:pPr>
                      <a:r>
                        <a:rPr lang="en-US" sz="1800" b="1" dirty="0">
                          <a:latin typeface="Times New Roman"/>
                          <a:ea typeface="Times New Roman"/>
                          <a:cs typeface="Times New Roman"/>
                        </a:rPr>
                        <a:t>Value</a:t>
                      </a:r>
                      <a:endParaRPr lang="en-US" sz="1400" dirty="0">
                        <a:latin typeface="Calibri"/>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a:txBody>
                    <a:bodyPr/>
                    <a:lstStyle/>
                    <a:p>
                      <a:pPr marL="0" marR="0">
                        <a:lnSpc>
                          <a:spcPct val="115000"/>
                        </a:lnSpc>
                        <a:spcBef>
                          <a:spcPts val="0"/>
                        </a:spcBef>
                        <a:spcAft>
                          <a:spcPts val="0"/>
                        </a:spcAft>
                      </a:pPr>
                      <a:endParaRPr lang="en-US" sz="1600" dirty="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tcPr>
                </a:tc>
                <a:tc gridSpan="2">
                  <a:txBody>
                    <a:bodyPr/>
                    <a:lstStyle/>
                    <a:p>
                      <a:pPr marL="327660" marR="0" algn="ctr">
                        <a:lnSpc>
                          <a:spcPct val="115000"/>
                        </a:lnSpc>
                        <a:spcBef>
                          <a:spcPts val="0"/>
                        </a:spcBef>
                        <a:spcAft>
                          <a:spcPts val="0"/>
                        </a:spcAft>
                      </a:pPr>
                      <a:r>
                        <a:rPr lang="en-US" sz="1800" b="1" dirty="0">
                          <a:latin typeface="Times New Roman"/>
                          <a:ea typeface="Times New Roman"/>
                          <a:cs typeface="Times New Roman"/>
                        </a:rPr>
                        <a:t>function</a:t>
                      </a:r>
                      <a:endParaRPr lang="en-US" sz="1400" dirty="0">
                        <a:latin typeface="Calibri"/>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extLst>
                  <a:ext uri="{0D108BD9-81ED-4DB2-BD59-A6C34878D82A}">
                    <a16:rowId xmlns="" xmlns:a16="http://schemas.microsoft.com/office/drawing/2014/main" val="10000"/>
                  </a:ext>
                </a:extLst>
              </a:tr>
              <a:tr h="189684">
                <a:tc>
                  <a:txBody>
                    <a:bodyPr/>
                    <a:lstStyle/>
                    <a:p>
                      <a:pPr marL="0" marR="0">
                        <a:lnSpc>
                          <a:spcPct val="115000"/>
                        </a:lnSpc>
                        <a:spcBef>
                          <a:spcPts val="0"/>
                        </a:spcBef>
                        <a:spcAft>
                          <a:spcPts val="0"/>
                        </a:spcAft>
                      </a:pPr>
                      <a:endParaRPr lang="en-US" sz="950" dirty="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endParaRPr lang="en-US" sz="9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no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1050">
                        <a:latin typeface="Times New Roman"/>
                        <a:ea typeface="Times New Roman"/>
                        <a:cs typeface="Times New Roman"/>
                      </a:endParaRPr>
                    </a:p>
                  </a:txBody>
                  <a:tcPr marL="0" marR="0" marT="0" marB="0" anchor="b">
                    <a:lnL>
                      <a:noFill/>
                    </a:lnL>
                    <a:lnR>
                      <a:noFill/>
                    </a:lnR>
                    <a:lnT w="12700" cap="flat" cmpd="sng" algn="ctr">
                      <a:no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105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C0C0C0"/>
                    </a:solidFill>
                  </a:tcPr>
                </a:tc>
                <a:tc rowSpan="2">
                  <a:txBody>
                    <a:bodyPr/>
                    <a:lstStyle/>
                    <a:p>
                      <a:pPr marL="0" marR="0">
                        <a:lnSpc>
                          <a:spcPct val="115000"/>
                        </a:lnSpc>
                        <a:spcBef>
                          <a:spcPts val="0"/>
                        </a:spcBef>
                        <a:spcAft>
                          <a:spcPts val="0"/>
                        </a:spcAft>
                      </a:pPr>
                      <a:endParaRPr lang="en-US" sz="10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rgbClr val="C0C0C0"/>
                      </a:solidFill>
                      <a:prstDash val="solid"/>
                      <a:round/>
                      <a:headEnd type="none" w="med" len="med"/>
                      <a:tailEnd type="none" w="med" len="med"/>
                    </a:lnB>
                    <a:solidFill>
                      <a:srgbClr val="C0C0C0"/>
                    </a:solidFill>
                  </a:tcPr>
                </a:tc>
                <a:tc rowSpan="2">
                  <a:txBody>
                    <a:bodyPr/>
                    <a:lstStyle/>
                    <a:p>
                      <a:pPr marL="0" marR="339725" algn="r">
                        <a:lnSpc>
                          <a:spcPts val="1565"/>
                        </a:lnSpc>
                        <a:spcBef>
                          <a:spcPts val="0"/>
                        </a:spcBef>
                        <a:spcAft>
                          <a:spcPts val="0"/>
                        </a:spcAft>
                      </a:pPr>
                      <a:r>
                        <a:rPr lang="en-US" sz="1800" dirty="0">
                          <a:latin typeface="Times New Roman"/>
                          <a:ea typeface="Times New Roman"/>
                          <a:cs typeface="Times New Roman"/>
                        </a:rPr>
                        <a:t>00</a:t>
                      </a:r>
                      <a:endParaRPr lang="en-US" sz="1400" dirty="0">
                        <a:latin typeface="Calibri"/>
                        <a:ea typeface="Times New Roman"/>
                        <a:cs typeface="Times New Roman"/>
                      </a:endParaRPr>
                    </a:p>
                  </a:txBody>
                  <a:tcPr marL="0" marR="0" marT="0" marB="0" anchor="b">
                    <a:lnL>
                      <a:noFill/>
                    </a:lnL>
                    <a:lnR>
                      <a:noFill/>
                    </a:lnR>
                    <a:lnT w="12700" cap="flat" cmpd="sng" algn="ctr">
                      <a:noFill/>
                      <a:prstDash val="solid"/>
                      <a:round/>
                      <a:headEnd type="none" w="med" len="med"/>
                      <a:tailEnd type="none" w="med" len="med"/>
                    </a:lnT>
                    <a:lnB w="12700" cap="flat" cmpd="sng" algn="ctr">
                      <a:solidFill>
                        <a:srgbClr val="C0C0C0"/>
                      </a:solidFill>
                      <a:prstDash val="solid"/>
                      <a:round/>
                      <a:headEnd type="none" w="med" len="med"/>
                      <a:tailEnd type="none" w="med" len="med"/>
                    </a:lnB>
                    <a:solidFill>
                      <a:srgbClr val="C0C0C0"/>
                    </a:solidFill>
                  </a:tcPr>
                </a:tc>
                <a:tc rowSpan="2">
                  <a:txBody>
                    <a:bodyPr/>
                    <a:lstStyle/>
                    <a:p>
                      <a:pPr marL="0" marR="0">
                        <a:lnSpc>
                          <a:spcPct val="115000"/>
                        </a:lnSpc>
                        <a:spcBef>
                          <a:spcPts val="0"/>
                        </a:spcBef>
                        <a:spcAft>
                          <a:spcPts val="0"/>
                        </a:spcAft>
                      </a:pPr>
                      <a:endParaRPr lang="en-US" sz="1050" dirty="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C0C0C0"/>
                      </a:solidFill>
                      <a:prstDash val="solid"/>
                      <a:round/>
                      <a:headEnd type="none" w="med" len="med"/>
                      <a:tailEnd type="none" w="med" len="med"/>
                    </a:lnB>
                    <a:solidFill>
                      <a:srgbClr val="C0C0C0"/>
                    </a:solidFill>
                  </a:tcPr>
                </a:tc>
                <a:tc rowSpan="2">
                  <a:txBody>
                    <a:bodyPr/>
                    <a:lstStyle/>
                    <a:p>
                      <a:pPr marL="0" marR="0">
                        <a:lnSpc>
                          <a:spcPct val="115000"/>
                        </a:lnSpc>
                        <a:spcBef>
                          <a:spcPts val="0"/>
                        </a:spcBef>
                        <a:spcAft>
                          <a:spcPts val="0"/>
                        </a:spcAft>
                      </a:pPr>
                      <a:endParaRPr lang="en-US" sz="1050" dirty="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rgbClr val="C0C0C0"/>
                      </a:solidFill>
                      <a:prstDash val="solid"/>
                      <a:round/>
                      <a:headEnd type="none" w="med" len="med"/>
                      <a:tailEnd type="none" w="med" len="med"/>
                    </a:lnB>
                    <a:solidFill>
                      <a:srgbClr val="C0C0C0"/>
                    </a:solidFill>
                  </a:tcPr>
                </a:tc>
                <a:tc rowSpan="2">
                  <a:txBody>
                    <a:bodyPr/>
                    <a:lstStyle/>
                    <a:p>
                      <a:pPr marL="403860" marR="0" algn="ctr">
                        <a:lnSpc>
                          <a:spcPts val="1565"/>
                        </a:lnSpc>
                        <a:spcBef>
                          <a:spcPts val="0"/>
                        </a:spcBef>
                        <a:spcAft>
                          <a:spcPts val="0"/>
                        </a:spcAft>
                      </a:pPr>
                      <a:r>
                        <a:rPr lang="en-US" sz="1800" dirty="0">
                          <a:latin typeface="Times New Roman"/>
                          <a:ea typeface="Times New Roman"/>
                          <a:cs typeface="Times New Roman"/>
                        </a:rPr>
                        <a:t>GPIO Port 0.0</a:t>
                      </a:r>
                      <a:endParaRPr lang="en-US" sz="1400" dirty="0">
                        <a:latin typeface="Calibri"/>
                        <a:ea typeface="Times New Roman"/>
                        <a:cs typeface="Times New Roman"/>
                      </a:endParaRPr>
                    </a:p>
                  </a:txBody>
                  <a:tcPr marL="0" marR="0" marT="0" marB="0" anchor="b">
                    <a:lnL>
                      <a:noFill/>
                    </a:lnL>
                    <a:lnR>
                      <a:noFill/>
                    </a:lnR>
                    <a:lnT w="12700" cap="flat" cmpd="sng" algn="ctr">
                      <a:noFill/>
                      <a:prstDash val="solid"/>
                      <a:round/>
                      <a:headEnd type="none" w="med" len="med"/>
                      <a:tailEnd type="none" w="med" len="med"/>
                    </a:lnT>
                    <a:lnB w="12700" cap="flat" cmpd="sng" algn="ctr">
                      <a:solidFill>
                        <a:srgbClr val="C0C0C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1000"/>
                        </a:spcAft>
                      </a:pPr>
                      <a:r>
                        <a:rPr lang="en-US" sz="1100">
                          <a:latin typeface="Calibri"/>
                          <a:ea typeface="Times New Roman"/>
                          <a:cs typeface="Times New Roman"/>
                        </a:rPr>
                        <a:t> </a:t>
                      </a:r>
                    </a:p>
                  </a:txBody>
                  <a:tcPr marL="0" marR="0" marT="0" marB="0" anchor="ctr">
                    <a:lnL>
                      <a:noFill/>
                    </a:lnL>
                    <a:lnR>
                      <a:noFill/>
                    </a:lnR>
                    <a:lnT>
                      <a:noFill/>
                    </a:lnT>
                    <a:lnB>
                      <a:noFill/>
                    </a:lnB>
                  </a:tcPr>
                </a:tc>
                <a:extLst>
                  <a:ext uri="{0D108BD9-81ED-4DB2-BD59-A6C34878D82A}">
                    <a16:rowId xmlns="" xmlns:a16="http://schemas.microsoft.com/office/drawing/2014/main" val="10001"/>
                  </a:ext>
                </a:extLst>
              </a:tr>
              <a:tr h="189684">
                <a:tc>
                  <a:txBody>
                    <a:bodyPr/>
                    <a:lstStyle/>
                    <a:p>
                      <a:pPr marL="0" marR="0">
                        <a:lnSpc>
                          <a:spcPct val="115000"/>
                        </a:lnSpc>
                        <a:spcBef>
                          <a:spcPts val="0"/>
                        </a:spcBef>
                        <a:spcAft>
                          <a:spcPts val="0"/>
                        </a:spcAft>
                      </a:pPr>
                      <a:endParaRPr lang="en-US" sz="45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endParaRPr lang="en-US" sz="4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C0C0C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700">
                        <a:latin typeface="Times New Roman"/>
                        <a:ea typeface="Times New Roman"/>
                        <a:cs typeface="Times New Roman"/>
                      </a:endParaRPr>
                    </a:p>
                  </a:txBody>
                  <a:tcPr marL="0" marR="0" marT="0" marB="0" anchor="b">
                    <a:lnL>
                      <a:noFill/>
                    </a:lnL>
                    <a:lnR>
                      <a:noFill/>
                    </a:lnR>
                    <a:lnT>
                      <a:noFill/>
                    </a:lnT>
                    <a:lnB w="12700" cap="flat" cmpd="sng" algn="ctr">
                      <a:solidFill>
                        <a:srgbClr val="C0C0C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700" dirty="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w="12700" cap="flat" cmpd="sng" algn="ctr">
                      <a:solidFill>
                        <a:srgbClr val="C0C0C0"/>
                      </a:solidFill>
                      <a:prstDash val="solid"/>
                      <a:round/>
                      <a:headEnd type="none" w="med" len="med"/>
                      <a:tailEnd type="none" w="med" len="med"/>
                    </a:lnB>
                    <a:solidFill>
                      <a:srgbClr val="C0C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nSpc>
                          <a:spcPct val="115000"/>
                        </a:lnSpc>
                        <a:spcBef>
                          <a:spcPts val="0"/>
                        </a:spcBef>
                        <a:spcAft>
                          <a:spcPts val="1000"/>
                        </a:spcAft>
                      </a:pPr>
                      <a:r>
                        <a:rPr lang="en-US" sz="1100">
                          <a:latin typeface="Calibri"/>
                          <a:ea typeface="Times New Roman"/>
                          <a:cs typeface="Times New Roman"/>
                        </a:rPr>
                        <a:t> </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206929">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solidFill>
                      <a:srgbClr val="C0C0C0"/>
                    </a:solidFill>
                  </a:tcPr>
                </a:tc>
                <a:tc rowSpan="2">
                  <a:txBody>
                    <a:bodyPr/>
                    <a:lstStyle/>
                    <a:p>
                      <a:pPr marL="0" marR="0" algn="ctr">
                        <a:lnSpc>
                          <a:spcPct val="115000"/>
                        </a:lnSpc>
                        <a:spcBef>
                          <a:spcPts val="0"/>
                        </a:spcBef>
                        <a:spcAft>
                          <a:spcPts val="0"/>
                        </a:spcAft>
                      </a:pPr>
                      <a:r>
                        <a:rPr lang="en-US" sz="1800" b="1">
                          <a:latin typeface="Times New Roman"/>
                          <a:ea typeface="Times New Roman"/>
                          <a:cs typeface="Times New Roman"/>
                        </a:rPr>
                        <a:t>P0.0</a:t>
                      </a:r>
                      <a:endParaRPr lang="en-US" sz="1400">
                        <a:latin typeface="Calibri"/>
                        <a:ea typeface="Times New Roman"/>
                        <a:cs typeface="Times New Roman"/>
                      </a:endParaRPr>
                    </a:p>
                  </a:txBody>
                  <a:tcPr marL="0" marR="0" marT="0" marB="0" anchor="b">
                    <a:lnL>
                      <a:noFill/>
                    </a:lnL>
                    <a:lnR>
                      <a:noFill/>
                    </a:lnR>
                    <a:lnT w="12700" cap="flat" cmpd="sng" algn="ctr">
                      <a:solidFill>
                        <a:srgbClr val="C0C0C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16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solidFill>
                      <a:srgbClr val="C0C0C0"/>
                    </a:solidFill>
                  </a:tcPr>
                </a:tc>
                <a:tc gridSpan="2">
                  <a:txBody>
                    <a:bodyPr/>
                    <a:lstStyle/>
                    <a:p>
                      <a:pPr marL="0" marR="339725" algn="r">
                        <a:lnSpc>
                          <a:spcPts val="1575"/>
                        </a:lnSpc>
                        <a:spcBef>
                          <a:spcPts val="0"/>
                        </a:spcBef>
                        <a:spcAft>
                          <a:spcPts val="0"/>
                        </a:spcAft>
                      </a:pPr>
                      <a:r>
                        <a:rPr lang="en-US" sz="1800">
                          <a:latin typeface="Times New Roman"/>
                          <a:ea typeface="Times New Roman"/>
                          <a:cs typeface="Times New Roman"/>
                        </a:rPr>
                        <a:t>01</a:t>
                      </a:r>
                      <a:endParaRPr lang="en-US" sz="140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C0C0C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marL="0" marR="0">
                        <a:lnSpc>
                          <a:spcPct val="115000"/>
                        </a:lnSpc>
                        <a:spcBef>
                          <a:spcPts val="0"/>
                        </a:spcBef>
                        <a:spcAft>
                          <a:spcPts val="0"/>
                        </a:spcAft>
                      </a:pPr>
                      <a:endParaRPr lang="en-US" sz="16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16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C0C0C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289560" marR="0" algn="ctr">
                        <a:lnSpc>
                          <a:spcPts val="1575"/>
                        </a:lnSpc>
                        <a:spcBef>
                          <a:spcPts val="0"/>
                        </a:spcBef>
                        <a:spcAft>
                          <a:spcPts val="0"/>
                        </a:spcAft>
                      </a:pPr>
                      <a:r>
                        <a:rPr lang="en-US" sz="1800" dirty="0">
                          <a:latin typeface="Times New Roman"/>
                          <a:ea typeface="Times New Roman"/>
                          <a:cs typeface="Times New Roman"/>
                        </a:rPr>
                        <a:t>TXD (UART0)</a:t>
                      </a:r>
                      <a:endParaRPr lang="en-US" sz="1400" dirty="0">
                        <a:latin typeface="Calibri"/>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 xmlns:a16="http://schemas.microsoft.com/office/drawing/2014/main" val="10003"/>
                  </a:ext>
                </a:extLst>
              </a:tr>
              <a:tr h="189684">
                <a:tc>
                  <a:txBody>
                    <a:bodyPr/>
                    <a:lstStyle/>
                    <a:p>
                      <a:pPr marL="0" marR="0">
                        <a:lnSpc>
                          <a:spcPct val="115000"/>
                        </a:lnSpc>
                        <a:spcBef>
                          <a:spcPts val="0"/>
                        </a:spcBef>
                        <a:spcAft>
                          <a:spcPts val="0"/>
                        </a:spcAft>
                      </a:pPr>
                      <a:endParaRPr lang="en-US" sz="7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endParaRPr lang="en-US" sz="7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C0C0C0"/>
                      </a:solidFill>
                      <a:prstDash val="solid"/>
                      <a:round/>
                      <a:headEnd type="none" w="med" len="med"/>
                      <a:tailEnd type="none" w="med" len="med"/>
                    </a:lnT>
                    <a:lnB>
                      <a:noFill/>
                    </a:lnB>
                    <a:solidFill>
                      <a:srgbClr val="C0C0C0"/>
                    </a:solidFill>
                  </a:tcPr>
                </a:tc>
                <a:tc vMerge="1">
                  <a:txBody>
                    <a:bodyPr/>
                    <a:lstStyle/>
                    <a:p>
                      <a:endParaRPr lang="en-US"/>
                    </a:p>
                  </a:txBody>
                  <a:tcPr/>
                </a:tc>
                <a:tc>
                  <a:txBody>
                    <a:bodyPr/>
                    <a:lstStyle/>
                    <a:p>
                      <a:pPr marL="0" marR="0">
                        <a:lnSpc>
                          <a:spcPct val="115000"/>
                        </a:lnSpc>
                        <a:spcBef>
                          <a:spcPts val="0"/>
                        </a:spcBef>
                        <a:spcAft>
                          <a:spcPts val="0"/>
                        </a:spcAft>
                      </a:pPr>
                      <a:endParaRPr lang="en-US" sz="9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C0C0C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9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C0C0C0"/>
                    </a:solidFill>
                  </a:tcPr>
                </a:tc>
                <a:tc rowSpan="2">
                  <a:txBody>
                    <a:bodyPr/>
                    <a:lstStyle/>
                    <a:p>
                      <a:pPr marL="0" marR="339725" algn="r">
                        <a:lnSpc>
                          <a:spcPct val="115000"/>
                        </a:lnSpc>
                        <a:spcBef>
                          <a:spcPts val="0"/>
                        </a:spcBef>
                        <a:spcAft>
                          <a:spcPts val="0"/>
                        </a:spcAft>
                      </a:pPr>
                      <a:r>
                        <a:rPr lang="en-US" sz="1800">
                          <a:latin typeface="Times New Roman"/>
                          <a:ea typeface="Times New Roman"/>
                          <a:cs typeface="Times New Roman"/>
                        </a:rPr>
                        <a:t>10</a:t>
                      </a:r>
                      <a:endParaRPr lang="en-US" sz="1400">
                        <a:latin typeface="Calibri"/>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C0C0C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9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9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C0C0C0"/>
                    </a:solidFill>
                  </a:tcPr>
                </a:tc>
                <a:tc rowSpan="2">
                  <a:txBody>
                    <a:bodyPr/>
                    <a:lstStyle/>
                    <a:p>
                      <a:pPr marL="378460" marR="0" algn="ctr">
                        <a:lnSpc>
                          <a:spcPct val="115000"/>
                        </a:lnSpc>
                        <a:spcBef>
                          <a:spcPts val="0"/>
                        </a:spcBef>
                        <a:spcAft>
                          <a:spcPts val="0"/>
                        </a:spcAft>
                      </a:pPr>
                      <a:r>
                        <a:rPr lang="en-US" sz="1800" dirty="0">
                          <a:latin typeface="Times New Roman"/>
                          <a:ea typeface="Times New Roman"/>
                          <a:cs typeface="Times New Roman"/>
                        </a:rPr>
                        <a:t>PWM1</a:t>
                      </a:r>
                      <a:endParaRPr lang="en-US" sz="1400" dirty="0">
                        <a:latin typeface="Calibri"/>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C0C0C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1000"/>
                        </a:spcAft>
                      </a:pPr>
                      <a:r>
                        <a:rPr lang="en-US" sz="1100">
                          <a:latin typeface="Calibri"/>
                          <a:ea typeface="Times New Roman"/>
                          <a:cs typeface="Times New Roman"/>
                        </a:rPr>
                        <a:t> </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 xmlns:a16="http://schemas.microsoft.com/office/drawing/2014/main" val="10004"/>
                  </a:ext>
                </a:extLst>
              </a:tr>
              <a:tr h="189684">
                <a:tc>
                  <a:txBody>
                    <a:bodyPr/>
                    <a:lstStyle/>
                    <a:p>
                      <a:pPr marL="0" marR="0">
                        <a:lnSpc>
                          <a:spcPct val="115000"/>
                        </a:lnSpc>
                        <a:spcBef>
                          <a:spcPts val="0"/>
                        </a:spcBef>
                        <a:spcAft>
                          <a:spcPts val="0"/>
                        </a:spcAft>
                      </a:pPr>
                      <a:endParaRPr lang="en-US" sz="10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endParaRPr lang="en-US" sz="10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C0C0C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1100">
                        <a:latin typeface="Times New Roman"/>
                        <a:ea typeface="Times New Roman"/>
                        <a:cs typeface="Times New Roman"/>
                      </a:endParaRPr>
                    </a:p>
                  </a:txBody>
                  <a:tcPr marL="0" marR="0" marT="0" marB="0" anchor="b">
                    <a:lnL>
                      <a:noFill/>
                    </a:lnL>
                    <a:lnR>
                      <a:noFill/>
                    </a:lnR>
                    <a:lnT>
                      <a:noFill/>
                    </a:lnT>
                    <a:lnB w="12700" cap="flat" cmpd="sng" algn="ctr">
                      <a:solidFill>
                        <a:srgbClr val="C0C0C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11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w="12700" cap="flat" cmpd="sng" algn="ctr">
                      <a:solidFill>
                        <a:srgbClr val="C0C0C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11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C0C0C0"/>
                      </a:solidFill>
                      <a:prstDash val="solid"/>
                      <a:round/>
                      <a:headEnd type="none" w="med" len="med"/>
                      <a:tailEnd type="none" w="med" len="med"/>
                    </a:lnB>
                    <a:solidFill>
                      <a:srgbClr val="C0C0C0"/>
                    </a:solidFill>
                  </a:tcPr>
                </a:tc>
                <a:tc vMerge="1">
                  <a:txBody>
                    <a:bodyPr/>
                    <a:lstStyle/>
                    <a:p>
                      <a:endParaRPr lang="en-US"/>
                    </a:p>
                  </a:txBody>
                  <a:tcPr/>
                </a:tc>
                <a:tc>
                  <a:txBody>
                    <a:bodyPr/>
                    <a:lstStyle/>
                    <a:p>
                      <a:pPr marL="0" marR="0">
                        <a:lnSpc>
                          <a:spcPct val="115000"/>
                        </a:lnSpc>
                        <a:spcBef>
                          <a:spcPts val="0"/>
                        </a:spcBef>
                        <a:spcAft>
                          <a:spcPts val="0"/>
                        </a:spcAft>
                      </a:pPr>
                      <a:endParaRPr lang="en-US" sz="11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w="12700" cap="flat" cmpd="sng" algn="ctr">
                      <a:solidFill>
                        <a:srgbClr val="C0C0C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1100" dirty="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C0C0C0"/>
                      </a:solidFill>
                      <a:prstDash val="solid"/>
                      <a:round/>
                      <a:headEnd type="none" w="med" len="med"/>
                      <a:tailEnd type="none" w="med" len="med"/>
                    </a:lnB>
                    <a:solidFill>
                      <a:srgbClr val="C0C0C0"/>
                    </a:solidFill>
                  </a:tcPr>
                </a:tc>
                <a:tc vMerge="1">
                  <a:txBody>
                    <a:bodyPr/>
                    <a:lstStyle/>
                    <a:p>
                      <a:endParaRPr lang="en-US"/>
                    </a:p>
                  </a:txBody>
                  <a:tcPr/>
                </a:tc>
                <a:tc>
                  <a:txBody>
                    <a:bodyPr/>
                    <a:lstStyle/>
                    <a:p>
                      <a:pPr marL="0" marR="0">
                        <a:lnSpc>
                          <a:spcPct val="115000"/>
                        </a:lnSpc>
                        <a:spcBef>
                          <a:spcPts val="0"/>
                        </a:spcBef>
                        <a:spcAft>
                          <a:spcPts val="1000"/>
                        </a:spcAft>
                      </a:pPr>
                      <a:r>
                        <a:rPr lang="en-US" sz="1100">
                          <a:latin typeface="Calibri"/>
                          <a:ea typeface="Times New Roman"/>
                          <a:cs typeface="Times New Roman"/>
                        </a:rPr>
                        <a:t> </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5"/>
                  </a:ext>
                </a:extLst>
              </a:tr>
              <a:tr h="51732">
                <a:tc>
                  <a:txBody>
                    <a:bodyPr/>
                    <a:lstStyle/>
                    <a:p>
                      <a:pPr marL="0" marR="0">
                        <a:lnSpc>
                          <a:spcPct val="115000"/>
                        </a:lnSpc>
                        <a:spcBef>
                          <a:spcPts val="0"/>
                        </a:spcBef>
                        <a:spcAft>
                          <a:spcPts val="0"/>
                        </a:spcAft>
                      </a:pPr>
                      <a:endParaRPr lang="en-US" sz="3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endParaRPr lang="en-US" sz="3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C0C0C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500">
                        <a:latin typeface="Times New Roman"/>
                        <a:ea typeface="Times New Roman"/>
                        <a:cs typeface="Times New Roman"/>
                      </a:endParaRPr>
                    </a:p>
                  </a:txBody>
                  <a:tcPr marL="0" marR="0" marT="0" marB="0" anchor="b">
                    <a:lnL>
                      <a:noFill/>
                    </a:lnL>
                    <a:lnR>
                      <a:noFill/>
                    </a:lnR>
                    <a:lnT w="12700" cap="flat" cmpd="sng" algn="ctr">
                      <a:solidFill>
                        <a:srgbClr val="C0C0C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5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C0C0C0"/>
                      </a:solidFill>
                      <a:prstDash val="solid"/>
                      <a:round/>
                      <a:headEnd type="none" w="med" len="med"/>
                      <a:tailEnd type="none" w="med" len="med"/>
                    </a:lnT>
                    <a:lnB>
                      <a:noFill/>
                    </a:lnB>
                    <a:solidFill>
                      <a:srgbClr val="C0C0C0"/>
                    </a:solidFill>
                  </a:tcPr>
                </a:tc>
                <a:tc rowSpan="2" gridSpan="2">
                  <a:txBody>
                    <a:bodyPr/>
                    <a:lstStyle/>
                    <a:p>
                      <a:pPr marL="0" marR="339725" algn="r">
                        <a:lnSpc>
                          <a:spcPts val="1565"/>
                        </a:lnSpc>
                        <a:spcBef>
                          <a:spcPts val="0"/>
                        </a:spcBef>
                        <a:spcAft>
                          <a:spcPts val="0"/>
                        </a:spcAft>
                      </a:pPr>
                      <a:r>
                        <a:rPr lang="en-US" sz="1800">
                          <a:latin typeface="Times New Roman"/>
                          <a:ea typeface="Times New Roman"/>
                          <a:cs typeface="Times New Roman"/>
                        </a:rPr>
                        <a:t>11</a:t>
                      </a:r>
                      <a:endParaRPr lang="en-US" sz="140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C0C0C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hMerge="1">
                  <a:txBody>
                    <a:bodyPr/>
                    <a:lstStyle/>
                    <a:p>
                      <a:endParaRPr lang="en-US"/>
                    </a:p>
                  </a:txBody>
                  <a:tcPr/>
                </a:tc>
                <a:tc rowSpan="2">
                  <a:txBody>
                    <a:bodyPr/>
                    <a:lstStyle/>
                    <a:p>
                      <a:pPr marL="0" marR="0">
                        <a:lnSpc>
                          <a:spcPct val="115000"/>
                        </a:lnSpc>
                        <a:spcBef>
                          <a:spcPts val="0"/>
                        </a:spcBef>
                        <a:spcAft>
                          <a:spcPts val="0"/>
                        </a:spcAft>
                      </a:pPr>
                      <a:endParaRPr lang="en-US" sz="5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15000"/>
                        </a:lnSpc>
                        <a:spcBef>
                          <a:spcPts val="0"/>
                        </a:spcBef>
                        <a:spcAft>
                          <a:spcPts val="0"/>
                        </a:spcAft>
                      </a:pPr>
                      <a:endParaRPr lang="en-US" sz="5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C0C0C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gridSpan="2">
                  <a:txBody>
                    <a:bodyPr/>
                    <a:lstStyle/>
                    <a:p>
                      <a:pPr marL="302260" marR="0" algn="ctr">
                        <a:lnSpc>
                          <a:spcPts val="1565"/>
                        </a:lnSpc>
                        <a:spcBef>
                          <a:spcPts val="0"/>
                        </a:spcBef>
                        <a:spcAft>
                          <a:spcPts val="0"/>
                        </a:spcAft>
                      </a:pPr>
                      <a:r>
                        <a:rPr lang="en-US" sz="1800" dirty="0">
                          <a:latin typeface="Times New Roman"/>
                          <a:ea typeface="Times New Roman"/>
                          <a:cs typeface="Times New Roman"/>
                        </a:rPr>
                        <a:t>Reserved</a:t>
                      </a:r>
                      <a:endParaRPr lang="en-US" sz="1400" dirty="0">
                        <a:latin typeface="Calibri"/>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hMerge="1">
                  <a:txBody>
                    <a:bodyPr/>
                    <a:lstStyle/>
                    <a:p>
                      <a:endParaRPr lang="en-US"/>
                    </a:p>
                  </a:txBody>
                  <a:tcPr/>
                </a:tc>
                <a:extLst>
                  <a:ext uri="{0D108BD9-81ED-4DB2-BD59-A6C34878D82A}">
                    <a16:rowId xmlns="" xmlns:a16="http://schemas.microsoft.com/office/drawing/2014/main" val="10006"/>
                  </a:ext>
                </a:extLst>
              </a:tr>
              <a:tr h="181062">
                <a:tc>
                  <a:txBody>
                    <a:bodyPr/>
                    <a:lstStyle/>
                    <a:p>
                      <a:pPr marL="0" marR="0">
                        <a:lnSpc>
                          <a:spcPct val="115000"/>
                        </a:lnSpc>
                        <a:spcBef>
                          <a:spcPts val="0"/>
                        </a:spcBef>
                        <a:spcAft>
                          <a:spcPts val="0"/>
                        </a:spcAft>
                      </a:pPr>
                      <a:endParaRPr lang="en-US" sz="105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endParaRPr lang="en-US" sz="10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1200" dirty="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C0C0C0"/>
                    </a:solidFill>
                  </a:tcPr>
                </a:tc>
                <a:tc gridSpan="2" vMerge="1">
                  <a:txBody>
                    <a:bodyPr/>
                    <a:lstStyle/>
                    <a:p>
                      <a:endParaRPr lang="en-US"/>
                    </a:p>
                  </a:txBody>
                  <a:tcPr/>
                </a:tc>
                <a:tc hMerge="1" vMerge="1">
                  <a:txBody>
                    <a:bodyPr/>
                    <a:lstStyle/>
                    <a:p>
                      <a:endParaRPr lang="en-US"/>
                    </a:p>
                  </a:txBody>
                  <a:tcPr/>
                </a:tc>
                <a:tc vMerge="1">
                  <a:txBody>
                    <a:bodyPr/>
                    <a:lstStyle/>
                    <a:p>
                      <a:endParaRPr lang="en-US"/>
                    </a:p>
                  </a:txBody>
                  <a:tcPr/>
                </a:tc>
                <a:tc vMerge="1">
                  <a:txBody>
                    <a:bodyPr/>
                    <a:lstStyle/>
                    <a:p>
                      <a:endParaRPr lang="en-US"/>
                    </a:p>
                  </a:txBody>
                  <a:tcPr/>
                </a:tc>
                <a:tc gridSpan="2" vMerge="1">
                  <a:txBody>
                    <a:bodyPr/>
                    <a:lstStyle/>
                    <a:p>
                      <a:endParaRPr lang="en-US"/>
                    </a:p>
                  </a:txBody>
                  <a:tcPr/>
                </a:tc>
                <a:tc hMerge="1" vMerge="1">
                  <a:txBody>
                    <a:bodyPr/>
                    <a:lstStyle/>
                    <a:p>
                      <a:endParaRPr lang="en-US"/>
                    </a:p>
                  </a:txBody>
                  <a:tcPr/>
                </a:tc>
                <a:extLst>
                  <a:ext uri="{0D108BD9-81ED-4DB2-BD59-A6C34878D82A}">
                    <a16:rowId xmlns="" xmlns:a16="http://schemas.microsoft.com/office/drawing/2014/main" val="10007"/>
                  </a:ext>
                </a:extLst>
              </a:tr>
              <a:tr h="206929">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C0C0C0"/>
                    </a:solidFill>
                  </a:tcPr>
                </a:tc>
                <a:tc>
                  <a:txBody>
                    <a:bodyPr/>
                    <a:lstStyle/>
                    <a:p>
                      <a:pPr marL="0" marR="0" algn="ctr">
                        <a:lnSpc>
                          <a:spcPts val="1590"/>
                        </a:lnSpc>
                        <a:spcBef>
                          <a:spcPts val="0"/>
                        </a:spcBef>
                        <a:spcAft>
                          <a:spcPts val="0"/>
                        </a:spcAft>
                      </a:pPr>
                      <a:r>
                        <a:rPr lang="en-US" sz="1800" b="1">
                          <a:latin typeface="Times New Roman"/>
                          <a:ea typeface="Times New Roman"/>
                          <a:cs typeface="Times New Roman"/>
                        </a:rPr>
                        <a:t>P0.1</a:t>
                      </a:r>
                      <a:endParaRPr lang="en-US" sz="1400">
                        <a:latin typeface="Calibri"/>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16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16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1600">
                        <a:latin typeface="Times New Roman"/>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16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16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1600" dirty="0">
                        <a:latin typeface="Times New Roman"/>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1000"/>
                        </a:spcAft>
                      </a:pPr>
                      <a:r>
                        <a:rPr lang="en-US" sz="1100">
                          <a:latin typeface="Calibri"/>
                          <a:ea typeface="Times New Roman"/>
                          <a:cs typeface="Times New Roman"/>
                        </a:rPr>
                        <a:t> </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 xmlns:a16="http://schemas.microsoft.com/office/drawing/2014/main" val="10008"/>
                  </a:ext>
                </a:extLst>
              </a:tr>
              <a:tr h="206929">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solidFill>
                      <a:srgbClr val="C0C0C0"/>
                    </a:solidFill>
                  </a:tcPr>
                </a:tc>
                <a:tc>
                  <a:txBody>
                    <a:bodyPr/>
                    <a:lstStyle/>
                    <a:p>
                      <a:pPr marL="0" marR="0" algn="ctr">
                        <a:lnSpc>
                          <a:spcPts val="1605"/>
                        </a:lnSpc>
                        <a:spcBef>
                          <a:spcPts val="0"/>
                        </a:spcBef>
                        <a:spcAft>
                          <a:spcPts val="0"/>
                        </a:spcAft>
                      </a:pPr>
                      <a:r>
                        <a:rPr lang="en-US" sz="1800" b="1">
                          <a:latin typeface="Times New Roman"/>
                          <a:ea typeface="Times New Roman"/>
                          <a:cs typeface="Times New Roman"/>
                        </a:rPr>
                        <a:t>:</a:t>
                      </a:r>
                      <a:endParaRPr lang="en-US" sz="1400">
                        <a:latin typeface="Calibri"/>
                        <a:ea typeface="Times New Roman"/>
                        <a:cs typeface="Times New Roman"/>
                      </a:endParaRPr>
                    </a:p>
                  </a:txBody>
                  <a:tcPr marL="0" marR="0" marT="0" marB="0" anchor="b">
                    <a:lnL>
                      <a:noFill/>
                    </a:lnL>
                    <a:lnR>
                      <a:noFill/>
                    </a:lnR>
                    <a:lnT>
                      <a:noFill/>
                    </a:lnT>
                    <a:lnB>
                      <a:noFill/>
                    </a:lnB>
                    <a:solidFill>
                      <a:srgbClr val="C0C0C0"/>
                    </a:solidFill>
                  </a:tcPr>
                </a:tc>
                <a:tc>
                  <a:txBody>
                    <a:bodyPr/>
                    <a:lstStyle/>
                    <a:p>
                      <a:pPr marL="0" marR="0">
                        <a:lnSpc>
                          <a:spcPct val="115000"/>
                        </a:lnSpc>
                        <a:spcBef>
                          <a:spcPts val="0"/>
                        </a:spcBef>
                        <a:spcAft>
                          <a:spcPts val="0"/>
                        </a:spcAft>
                      </a:pPr>
                      <a:endParaRPr lang="en-US" sz="16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solidFill>
                      <a:srgbClr val="C0C0C0"/>
                    </a:solidFill>
                  </a:tcPr>
                </a:tc>
                <a:tc>
                  <a:txBody>
                    <a:bodyPr/>
                    <a:lstStyle/>
                    <a:p>
                      <a:pPr marL="0" marR="0">
                        <a:lnSpc>
                          <a:spcPct val="115000"/>
                        </a:lnSpc>
                        <a:spcBef>
                          <a:spcPts val="0"/>
                        </a:spcBef>
                        <a:spcAft>
                          <a:spcPts val="0"/>
                        </a:spcAft>
                      </a:pPr>
                      <a:endParaRPr lang="en-US" sz="16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solidFill>
                      <a:srgbClr val="C0C0C0"/>
                    </a:solidFill>
                  </a:tcPr>
                </a:tc>
                <a:tc>
                  <a:txBody>
                    <a:bodyPr/>
                    <a:lstStyle/>
                    <a:p>
                      <a:pPr marL="0" marR="0">
                        <a:lnSpc>
                          <a:spcPct val="115000"/>
                        </a:lnSpc>
                        <a:spcBef>
                          <a:spcPts val="0"/>
                        </a:spcBef>
                        <a:spcAft>
                          <a:spcPts val="0"/>
                        </a:spcAft>
                      </a:pPr>
                      <a:endParaRPr lang="en-US" sz="1600">
                        <a:latin typeface="Times New Roman"/>
                        <a:ea typeface="Times New Roman"/>
                        <a:cs typeface="Times New Roman"/>
                      </a:endParaRPr>
                    </a:p>
                  </a:txBody>
                  <a:tcPr marL="0" marR="0" marT="0" marB="0" anchor="b">
                    <a:lnL>
                      <a:noFill/>
                    </a:lnL>
                    <a:lnR>
                      <a:noFill/>
                    </a:lnR>
                    <a:lnT>
                      <a:noFill/>
                    </a:lnT>
                    <a:lnB>
                      <a:noFill/>
                    </a:lnB>
                    <a:solidFill>
                      <a:srgbClr val="C0C0C0"/>
                    </a:solidFill>
                  </a:tcPr>
                </a:tc>
                <a:tc>
                  <a:txBody>
                    <a:bodyPr/>
                    <a:lstStyle/>
                    <a:p>
                      <a:pPr marL="0" marR="0">
                        <a:lnSpc>
                          <a:spcPct val="115000"/>
                        </a:lnSpc>
                        <a:spcBef>
                          <a:spcPts val="0"/>
                        </a:spcBef>
                        <a:spcAft>
                          <a:spcPts val="0"/>
                        </a:spcAft>
                      </a:pPr>
                      <a:endParaRPr lang="en-US" sz="16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solidFill>
                      <a:srgbClr val="C0C0C0"/>
                    </a:solidFill>
                  </a:tcPr>
                </a:tc>
                <a:tc>
                  <a:txBody>
                    <a:bodyPr/>
                    <a:lstStyle/>
                    <a:p>
                      <a:pPr marL="0" marR="0">
                        <a:lnSpc>
                          <a:spcPct val="115000"/>
                        </a:lnSpc>
                        <a:spcBef>
                          <a:spcPts val="0"/>
                        </a:spcBef>
                        <a:spcAft>
                          <a:spcPts val="0"/>
                        </a:spcAft>
                      </a:pPr>
                      <a:endParaRPr lang="en-US" sz="16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solidFill>
                      <a:srgbClr val="C0C0C0"/>
                    </a:solidFill>
                  </a:tcPr>
                </a:tc>
                <a:tc>
                  <a:txBody>
                    <a:bodyPr/>
                    <a:lstStyle/>
                    <a:p>
                      <a:pPr marL="0" marR="0">
                        <a:lnSpc>
                          <a:spcPct val="115000"/>
                        </a:lnSpc>
                        <a:spcBef>
                          <a:spcPts val="0"/>
                        </a:spcBef>
                        <a:spcAft>
                          <a:spcPts val="0"/>
                        </a:spcAft>
                      </a:pPr>
                      <a:endParaRPr lang="en-US" sz="1600" dirty="0">
                        <a:latin typeface="Times New Roman"/>
                        <a:ea typeface="Times New Roman"/>
                        <a:cs typeface="Times New Roman"/>
                      </a:endParaRPr>
                    </a:p>
                  </a:txBody>
                  <a:tcPr marL="0" marR="0" marT="0" marB="0" anchor="b">
                    <a:lnL>
                      <a:noFill/>
                    </a:lnL>
                    <a:lnR>
                      <a:noFill/>
                    </a:lnR>
                    <a:lnT>
                      <a:noFill/>
                    </a:lnT>
                    <a:lnB>
                      <a:noFill/>
                    </a:lnB>
                    <a:solidFill>
                      <a:srgbClr val="C0C0C0"/>
                    </a:solidFill>
                  </a:tcPr>
                </a:tc>
                <a:tc>
                  <a:txBody>
                    <a:bodyPr/>
                    <a:lstStyle/>
                    <a:p>
                      <a:pPr marL="0" marR="0">
                        <a:lnSpc>
                          <a:spcPct val="115000"/>
                        </a:lnSpc>
                        <a:spcBef>
                          <a:spcPts val="0"/>
                        </a:spcBef>
                        <a:spcAft>
                          <a:spcPts val="1000"/>
                        </a:spcAft>
                      </a:pPr>
                      <a:r>
                        <a:rPr lang="en-US" sz="1100">
                          <a:latin typeface="Calibri"/>
                          <a:ea typeface="Times New Roman"/>
                          <a:cs typeface="Times New Roman"/>
                        </a:rPr>
                        <a:t> </a:t>
                      </a:r>
                    </a:p>
                  </a:txBody>
                  <a:tcPr marL="0" marR="0" marT="0" marB="0" anchor="ctr">
                    <a:lnL>
                      <a:noFill/>
                    </a:lnL>
                    <a:lnR>
                      <a:noFill/>
                    </a:lnR>
                    <a:lnT>
                      <a:noFill/>
                    </a:lnT>
                    <a:lnB>
                      <a:noFill/>
                    </a:lnB>
                  </a:tcPr>
                </a:tc>
                <a:extLst>
                  <a:ext uri="{0D108BD9-81ED-4DB2-BD59-A6C34878D82A}">
                    <a16:rowId xmlns="" xmlns:a16="http://schemas.microsoft.com/office/drawing/2014/main" val="10009"/>
                  </a:ext>
                </a:extLst>
              </a:tr>
              <a:tr h="189684">
                <a:tc>
                  <a:txBody>
                    <a:bodyPr/>
                    <a:lstStyle/>
                    <a:p>
                      <a:pPr marL="0" marR="0">
                        <a:lnSpc>
                          <a:spcPct val="115000"/>
                        </a:lnSpc>
                        <a:spcBef>
                          <a:spcPts val="0"/>
                        </a:spcBef>
                        <a:spcAft>
                          <a:spcPts val="0"/>
                        </a:spcAft>
                      </a:pPr>
                      <a:endParaRPr lang="en-US" sz="7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endParaRPr lang="en-US" sz="7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solidFill>
                      <a:srgbClr val="C0C0C0"/>
                    </a:solidFill>
                  </a:tcPr>
                </a:tc>
                <a:tc rowSpan="3">
                  <a:txBody>
                    <a:bodyPr/>
                    <a:lstStyle/>
                    <a:p>
                      <a:pPr marL="0" marR="0" algn="ctr">
                        <a:lnSpc>
                          <a:spcPts val="1605"/>
                        </a:lnSpc>
                        <a:spcBef>
                          <a:spcPts val="0"/>
                        </a:spcBef>
                        <a:spcAft>
                          <a:spcPts val="0"/>
                        </a:spcAft>
                      </a:pPr>
                      <a:r>
                        <a:rPr lang="en-US" sz="1800" b="1">
                          <a:latin typeface="Times New Roman"/>
                          <a:ea typeface="Times New Roman"/>
                          <a:cs typeface="Times New Roman"/>
                        </a:rPr>
                        <a:t>:</a:t>
                      </a:r>
                      <a:endParaRPr lang="en-US" sz="1400">
                        <a:latin typeface="Calibri"/>
                        <a:ea typeface="Times New Roman"/>
                        <a:cs typeface="Times New Roman"/>
                      </a:endParaRPr>
                    </a:p>
                  </a:txBody>
                  <a:tcPr marL="0" marR="0" marT="0" marB="0" anchor="b">
                    <a:lnL>
                      <a:noFill/>
                    </a:lnL>
                    <a:lnR>
                      <a:noFill/>
                    </a:lnR>
                    <a:lnT>
                      <a:noFill/>
                    </a:lnT>
                    <a:lnB>
                      <a:noFill/>
                    </a:lnB>
                    <a:solidFill>
                      <a:srgbClr val="C0C0C0"/>
                    </a:solidFill>
                  </a:tcPr>
                </a:tc>
                <a:tc>
                  <a:txBody>
                    <a:bodyPr/>
                    <a:lstStyle/>
                    <a:p>
                      <a:pPr marL="0" marR="0">
                        <a:lnSpc>
                          <a:spcPct val="115000"/>
                        </a:lnSpc>
                        <a:spcBef>
                          <a:spcPts val="0"/>
                        </a:spcBef>
                        <a:spcAft>
                          <a:spcPts val="0"/>
                        </a:spcAft>
                      </a:pPr>
                      <a:endParaRPr lang="en-US" sz="9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solidFill>
                      <a:srgbClr val="C0C0C0"/>
                    </a:solidFill>
                  </a:tcPr>
                </a:tc>
                <a:tc>
                  <a:txBody>
                    <a:bodyPr/>
                    <a:lstStyle/>
                    <a:p>
                      <a:pPr marL="0" marR="0">
                        <a:lnSpc>
                          <a:spcPct val="115000"/>
                        </a:lnSpc>
                        <a:spcBef>
                          <a:spcPts val="0"/>
                        </a:spcBef>
                        <a:spcAft>
                          <a:spcPts val="0"/>
                        </a:spcAft>
                      </a:pPr>
                      <a:endParaRPr lang="en-US" sz="9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solidFill>
                      <a:srgbClr val="C0C0C0"/>
                    </a:solidFill>
                  </a:tcPr>
                </a:tc>
                <a:tc>
                  <a:txBody>
                    <a:bodyPr/>
                    <a:lstStyle/>
                    <a:p>
                      <a:pPr marL="0" marR="0">
                        <a:lnSpc>
                          <a:spcPct val="115000"/>
                        </a:lnSpc>
                        <a:spcBef>
                          <a:spcPts val="0"/>
                        </a:spcBef>
                        <a:spcAft>
                          <a:spcPts val="0"/>
                        </a:spcAft>
                      </a:pPr>
                      <a:endParaRPr lang="en-US" sz="900">
                        <a:latin typeface="Times New Roman"/>
                        <a:ea typeface="Times New Roman"/>
                        <a:cs typeface="Times New Roman"/>
                      </a:endParaRPr>
                    </a:p>
                  </a:txBody>
                  <a:tcPr marL="0" marR="0" marT="0" marB="0" anchor="b">
                    <a:lnL>
                      <a:noFill/>
                    </a:lnL>
                    <a:lnR>
                      <a:noFill/>
                    </a:lnR>
                    <a:lnT>
                      <a:noFill/>
                    </a:lnT>
                    <a:lnB>
                      <a:noFill/>
                    </a:lnB>
                    <a:solidFill>
                      <a:srgbClr val="C0C0C0"/>
                    </a:solidFill>
                  </a:tcPr>
                </a:tc>
                <a:tc>
                  <a:txBody>
                    <a:bodyPr/>
                    <a:lstStyle/>
                    <a:p>
                      <a:pPr marL="0" marR="0">
                        <a:lnSpc>
                          <a:spcPct val="115000"/>
                        </a:lnSpc>
                        <a:spcBef>
                          <a:spcPts val="0"/>
                        </a:spcBef>
                        <a:spcAft>
                          <a:spcPts val="0"/>
                        </a:spcAft>
                      </a:pPr>
                      <a:endParaRPr lang="en-US" sz="9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solidFill>
                      <a:srgbClr val="C0C0C0"/>
                    </a:solidFill>
                  </a:tcPr>
                </a:tc>
                <a:tc>
                  <a:txBody>
                    <a:bodyPr/>
                    <a:lstStyle/>
                    <a:p>
                      <a:pPr marL="0" marR="0">
                        <a:lnSpc>
                          <a:spcPct val="115000"/>
                        </a:lnSpc>
                        <a:spcBef>
                          <a:spcPts val="0"/>
                        </a:spcBef>
                        <a:spcAft>
                          <a:spcPts val="0"/>
                        </a:spcAft>
                      </a:pPr>
                      <a:endParaRPr lang="en-US" sz="9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solidFill>
                      <a:srgbClr val="C0C0C0"/>
                    </a:solidFill>
                  </a:tcPr>
                </a:tc>
                <a:tc>
                  <a:txBody>
                    <a:bodyPr/>
                    <a:lstStyle/>
                    <a:p>
                      <a:pPr marL="0" marR="0">
                        <a:lnSpc>
                          <a:spcPct val="115000"/>
                        </a:lnSpc>
                        <a:spcBef>
                          <a:spcPts val="0"/>
                        </a:spcBef>
                        <a:spcAft>
                          <a:spcPts val="0"/>
                        </a:spcAft>
                      </a:pPr>
                      <a:endParaRPr lang="en-US" sz="900" dirty="0">
                        <a:latin typeface="Times New Roman"/>
                        <a:ea typeface="Times New Roman"/>
                        <a:cs typeface="Times New Roman"/>
                      </a:endParaRPr>
                    </a:p>
                  </a:txBody>
                  <a:tcPr marL="0" marR="0" marT="0" marB="0" anchor="b">
                    <a:lnL>
                      <a:noFill/>
                    </a:lnL>
                    <a:lnR>
                      <a:noFill/>
                    </a:lnR>
                    <a:lnT>
                      <a:noFill/>
                    </a:lnT>
                    <a:lnB>
                      <a:noFill/>
                    </a:lnB>
                    <a:solidFill>
                      <a:srgbClr val="C0C0C0"/>
                    </a:solidFill>
                  </a:tcPr>
                </a:tc>
                <a:tc>
                  <a:txBody>
                    <a:bodyPr/>
                    <a:lstStyle/>
                    <a:p>
                      <a:pPr marL="0" marR="0">
                        <a:lnSpc>
                          <a:spcPct val="115000"/>
                        </a:lnSpc>
                        <a:spcBef>
                          <a:spcPts val="0"/>
                        </a:spcBef>
                        <a:spcAft>
                          <a:spcPts val="1000"/>
                        </a:spcAft>
                      </a:pPr>
                      <a:r>
                        <a:rPr lang="en-US" sz="1100">
                          <a:latin typeface="Calibri"/>
                          <a:ea typeface="Times New Roman"/>
                          <a:cs typeface="Times New Roman"/>
                        </a:rPr>
                        <a:t> </a:t>
                      </a:r>
                    </a:p>
                  </a:txBody>
                  <a:tcPr marL="0" marR="0" marT="0" marB="0" anchor="ctr">
                    <a:lnL>
                      <a:noFill/>
                    </a:lnL>
                    <a:lnR>
                      <a:noFill/>
                    </a:lnR>
                    <a:lnT>
                      <a:noFill/>
                    </a:lnT>
                    <a:lnB>
                      <a:noFill/>
                    </a:lnB>
                  </a:tcPr>
                </a:tc>
                <a:extLst>
                  <a:ext uri="{0D108BD9-81ED-4DB2-BD59-A6C34878D82A}">
                    <a16:rowId xmlns="" xmlns:a16="http://schemas.microsoft.com/office/drawing/2014/main" val="10010"/>
                  </a:ext>
                </a:extLst>
              </a:tr>
              <a:tr h="189684">
                <a:tc>
                  <a:txBody>
                    <a:bodyPr/>
                    <a:lstStyle/>
                    <a:p>
                      <a:pPr marL="0" marR="0">
                        <a:lnSpc>
                          <a:spcPts val="100"/>
                        </a:lnSpc>
                        <a:spcBef>
                          <a:spcPts val="0"/>
                        </a:spcBef>
                        <a:spcAft>
                          <a:spcPts val="0"/>
                        </a:spcAft>
                      </a:pPr>
                      <a:endParaRPr lang="en-US" sz="1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ts val="100"/>
                        </a:lnSpc>
                        <a:spcBef>
                          <a:spcPts val="0"/>
                        </a:spcBef>
                        <a:spcAft>
                          <a:spcPts val="0"/>
                        </a:spcAft>
                      </a:pPr>
                      <a:endParaRPr lang="en-US" sz="1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solidFill>
                      <a:srgbClr val="C0C0C0"/>
                    </a:solidFill>
                  </a:tcPr>
                </a:tc>
                <a:tc vMerge="1">
                  <a:txBody>
                    <a:bodyPr/>
                    <a:lstStyle/>
                    <a:p>
                      <a:endParaRPr lang="en-US"/>
                    </a:p>
                  </a:txBody>
                  <a:tcPr/>
                </a:tc>
                <a:tc>
                  <a:txBody>
                    <a:bodyPr/>
                    <a:lstStyle/>
                    <a:p>
                      <a:pPr marL="0" marR="0">
                        <a:lnSpc>
                          <a:spcPts val="100"/>
                        </a:lnSpc>
                        <a:spcBef>
                          <a:spcPts val="0"/>
                        </a:spcBef>
                        <a:spcAft>
                          <a:spcPts val="0"/>
                        </a:spcAft>
                      </a:pPr>
                      <a:endParaRPr lang="en-US" sz="3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solidFill>
                      <a:srgbClr val="C0C0C0"/>
                    </a:solidFill>
                  </a:tcPr>
                </a:tc>
                <a:tc>
                  <a:txBody>
                    <a:bodyPr/>
                    <a:lstStyle/>
                    <a:p>
                      <a:pPr marL="0" marR="0">
                        <a:lnSpc>
                          <a:spcPts val="100"/>
                        </a:lnSpc>
                        <a:spcBef>
                          <a:spcPts val="0"/>
                        </a:spcBef>
                        <a:spcAft>
                          <a:spcPts val="0"/>
                        </a:spcAft>
                      </a:pPr>
                      <a:endParaRPr lang="en-US" sz="3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marL="0" marR="0">
                        <a:lnSpc>
                          <a:spcPts val="100"/>
                        </a:lnSpc>
                        <a:spcBef>
                          <a:spcPts val="0"/>
                        </a:spcBef>
                        <a:spcAft>
                          <a:spcPts val="0"/>
                        </a:spcAft>
                      </a:pPr>
                      <a:endParaRPr lang="en-US" sz="300" dirty="0">
                        <a:latin typeface="Times New Roman"/>
                        <a:ea typeface="Times New Roman"/>
                        <a:cs typeface="Times New Roman"/>
                      </a:endParaRPr>
                    </a:p>
                  </a:txBody>
                  <a:tcPr marL="0" marR="0" marT="0" marB="0" anchor="b">
                    <a:lnL>
                      <a:noFill/>
                    </a:lnL>
                    <a:lnR>
                      <a:noFill/>
                    </a:lnR>
                    <a:lnT>
                      <a:noFill/>
                    </a:lnT>
                    <a:lnB>
                      <a:noFill/>
                    </a:lnB>
                  </a:tcPr>
                </a:tc>
                <a:tc>
                  <a:txBody>
                    <a:bodyPr/>
                    <a:lstStyle/>
                    <a:p>
                      <a:pPr marL="0" marR="0">
                        <a:lnSpc>
                          <a:spcPts val="100"/>
                        </a:lnSpc>
                        <a:spcBef>
                          <a:spcPts val="0"/>
                        </a:spcBef>
                        <a:spcAft>
                          <a:spcPts val="0"/>
                        </a:spcAft>
                      </a:pPr>
                      <a:endParaRPr lang="en-US" sz="3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ts val="100"/>
                        </a:lnSpc>
                        <a:spcBef>
                          <a:spcPts val="0"/>
                        </a:spcBef>
                        <a:spcAft>
                          <a:spcPts val="0"/>
                        </a:spcAft>
                      </a:pPr>
                      <a:endParaRPr lang="en-US" sz="3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marL="0" marR="0">
                        <a:lnSpc>
                          <a:spcPts val="100"/>
                        </a:lnSpc>
                        <a:spcBef>
                          <a:spcPts val="0"/>
                        </a:spcBef>
                        <a:spcAft>
                          <a:spcPts val="0"/>
                        </a:spcAft>
                      </a:pPr>
                      <a:endParaRPr lang="en-US" sz="300" dirty="0">
                        <a:latin typeface="Times New Roman"/>
                        <a:ea typeface="Times New Roman"/>
                        <a:cs typeface="Times New Roman"/>
                      </a:endParaRPr>
                    </a:p>
                  </a:txBody>
                  <a:tcPr marL="0" marR="0" marT="0" marB="0" anchor="b">
                    <a:lnL>
                      <a:noFill/>
                    </a:lnL>
                    <a:lnR>
                      <a:noFill/>
                    </a:lnR>
                    <a:lnT>
                      <a:noFill/>
                    </a:lnT>
                    <a:lnB>
                      <a:noFill/>
                    </a:lnB>
                  </a:tcPr>
                </a:tc>
                <a:tc>
                  <a:txBody>
                    <a:bodyPr/>
                    <a:lstStyle/>
                    <a:p>
                      <a:pPr marL="0" marR="0">
                        <a:lnSpc>
                          <a:spcPct val="115000"/>
                        </a:lnSpc>
                        <a:spcBef>
                          <a:spcPts val="0"/>
                        </a:spcBef>
                        <a:spcAft>
                          <a:spcPts val="1000"/>
                        </a:spcAft>
                      </a:pPr>
                      <a:r>
                        <a:rPr lang="en-US" sz="1100">
                          <a:latin typeface="Calibri"/>
                          <a:ea typeface="Times New Roman"/>
                          <a:cs typeface="Times New Roman"/>
                        </a:rPr>
                        <a:t> </a:t>
                      </a:r>
                    </a:p>
                  </a:txBody>
                  <a:tcPr marL="0" marR="0" marT="0" marB="0" anchor="ctr">
                    <a:lnL>
                      <a:noFill/>
                    </a:lnL>
                    <a:lnR>
                      <a:noFill/>
                    </a:lnR>
                    <a:lnT>
                      <a:noFill/>
                    </a:lnT>
                    <a:lnB>
                      <a:noFill/>
                    </a:lnB>
                  </a:tcPr>
                </a:tc>
                <a:extLst>
                  <a:ext uri="{0D108BD9-81ED-4DB2-BD59-A6C34878D82A}">
                    <a16:rowId xmlns="" xmlns:a16="http://schemas.microsoft.com/office/drawing/2014/main" val="10011"/>
                  </a:ext>
                </a:extLst>
              </a:tr>
              <a:tr h="189684">
                <a:tc>
                  <a:txBody>
                    <a:bodyPr/>
                    <a:lstStyle/>
                    <a:p>
                      <a:pPr marL="0" marR="0">
                        <a:lnSpc>
                          <a:spcPct val="115000"/>
                        </a:lnSpc>
                        <a:spcBef>
                          <a:spcPts val="0"/>
                        </a:spcBef>
                        <a:spcAft>
                          <a:spcPts val="0"/>
                        </a:spcAft>
                      </a:pPr>
                      <a:endParaRPr lang="en-US" sz="6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endParaRPr lang="en-US" sz="6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solidFill>
                      <a:srgbClr val="C0C0C0"/>
                    </a:solidFill>
                  </a:tcPr>
                </a:tc>
                <a:tc vMerge="1">
                  <a:txBody>
                    <a:bodyPr/>
                    <a:lstStyle/>
                    <a:p>
                      <a:endParaRPr lang="en-US"/>
                    </a:p>
                  </a:txBody>
                  <a:tcPr/>
                </a:tc>
                <a:tc>
                  <a:txBody>
                    <a:bodyPr/>
                    <a:lstStyle/>
                    <a:p>
                      <a:pPr marL="0" marR="0">
                        <a:lnSpc>
                          <a:spcPct val="115000"/>
                        </a:lnSpc>
                        <a:spcBef>
                          <a:spcPts val="0"/>
                        </a:spcBef>
                        <a:spcAft>
                          <a:spcPts val="0"/>
                        </a:spcAft>
                      </a:pPr>
                      <a:endParaRPr lang="en-US" sz="8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solidFill>
                      <a:srgbClr val="C0C0C0"/>
                    </a:solidFill>
                  </a:tcPr>
                </a:tc>
                <a:tc>
                  <a:txBody>
                    <a:bodyPr/>
                    <a:lstStyle/>
                    <a:p>
                      <a:pPr marL="0" marR="0">
                        <a:lnSpc>
                          <a:spcPct val="115000"/>
                        </a:lnSpc>
                        <a:spcBef>
                          <a:spcPts val="0"/>
                        </a:spcBef>
                        <a:spcAft>
                          <a:spcPts val="0"/>
                        </a:spcAft>
                      </a:pPr>
                      <a:endParaRPr lang="en-US" sz="8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solidFill>
                      <a:srgbClr val="C0C0C0"/>
                    </a:solidFill>
                  </a:tcPr>
                </a:tc>
                <a:tc>
                  <a:txBody>
                    <a:bodyPr/>
                    <a:lstStyle/>
                    <a:p>
                      <a:pPr marL="0" marR="0">
                        <a:lnSpc>
                          <a:spcPct val="115000"/>
                        </a:lnSpc>
                        <a:spcBef>
                          <a:spcPts val="0"/>
                        </a:spcBef>
                        <a:spcAft>
                          <a:spcPts val="0"/>
                        </a:spcAft>
                      </a:pPr>
                      <a:endParaRPr lang="en-US" sz="800">
                        <a:latin typeface="Times New Roman"/>
                        <a:ea typeface="Times New Roman"/>
                        <a:cs typeface="Times New Roman"/>
                      </a:endParaRPr>
                    </a:p>
                  </a:txBody>
                  <a:tcPr marL="0" marR="0" marT="0" marB="0" anchor="b">
                    <a:lnL>
                      <a:noFill/>
                    </a:lnL>
                    <a:lnR>
                      <a:noFill/>
                    </a:lnR>
                    <a:lnT>
                      <a:noFill/>
                    </a:lnT>
                    <a:lnB>
                      <a:noFill/>
                    </a:lnB>
                    <a:solidFill>
                      <a:srgbClr val="C0C0C0"/>
                    </a:solidFill>
                  </a:tcPr>
                </a:tc>
                <a:tc>
                  <a:txBody>
                    <a:bodyPr/>
                    <a:lstStyle/>
                    <a:p>
                      <a:pPr marL="0" marR="0">
                        <a:lnSpc>
                          <a:spcPct val="115000"/>
                        </a:lnSpc>
                        <a:spcBef>
                          <a:spcPts val="0"/>
                        </a:spcBef>
                        <a:spcAft>
                          <a:spcPts val="0"/>
                        </a:spcAft>
                      </a:pPr>
                      <a:endParaRPr lang="en-US" sz="8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solidFill>
                      <a:srgbClr val="C0C0C0"/>
                    </a:solidFill>
                  </a:tcPr>
                </a:tc>
                <a:tc>
                  <a:txBody>
                    <a:bodyPr/>
                    <a:lstStyle/>
                    <a:p>
                      <a:pPr marL="0" marR="0">
                        <a:lnSpc>
                          <a:spcPct val="115000"/>
                        </a:lnSpc>
                        <a:spcBef>
                          <a:spcPts val="0"/>
                        </a:spcBef>
                        <a:spcAft>
                          <a:spcPts val="0"/>
                        </a:spcAft>
                      </a:pPr>
                      <a:endParaRPr lang="en-US" sz="8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solidFill>
                      <a:srgbClr val="C0C0C0"/>
                    </a:solidFill>
                  </a:tcPr>
                </a:tc>
                <a:tc>
                  <a:txBody>
                    <a:bodyPr/>
                    <a:lstStyle/>
                    <a:p>
                      <a:pPr marL="0" marR="0">
                        <a:lnSpc>
                          <a:spcPct val="115000"/>
                        </a:lnSpc>
                        <a:spcBef>
                          <a:spcPts val="0"/>
                        </a:spcBef>
                        <a:spcAft>
                          <a:spcPts val="0"/>
                        </a:spcAft>
                      </a:pPr>
                      <a:endParaRPr lang="en-US" sz="800" dirty="0">
                        <a:latin typeface="Times New Roman"/>
                        <a:ea typeface="Times New Roman"/>
                        <a:cs typeface="Times New Roman"/>
                      </a:endParaRPr>
                    </a:p>
                  </a:txBody>
                  <a:tcPr marL="0" marR="0" marT="0" marB="0" anchor="b">
                    <a:lnL>
                      <a:noFill/>
                    </a:lnL>
                    <a:lnR>
                      <a:noFill/>
                    </a:lnR>
                    <a:lnT>
                      <a:noFill/>
                    </a:lnT>
                    <a:lnB>
                      <a:noFill/>
                    </a:lnB>
                    <a:solidFill>
                      <a:srgbClr val="C0C0C0"/>
                    </a:solidFill>
                  </a:tcPr>
                </a:tc>
                <a:tc>
                  <a:txBody>
                    <a:bodyPr/>
                    <a:lstStyle/>
                    <a:p>
                      <a:pPr marL="0" marR="0">
                        <a:lnSpc>
                          <a:spcPct val="115000"/>
                        </a:lnSpc>
                        <a:spcBef>
                          <a:spcPts val="0"/>
                        </a:spcBef>
                        <a:spcAft>
                          <a:spcPts val="1000"/>
                        </a:spcAft>
                      </a:pPr>
                      <a:r>
                        <a:rPr lang="en-US" sz="1100">
                          <a:latin typeface="Calibri"/>
                          <a:ea typeface="Times New Roman"/>
                          <a:cs typeface="Times New Roman"/>
                        </a:rPr>
                        <a:t> </a:t>
                      </a:r>
                    </a:p>
                  </a:txBody>
                  <a:tcPr marL="0" marR="0" marT="0" marB="0" anchor="ctr">
                    <a:lnL>
                      <a:noFill/>
                    </a:lnL>
                    <a:lnR>
                      <a:noFill/>
                    </a:lnR>
                    <a:lnT>
                      <a:noFill/>
                    </a:lnT>
                    <a:lnB>
                      <a:noFill/>
                    </a:lnB>
                  </a:tcPr>
                </a:tc>
                <a:extLst>
                  <a:ext uri="{0D108BD9-81ED-4DB2-BD59-A6C34878D82A}">
                    <a16:rowId xmlns="" xmlns:a16="http://schemas.microsoft.com/office/drawing/2014/main" val="10012"/>
                  </a:ext>
                </a:extLst>
              </a:tr>
              <a:tr h="206929">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C0C0C0"/>
                    </a:solidFill>
                  </a:tcPr>
                </a:tc>
                <a:tc>
                  <a:txBody>
                    <a:bodyPr/>
                    <a:lstStyle/>
                    <a:p>
                      <a:pPr marL="0" marR="0" algn="ctr">
                        <a:lnSpc>
                          <a:spcPts val="1595"/>
                        </a:lnSpc>
                        <a:spcBef>
                          <a:spcPts val="0"/>
                        </a:spcBef>
                        <a:spcAft>
                          <a:spcPts val="0"/>
                        </a:spcAft>
                      </a:pPr>
                      <a:r>
                        <a:rPr lang="en-US" sz="1800" b="1">
                          <a:latin typeface="Times New Roman"/>
                          <a:ea typeface="Times New Roman"/>
                          <a:cs typeface="Times New Roman"/>
                        </a:rPr>
                        <a:t>P0.15</a:t>
                      </a:r>
                      <a:endParaRPr lang="en-US" sz="1400">
                        <a:latin typeface="Calibri"/>
                        <a:ea typeface="Times New Roman"/>
                        <a:cs typeface="Times New Roman"/>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16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16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1600">
                        <a:latin typeface="Times New Roman"/>
                        <a:ea typeface="Times New Roman"/>
                        <a:cs typeface="Times New Roman"/>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16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16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1600" dirty="0">
                        <a:latin typeface="Times New Roman"/>
                        <a:ea typeface="Times New Roman"/>
                        <a:cs typeface="Times New Roman"/>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1000"/>
                        </a:spcAft>
                      </a:pPr>
                      <a:r>
                        <a:rPr lang="en-US" sz="1100" dirty="0">
                          <a:latin typeface="Calibri"/>
                          <a:ea typeface="Times New Roman"/>
                          <a:cs typeface="Times New Roman"/>
                        </a:rPr>
                        <a:t> </a:t>
                      </a:r>
                    </a:p>
                  </a:txBody>
                  <a:tcPr marL="0" marR="0" marT="0" marB="0" anchor="ctr">
                    <a:lnL>
                      <a:noFill/>
                    </a:lnL>
                    <a:lnR>
                      <a:noFill/>
                    </a:lnR>
                    <a:lnT>
                      <a:noFill/>
                    </a:lnT>
                    <a:lnB>
                      <a:noFill/>
                    </a:lnB>
                  </a:tcPr>
                </a:tc>
                <a:extLst>
                  <a:ext uri="{0D108BD9-81ED-4DB2-BD59-A6C34878D82A}">
                    <a16:rowId xmlns="" xmlns:a16="http://schemas.microsoft.com/office/drawing/2014/main" val="10013"/>
                  </a:ext>
                </a:extLst>
              </a:tr>
            </a:tbl>
          </a:graphicData>
        </a:graphic>
      </p:graphicFrame>
      <p:sp>
        <p:nvSpPr>
          <p:cNvPr id="30722" name="Rectangle 2"/>
          <p:cNvSpPr>
            <a:spLocks noChangeArrowheads="1"/>
          </p:cNvSpPr>
          <p:nvPr/>
        </p:nvSpPr>
        <p:spPr bwMode="auto">
          <a:xfrm>
            <a:off x="0" y="5288340"/>
            <a:ext cx="9144000" cy="1569660"/>
          </a:xfrm>
          <a:prstGeom prst="rect">
            <a:avLst/>
          </a:prstGeom>
          <a:solidFill>
            <a:schemeClr val="bg1"/>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1155700" algn="l"/>
              </a:tabLst>
            </a:pP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If we want to choose </a:t>
            </a:r>
            <a:r>
              <a:rPr kumimoji="0" lang="en-US" sz="24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P0.0</a:t>
            </a: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as </a:t>
            </a:r>
            <a:r>
              <a:rPr kumimoji="0" lang="en-US" sz="24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TXD</a:t>
            </a: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then we have</a:t>
            </a:r>
            <a:endParaRPr kumimoji="0" lang="en-US" sz="11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1155700" algn="l"/>
              </a:tabLst>
            </a:pP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to write</a:t>
            </a:r>
            <a:r>
              <a:rPr kumimoji="0" lang="en-US" sz="20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t>
            </a: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PINSEL0=0x00000001</a:t>
            </a:r>
            <a:endParaRPr kumimoji="0" lang="en-US" sz="11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1155700" algn="l"/>
              </a:tabLst>
            </a:pP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If we want to choose </a:t>
            </a:r>
            <a:r>
              <a:rPr kumimoji="0" lang="en-US" sz="24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P0.0</a:t>
            </a: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as </a:t>
            </a:r>
            <a:r>
              <a:rPr kumimoji="0" lang="en-US" sz="24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PWM1</a:t>
            </a: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then write</a:t>
            </a:r>
          </a:p>
          <a:p>
            <a:r>
              <a:rPr lang="en-US" sz="2400" dirty="0" smtClean="0"/>
              <a:t>PINSEL0=ox00000002</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3199897202"/>
              </p:ext>
            </p:extLst>
          </p:nvPr>
        </p:nvGraphicFramePr>
        <p:xfrm>
          <a:off x="2148114" y="2046514"/>
          <a:ext cx="5268686" cy="365760"/>
        </p:xfrm>
        <a:graphic>
          <a:graphicData uri="http://schemas.openxmlformats.org/drawingml/2006/table">
            <a:tbl>
              <a:tblPr/>
              <a:tblGrid>
                <a:gridCol w="5268686">
                  <a:extLst>
                    <a:ext uri="{9D8B030D-6E8A-4147-A177-3AD203B41FA5}">
                      <a16:colId xmlns="" xmlns:a16="http://schemas.microsoft.com/office/drawing/2014/main" val="20000"/>
                    </a:ext>
                  </a:extLst>
                </a:gridCol>
              </a:tblGrid>
              <a:tr h="0">
                <a:tc>
                  <a:txBody>
                    <a:bodyPr/>
                    <a:lstStyle/>
                    <a:p>
                      <a:endParaRPr 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660850911"/>
              </p:ext>
            </p:extLst>
          </p:nvPr>
        </p:nvGraphicFramePr>
        <p:xfrm>
          <a:off x="2177142" y="2017486"/>
          <a:ext cx="5214258" cy="3077028"/>
        </p:xfrm>
        <a:graphic>
          <a:graphicData uri="http://schemas.openxmlformats.org/drawingml/2006/table">
            <a:tbl>
              <a:tblPr/>
              <a:tblGrid>
                <a:gridCol w="5214258">
                  <a:extLst>
                    <a:ext uri="{9D8B030D-6E8A-4147-A177-3AD203B41FA5}">
                      <a16:colId xmlns="" xmlns:a16="http://schemas.microsoft.com/office/drawing/2014/main" val="20000"/>
                    </a:ext>
                  </a:extLst>
                </a:gridCol>
              </a:tblGrid>
              <a:tr h="3077028">
                <a:tc>
                  <a:txBody>
                    <a:bodyPr/>
                    <a:lstStyle/>
                    <a:p>
                      <a:endParaRPr 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
            <a:ext cx="8229600" cy="3657600"/>
          </a:xfrm>
        </p:spPr>
        <p:txBody>
          <a:bodyPr/>
          <a:lstStyle/>
          <a:p>
            <a:r>
              <a:rPr lang="en-US" b="1" dirty="0" smtClean="0">
                <a:latin typeface="Times New Roman" panose="02020603050405020304" pitchFamily="18" charset="0"/>
                <a:cs typeface="Times New Roman" panose="02020603050405020304" pitchFamily="18" charset="0"/>
              </a:rPr>
              <a:t>PINSEL1:</a:t>
            </a:r>
            <a:endParaRPr lang="en-US" dirty="0" smtClean="0">
              <a:latin typeface="Times New Roman" panose="02020603050405020304" pitchFamily="18" charset="0"/>
              <a:cs typeface="Times New Roman" panose="02020603050405020304" pitchFamily="18" charset="0"/>
            </a:endParaRPr>
          </a:p>
          <a:p>
            <a:pPr lvl="0" hangingPunct="0"/>
            <a:r>
              <a:rPr lang="en-US" sz="2000" dirty="0" smtClean="0">
                <a:latin typeface="Times New Roman" panose="02020603050405020304" pitchFamily="18" charset="0"/>
                <a:cs typeface="Times New Roman" panose="02020603050405020304" pitchFamily="18" charset="0"/>
              </a:rPr>
              <a:t>contains GPIO pins P0.16 to P0.31  </a:t>
            </a:r>
          </a:p>
          <a:p>
            <a:pPr lvl="0" hangingPunct="0"/>
            <a:r>
              <a:rPr lang="en-US" sz="2000" dirty="0" smtClean="0">
                <a:latin typeface="Times New Roman" panose="02020603050405020304" pitchFamily="18" charset="0"/>
                <a:cs typeface="Times New Roman" panose="02020603050405020304" pitchFamily="18" charset="0"/>
              </a:rPr>
              <a:t>Pin Select register controls the function of the pins as per the setting done in the register by user/ programmer </a:t>
            </a:r>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456565153"/>
              </p:ext>
            </p:extLst>
          </p:nvPr>
        </p:nvGraphicFramePr>
        <p:xfrm>
          <a:off x="2133600" y="3775114"/>
          <a:ext cx="4927600" cy="2858940"/>
        </p:xfrm>
        <a:graphic>
          <a:graphicData uri="http://schemas.openxmlformats.org/drawingml/2006/table">
            <a:tbl>
              <a:tblPr/>
              <a:tblGrid>
                <a:gridCol w="774700">
                  <a:extLst>
                    <a:ext uri="{9D8B030D-6E8A-4147-A177-3AD203B41FA5}">
                      <a16:colId xmlns="" xmlns:a16="http://schemas.microsoft.com/office/drawing/2014/main" val="20000"/>
                    </a:ext>
                  </a:extLst>
                </a:gridCol>
                <a:gridCol w="63500">
                  <a:extLst>
                    <a:ext uri="{9D8B030D-6E8A-4147-A177-3AD203B41FA5}">
                      <a16:colId xmlns="" xmlns:a16="http://schemas.microsoft.com/office/drawing/2014/main" val="20001"/>
                    </a:ext>
                  </a:extLst>
                </a:gridCol>
                <a:gridCol w="622300">
                  <a:extLst>
                    <a:ext uri="{9D8B030D-6E8A-4147-A177-3AD203B41FA5}">
                      <a16:colId xmlns="" xmlns:a16="http://schemas.microsoft.com/office/drawing/2014/main" val="20002"/>
                    </a:ext>
                  </a:extLst>
                </a:gridCol>
                <a:gridCol w="76200">
                  <a:extLst>
                    <a:ext uri="{9D8B030D-6E8A-4147-A177-3AD203B41FA5}">
                      <a16:colId xmlns="" xmlns:a16="http://schemas.microsoft.com/office/drawing/2014/main" val="20003"/>
                    </a:ext>
                  </a:extLst>
                </a:gridCol>
                <a:gridCol w="342900">
                  <a:extLst>
                    <a:ext uri="{9D8B030D-6E8A-4147-A177-3AD203B41FA5}">
                      <a16:colId xmlns="" xmlns:a16="http://schemas.microsoft.com/office/drawing/2014/main" val="20004"/>
                    </a:ext>
                  </a:extLst>
                </a:gridCol>
                <a:gridCol w="762000">
                  <a:extLst>
                    <a:ext uri="{9D8B030D-6E8A-4147-A177-3AD203B41FA5}">
                      <a16:colId xmlns="" xmlns:a16="http://schemas.microsoft.com/office/drawing/2014/main" val="20005"/>
                    </a:ext>
                  </a:extLst>
                </a:gridCol>
                <a:gridCol w="76200">
                  <a:extLst>
                    <a:ext uri="{9D8B030D-6E8A-4147-A177-3AD203B41FA5}">
                      <a16:colId xmlns="" xmlns:a16="http://schemas.microsoft.com/office/drawing/2014/main" val="20006"/>
                    </a:ext>
                  </a:extLst>
                </a:gridCol>
                <a:gridCol w="63500">
                  <a:extLst>
                    <a:ext uri="{9D8B030D-6E8A-4147-A177-3AD203B41FA5}">
                      <a16:colId xmlns="" xmlns:a16="http://schemas.microsoft.com/office/drawing/2014/main" val="20007"/>
                    </a:ext>
                  </a:extLst>
                </a:gridCol>
                <a:gridCol w="2070100">
                  <a:extLst>
                    <a:ext uri="{9D8B030D-6E8A-4147-A177-3AD203B41FA5}">
                      <a16:colId xmlns="" xmlns:a16="http://schemas.microsoft.com/office/drawing/2014/main" val="20008"/>
                    </a:ext>
                  </a:extLst>
                </a:gridCol>
                <a:gridCol w="76200">
                  <a:extLst>
                    <a:ext uri="{9D8B030D-6E8A-4147-A177-3AD203B41FA5}">
                      <a16:colId xmlns="" xmlns:a16="http://schemas.microsoft.com/office/drawing/2014/main" val="20009"/>
                    </a:ext>
                  </a:extLst>
                </a:gridCol>
              </a:tblGrid>
              <a:tr h="232341">
                <a:tc>
                  <a:txBody>
                    <a:bodyPr/>
                    <a:lstStyle/>
                    <a:p>
                      <a:pPr marL="0" marR="0">
                        <a:lnSpc>
                          <a:spcPct val="115000"/>
                        </a:lnSpc>
                        <a:spcBef>
                          <a:spcPts val="0"/>
                        </a:spcBef>
                        <a:spcAft>
                          <a:spcPts val="0"/>
                        </a:spcAft>
                      </a:pPr>
                      <a:endParaRPr lang="en-US" sz="1200" dirty="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endParaRPr lang="en-US" sz="1200" dirty="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tcPr>
                </a:tc>
                <a:tc gridSpan="2">
                  <a:txBody>
                    <a:bodyPr/>
                    <a:lstStyle/>
                    <a:p>
                      <a:pPr marL="203200" marR="0">
                        <a:lnSpc>
                          <a:spcPct val="115000"/>
                        </a:lnSpc>
                        <a:spcBef>
                          <a:spcPts val="0"/>
                        </a:spcBef>
                        <a:spcAft>
                          <a:spcPts val="0"/>
                        </a:spcAft>
                      </a:pPr>
                      <a:r>
                        <a:rPr lang="en-US" sz="1400" b="1">
                          <a:latin typeface="Times New Roman"/>
                          <a:ea typeface="Times New Roman"/>
                          <a:cs typeface="Times New Roman"/>
                        </a:rPr>
                        <a:t>Bit</a:t>
                      </a:r>
                      <a:endParaRPr lang="en-US" sz="1100">
                        <a:latin typeface="Calibri"/>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hMerge="1">
                  <a:txBody>
                    <a:bodyPr/>
                    <a:lstStyle/>
                    <a:p>
                      <a:endParaRPr lang="en-US"/>
                    </a:p>
                  </a:txBody>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tcPr>
                </a:tc>
                <a:tc gridSpan="2">
                  <a:txBody>
                    <a:bodyPr/>
                    <a:lstStyle/>
                    <a:p>
                      <a:pPr marL="279400" marR="0">
                        <a:lnSpc>
                          <a:spcPct val="115000"/>
                        </a:lnSpc>
                        <a:spcBef>
                          <a:spcPts val="0"/>
                        </a:spcBef>
                        <a:spcAft>
                          <a:spcPts val="0"/>
                        </a:spcAft>
                      </a:pPr>
                      <a:r>
                        <a:rPr lang="en-US" sz="1400" b="1">
                          <a:latin typeface="Times New Roman"/>
                          <a:ea typeface="Times New Roman"/>
                          <a:cs typeface="Times New Roman"/>
                        </a:rPr>
                        <a:t>Value</a:t>
                      </a:r>
                      <a:endParaRPr lang="en-US" sz="1100">
                        <a:latin typeface="Calibri"/>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hMerge="1">
                  <a:txBody>
                    <a:bodyPr/>
                    <a:lstStyle/>
                    <a:p>
                      <a:endParaRPr lang="en-US"/>
                    </a:p>
                  </a:txBody>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tcPr>
                </a:tc>
                <a:tc gridSpan="2">
                  <a:txBody>
                    <a:bodyPr/>
                    <a:lstStyle/>
                    <a:p>
                      <a:pPr marL="327660" marR="0" algn="ctr">
                        <a:lnSpc>
                          <a:spcPct val="115000"/>
                        </a:lnSpc>
                        <a:spcBef>
                          <a:spcPts val="0"/>
                        </a:spcBef>
                        <a:spcAft>
                          <a:spcPts val="0"/>
                        </a:spcAft>
                      </a:pPr>
                      <a:r>
                        <a:rPr lang="en-US" sz="1400" b="1">
                          <a:latin typeface="Times New Roman"/>
                          <a:ea typeface="Times New Roman"/>
                          <a:cs typeface="Times New Roman"/>
                        </a:rPr>
                        <a:t>function</a:t>
                      </a:r>
                      <a:endParaRPr lang="en-US" sz="1100">
                        <a:latin typeface="Calibri"/>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hMerge="1">
                  <a:txBody>
                    <a:bodyPr/>
                    <a:lstStyle/>
                    <a:p>
                      <a:endParaRPr lang="en-US"/>
                    </a:p>
                  </a:txBody>
                  <a:tcPr/>
                </a:tc>
                <a:extLst>
                  <a:ext uri="{0D108BD9-81ED-4DB2-BD59-A6C34878D82A}">
                    <a16:rowId xmlns="" xmlns:a16="http://schemas.microsoft.com/office/drawing/2014/main" val="10000"/>
                  </a:ext>
                </a:extLst>
              </a:tr>
              <a:tr h="182554">
                <a:tc>
                  <a:txBody>
                    <a:bodyPr/>
                    <a:lstStyle/>
                    <a:p>
                      <a:pPr marL="0" marR="0">
                        <a:lnSpc>
                          <a:spcPct val="115000"/>
                        </a:lnSpc>
                        <a:spcBef>
                          <a:spcPts val="0"/>
                        </a:spcBef>
                        <a:spcAft>
                          <a:spcPts val="0"/>
                        </a:spcAft>
                      </a:pPr>
                      <a:endParaRPr lang="en-US" sz="25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endParaRPr lang="en-US" sz="2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250">
                        <a:latin typeface="Times New Roman"/>
                        <a:ea typeface="Times New Roman"/>
                        <a:cs typeface="Times New Roman"/>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25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2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250">
                        <a:latin typeface="Times New Roman"/>
                        <a:ea typeface="Times New Roman"/>
                        <a:cs typeface="Times New Roman"/>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25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2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250">
                        <a:latin typeface="Times New Roman"/>
                        <a:ea typeface="Times New Roman"/>
                        <a:cs typeface="Times New Roman"/>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1000"/>
                        </a:spcAft>
                      </a:pPr>
                      <a:r>
                        <a:rPr lang="en-US" sz="1100">
                          <a:latin typeface="Calibri"/>
                          <a:ea typeface="Times New Roman"/>
                          <a:cs typeface="Times New Roman"/>
                        </a:rPr>
                        <a:t> </a:t>
                      </a:r>
                    </a:p>
                  </a:txBody>
                  <a:tcPr marL="0" marR="0" marT="0" marB="0" anchor="ctr">
                    <a:lnL>
                      <a:noFill/>
                    </a:lnL>
                    <a:lnR>
                      <a:noFill/>
                    </a:lnR>
                    <a:lnT>
                      <a:noFill/>
                    </a:lnT>
                    <a:lnB>
                      <a:noFill/>
                    </a:lnB>
                  </a:tcPr>
                </a:tc>
                <a:extLst>
                  <a:ext uri="{0D108BD9-81ED-4DB2-BD59-A6C34878D82A}">
                    <a16:rowId xmlns="" xmlns:a16="http://schemas.microsoft.com/office/drawing/2014/main" val="10001"/>
                  </a:ext>
                </a:extLst>
              </a:tr>
              <a:tr h="182554">
                <a:tc>
                  <a:txBody>
                    <a:bodyPr/>
                    <a:lstStyle/>
                    <a:p>
                      <a:pPr marL="0" marR="0">
                        <a:lnSpc>
                          <a:spcPct val="115000"/>
                        </a:lnSpc>
                        <a:spcBef>
                          <a:spcPts val="0"/>
                        </a:spcBef>
                        <a:spcAft>
                          <a:spcPts val="0"/>
                        </a:spcAft>
                      </a:pPr>
                      <a:endParaRPr lang="en-US" sz="95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endParaRPr lang="en-US" sz="9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950">
                        <a:latin typeface="Times New Roman"/>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95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9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C0C0C0"/>
                    </a:solidFill>
                  </a:tcPr>
                </a:tc>
                <a:tc rowSpan="2">
                  <a:txBody>
                    <a:bodyPr/>
                    <a:lstStyle/>
                    <a:p>
                      <a:pPr marL="0" marR="342900" algn="r">
                        <a:lnSpc>
                          <a:spcPts val="1565"/>
                        </a:lnSpc>
                        <a:spcBef>
                          <a:spcPts val="0"/>
                        </a:spcBef>
                        <a:spcAft>
                          <a:spcPts val="0"/>
                        </a:spcAft>
                      </a:pPr>
                      <a:r>
                        <a:rPr lang="en-US" sz="1400">
                          <a:latin typeface="Times New Roman"/>
                          <a:ea typeface="Times New Roman"/>
                          <a:cs typeface="Times New Roman"/>
                        </a:rPr>
                        <a:t>00</a:t>
                      </a:r>
                      <a:endParaRPr lang="en-US" sz="1100">
                        <a:latin typeface="Calibri"/>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C0C0C0"/>
                      </a:solidFill>
                      <a:prstDash val="solid"/>
                      <a:round/>
                      <a:headEnd type="none" w="med" len="med"/>
                      <a:tailEnd type="none" w="med" len="med"/>
                    </a:lnB>
                    <a:solidFill>
                      <a:srgbClr val="C0C0C0"/>
                    </a:solidFill>
                  </a:tcPr>
                </a:tc>
                <a:tc rowSpan="2">
                  <a:txBody>
                    <a:bodyPr/>
                    <a:lstStyle/>
                    <a:p>
                      <a:pPr marL="0" marR="0">
                        <a:lnSpc>
                          <a:spcPct val="115000"/>
                        </a:lnSpc>
                        <a:spcBef>
                          <a:spcPts val="0"/>
                        </a:spcBef>
                        <a:spcAft>
                          <a:spcPts val="0"/>
                        </a:spcAft>
                      </a:pPr>
                      <a:endParaRPr lang="en-US" sz="95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C0C0C0"/>
                      </a:solidFill>
                      <a:prstDash val="solid"/>
                      <a:round/>
                      <a:headEnd type="none" w="med" len="med"/>
                      <a:tailEnd type="none" w="med" len="med"/>
                    </a:lnB>
                    <a:solidFill>
                      <a:srgbClr val="C0C0C0"/>
                    </a:solidFill>
                  </a:tcPr>
                </a:tc>
                <a:tc rowSpan="2">
                  <a:txBody>
                    <a:bodyPr/>
                    <a:lstStyle/>
                    <a:p>
                      <a:pPr marL="0" marR="0">
                        <a:lnSpc>
                          <a:spcPct val="115000"/>
                        </a:lnSpc>
                        <a:spcBef>
                          <a:spcPts val="0"/>
                        </a:spcBef>
                        <a:spcAft>
                          <a:spcPts val="0"/>
                        </a:spcAft>
                      </a:pPr>
                      <a:endParaRPr lang="en-US" sz="9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C0C0C0"/>
                      </a:solidFill>
                      <a:prstDash val="solid"/>
                      <a:round/>
                      <a:headEnd type="none" w="med" len="med"/>
                      <a:tailEnd type="none" w="med" len="med"/>
                    </a:lnB>
                    <a:solidFill>
                      <a:srgbClr val="C0C0C0"/>
                    </a:solidFill>
                  </a:tcPr>
                </a:tc>
                <a:tc rowSpan="2">
                  <a:txBody>
                    <a:bodyPr/>
                    <a:lstStyle/>
                    <a:p>
                      <a:pPr marL="403860" marR="0" algn="ctr">
                        <a:lnSpc>
                          <a:spcPts val="1565"/>
                        </a:lnSpc>
                        <a:spcBef>
                          <a:spcPts val="0"/>
                        </a:spcBef>
                        <a:spcAft>
                          <a:spcPts val="0"/>
                        </a:spcAft>
                      </a:pPr>
                      <a:r>
                        <a:rPr lang="en-US" sz="1400">
                          <a:latin typeface="Times New Roman"/>
                          <a:ea typeface="Times New Roman"/>
                          <a:cs typeface="Times New Roman"/>
                        </a:rPr>
                        <a:t>GPIO Port 0.16</a:t>
                      </a:r>
                      <a:endParaRPr lang="en-US" sz="1100">
                        <a:latin typeface="Calibri"/>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C0C0C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1000"/>
                        </a:spcAft>
                      </a:pPr>
                      <a:r>
                        <a:rPr lang="en-US" sz="1100">
                          <a:latin typeface="Calibri"/>
                          <a:ea typeface="Times New Roman"/>
                          <a:cs typeface="Times New Roman"/>
                        </a:rPr>
                        <a:t> </a:t>
                      </a:r>
                    </a:p>
                  </a:txBody>
                  <a:tcPr marL="0" marR="0" marT="0" marB="0" anchor="ctr">
                    <a:lnL>
                      <a:noFill/>
                    </a:lnL>
                    <a:lnR>
                      <a:noFill/>
                    </a:lnR>
                    <a:lnT>
                      <a:noFill/>
                    </a:lnT>
                    <a:lnB>
                      <a:noFill/>
                    </a:lnB>
                  </a:tcPr>
                </a:tc>
                <a:extLst>
                  <a:ext uri="{0D108BD9-81ED-4DB2-BD59-A6C34878D82A}">
                    <a16:rowId xmlns="" xmlns:a16="http://schemas.microsoft.com/office/drawing/2014/main" val="10002"/>
                  </a:ext>
                </a:extLst>
              </a:tr>
              <a:tr h="182554">
                <a:tc>
                  <a:txBody>
                    <a:bodyPr/>
                    <a:lstStyle/>
                    <a:p>
                      <a:pPr marL="0" marR="0">
                        <a:lnSpc>
                          <a:spcPct val="115000"/>
                        </a:lnSpc>
                        <a:spcBef>
                          <a:spcPts val="0"/>
                        </a:spcBef>
                        <a:spcAft>
                          <a:spcPts val="0"/>
                        </a:spcAft>
                      </a:pPr>
                      <a:endParaRPr lang="en-US" sz="45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endParaRPr lang="en-US" sz="4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C0C0C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450">
                        <a:latin typeface="Times New Roman"/>
                        <a:ea typeface="Times New Roman"/>
                        <a:cs typeface="Times New Roman"/>
                      </a:endParaRPr>
                    </a:p>
                  </a:txBody>
                  <a:tcPr marL="0" marR="0" marT="0" marB="0" anchor="b">
                    <a:lnL>
                      <a:noFill/>
                    </a:lnL>
                    <a:lnR>
                      <a:noFill/>
                    </a:lnR>
                    <a:lnT>
                      <a:noFill/>
                    </a:lnT>
                    <a:lnB w="12700" cap="flat" cmpd="sng" algn="ctr">
                      <a:solidFill>
                        <a:srgbClr val="C0C0C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45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w="12700" cap="flat" cmpd="sng" algn="ctr">
                      <a:solidFill>
                        <a:srgbClr val="C0C0C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4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C0C0C0"/>
                      </a:solidFill>
                      <a:prstDash val="solid"/>
                      <a:round/>
                      <a:headEnd type="none" w="med" len="med"/>
                      <a:tailEnd type="none" w="med" len="med"/>
                    </a:lnB>
                    <a:solidFill>
                      <a:srgbClr val="C0C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nSpc>
                          <a:spcPct val="115000"/>
                        </a:lnSpc>
                        <a:spcBef>
                          <a:spcPts val="0"/>
                        </a:spcBef>
                        <a:spcAft>
                          <a:spcPts val="1000"/>
                        </a:spcAft>
                      </a:pPr>
                      <a:r>
                        <a:rPr lang="en-US" sz="1100">
                          <a:latin typeface="Calibri"/>
                          <a:ea typeface="Times New Roman"/>
                          <a:cs typeface="Times New Roman"/>
                        </a:rPr>
                        <a:t> </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r h="221277">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solidFill>
                      <a:srgbClr val="C0C0C0"/>
                    </a:solidFill>
                  </a:tcPr>
                </a:tc>
                <a:tc rowSpan="2">
                  <a:txBody>
                    <a:bodyPr/>
                    <a:lstStyle/>
                    <a:p>
                      <a:pPr marL="0" marR="0" algn="ctr">
                        <a:lnSpc>
                          <a:spcPct val="115000"/>
                        </a:lnSpc>
                        <a:spcBef>
                          <a:spcPts val="0"/>
                        </a:spcBef>
                        <a:spcAft>
                          <a:spcPts val="0"/>
                        </a:spcAft>
                      </a:pPr>
                      <a:r>
                        <a:rPr lang="en-US" sz="1400" b="1">
                          <a:latin typeface="Times New Roman"/>
                          <a:ea typeface="Times New Roman"/>
                          <a:cs typeface="Times New Roman"/>
                        </a:rPr>
                        <a:t>P0.16</a:t>
                      </a:r>
                      <a:endParaRPr lang="en-US" sz="1100">
                        <a:latin typeface="Calibri"/>
                        <a:ea typeface="Times New Roman"/>
                        <a:cs typeface="Times New Roman"/>
                      </a:endParaRPr>
                    </a:p>
                  </a:txBody>
                  <a:tcPr marL="0" marR="0" marT="0" marB="0" anchor="b">
                    <a:lnL>
                      <a:noFill/>
                    </a:lnL>
                    <a:lnR>
                      <a:noFill/>
                    </a:lnR>
                    <a:lnT w="12700" cap="flat" cmpd="sng" algn="ctr">
                      <a:solidFill>
                        <a:srgbClr val="C0C0C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C0C0C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0" algn="r">
                        <a:lnSpc>
                          <a:spcPts val="1575"/>
                        </a:lnSpc>
                        <a:spcBef>
                          <a:spcPts val="0"/>
                        </a:spcBef>
                        <a:spcAft>
                          <a:spcPts val="0"/>
                        </a:spcAft>
                      </a:pPr>
                      <a:r>
                        <a:rPr lang="en-US" sz="1400">
                          <a:latin typeface="Times New Roman"/>
                          <a:ea typeface="Times New Roman"/>
                          <a:cs typeface="Times New Roman"/>
                        </a:rPr>
                        <a:t>01</a:t>
                      </a:r>
                      <a:endParaRPr lang="en-US" sz="1100">
                        <a:latin typeface="Calibri"/>
                        <a:ea typeface="Times New Roman"/>
                        <a:cs typeface="Times New Roman"/>
                      </a:endParaRPr>
                    </a:p>
                  </a:txBody>
                  <a:tcPr marL="0" marR="0" marT="0" marB="0" anchor="b">
                    <a:lnL>
                      <a:noFill/>
                    </a:lnL>
                    <a:lnR>
                      <a:noFill/>
                    </a:lnR>
                    <a:lnT w="12700" cap="flat" cmpd="sng" algn="ctr">
                      <a:solidFill>
                        <a:srgbClr val="C0C0C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C0C0C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289560" marR="0" algn="ctr">
                        <a:lnSpc>
                          <a:spcPts val="1575"/>
                        </a:lnSpc>
                        <a:spcBef>
                          <a:spcPts val="0"/>
                        </a:spcBef>
                        <a:spcAft>
                          <a:spcPts val="0"/>
                        </a:spcAft>
                      </a:pPr>
                      <a:r>
                        <a:rPr lang="en-US" sz="1400">
                          <a:latin typeface="Times New Roman"/>
                          <a:ea typeface="Times New Roman"/>
                          <a:cs typeface="Times New Roman"/>
                        </a:rPr>
                        <a:t>EINT0</a:t>
                      </a:r>
                      <a:endParaRPr lang="en-US" sz="1100">
                        <a:latin typeface="Calibri"/>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 xmlns:a16="http://schemas.microsoft.com/office/drawing/2014/main" val="10004"/>
                  </a:ext>
                </a:extLst>
              </a:tr>
              <a:tr h="182554">
                <a:tc>
                  <a:txBody>
                    <a:bodyPr/>
                    <a:lstStyle/>
                    <a:p>
                      <a:pPr marL="0" marR="0">
                        <a:lnSpc>
                          <a:spcPct val="115000"/>
                        </a:lnSpc>
                        <a:spcBef>
                          <a:spcPts val="0"/>
                        </a:spcBef>
                        <a:spcAft>
                          <a:spcPts val="0"/>
                        </a:spcAft>
                      </a:pPr>
                      <a:endParaRPr lang="en-US" sz="55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endParaRPr lang="en-US" sz="5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C0C0C0"/>
                      </a:solidFill>
                      <a:prstDash val="solid"/>
                      <a:round/>
                      <a:headEnd type="none" w="med" len="med"/>
                      <a:tailEnd type="none" w="med" len="med"/>
                    </a:lnT>
                    <a:lnB>
                      <a:noFill/>
                    </a:lnB>
                    <a:solidFill>
                      <a:srgbClr val="C0C0C0"/>
                    </a:solidFill>
                  </a:tcPr>
                </a:tc>
                <a:tc vMerge="1">
                  <a:txBody>
                    <a:bodyPr/>
                    <a:lstStyle/>
                    <a:p>
                      <a:endParaRPr lang="en-US"/>
                    </a:p>
                  </a:txBody>
                  <a:tcPr/>
                </a:tc>
                <a:tc>
                  <a:txBody>
                    <a:bodyPr/>
                    <a:lstStyle/>
                    <a:p>
                      <a:pPr marL="0" marR="0">
                        <a:lnSpc>
                          <a:spcPct val="115000"/>
                        </a:lnSpc>
                        <a:spcBef>
                          <a:spcPts val="0"/>
                        </a:spcBef>
                        <a:spcAft>
                          <a:spcPts val="0"/>
                        </a:spcAft>
                      </a:pPr>
                      <a:endParaRPr lang="en-US" sz="55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C0C0C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5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C0C0C0"/>
                    </a:solidFill>
                  </a:tcPr>
                </a:tc>
                <a:tc rowSpan="2">
                  <a:txBody>
                    <a:bodyPr/>
                    <a:lstStyle/>
                    <a:p>
                      <a:pPr marL="0" marR="342900" algn="r">
                        <a:lnSpc>
                          <a:spcPts val="1570"/>
                        </a:lnSpc>
                        <a:spcBef>
                          <a:spcPts val="0"/>
                        </a:spcBef>
                        <a:spcAft>
                          <a:spcPts val="0"/>
                        </a:spcAft>
                      </a:pPr>
                      <a:r>
                        <a:rPr lang="en-US" sz="1400">
                          <a:latin typeface="Times New Roman"/>
                          <a:ea typeface="Times New Roman"/>
                          <a:cs typeface="Times New Roman"/>
                        </a:rPr>
                        <a:t>10</a:t>
                      </a:r>
                      <a:endParaRPr lang="en-US" sz="1100">
                        <a:latin typeface="Calibri"/>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C0C0C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55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5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C0C0C0"/>
                    </a:solidFill>
                  </a:tcPr>
                </a:tc>
                <a:tc rowSpan="2">
                  <a:txBody>
                    <a:bodyPr/>
                    <a:lstStyle/>
                    <a:p>
                      <a:pPr marL="378460" marR="0" algn="ctr">
                        <a:lnSpc>
                          <a:spcPts val="1570"/>
                        </a:lnSpc>
                        <a:spcBef>
                          <a:spcPts val="0"/>
                        </a:spcBef>
                        <a:spcAft>
                          <a:spcPts val="0"/>
                        </a:spcAft>
                      </a:pPr>
                      <a:r>
                        <a:rPr lang="en-US" sz="1400">
                          <a:latin typeface="Times New Roman"/>
                          <a:ea typeface="Times New Roman"/>
                          <a:cs typeface="Times New Roman"/>
                        </a:rPr>
                        <a:t>Match 0.2 (Timer 0)</a:t>
                      </a:r>
                      <a:endParaRPr lang="en-US" sz="1100">
                        <a:latin typeface="Calibri"/>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C0C0C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1000"/>
                        </a:spcAft>
                      </a:pPr>
                      <a:r>
                        <a:rPr lang="en-US" sz="1100">
                          <a:latin typeface="Calibri"/>
                          <a:ea typeface="Times New Roman"/>
                          <a:cs typeface="Times New Roman"/>
                        </a:rPr>
                        <a:t> </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 xmlns:a16="http://schemas.microsoft.com/office/drawing/2014/main" val="10005"/>
                  </a:ext>
                </a:extLst>
              </a:tr>
              <a:tr h="182554">
                <a:tc>
                  <a:txBody>
                    <a:bodyPr/>
                    <a:lstStyle/>
                    <a:p>
                      <a:pPr marL="0" marR="0">
                        <a:lnSpc>
                          <a:spcPct val="115000"/>
                        </a:lnSpc>
                        <a:spcBef>
                          <a:spcPts val="0"/>
                        </a:spcBef>
                        <a:spcAft>
                          <a:spcPts val="0"/>
                        </a:spcAft>
                      </a:pPr>
                      <a:endParaRPr lang="en-US" sz="10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endParaRPr lang="en-US" sz="10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C0C0C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1000">
                        <a:latin typeface="Times New Roman"/>
                        <a:ea typeface="Times New Roman"/>
                        <a:cs typeface="Times New Roman"/>
                      </a:endParaRPr>
                    </a:p>
                  </a:txBody>
                  <a:tcPr marL="0" marR="0" marT="0" marB="0" anchor="b">
                    <a:lnL>
                      <a:noFill/>
                    </a:lnL>
                    <a:lnR>
                      <a:noFill/>
                    </a:lnR>
                    <a:lnT>
                      <a:noFill/>
                    </a:lnT>
                    <a:lnB w="12700" cap="flat" cmpd="sng" algn="ctr">
                      <a:solidFill>
                        <a:srgbClr val="C0C0C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10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w="12700" cap="flat" cmpd="sng" algn="ctr">
                      <a:solidFill>
                        <a:srgbClr val="C0C0C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10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C0C0C0"/>
                      </a:solidFill>
                      <a:prstDash val="solid"/>
                      <a:round/>
                      <a:headEnd type="none" w="med" len="med"/>
                      <a:tailEnd type="none" w="med" len="med"/>
                    </a:lnB>
                    <a:solidFill>
                      <a:srgbClr val="C0C0C0"/>
                    </a:solidFill>
                  </a:tcPr>
                </a:tc>
                <a:tc vMerge="1">
                  <a:txBody>
                    <a:bodyPr/>
                    <a:lstStyle/>
                    <a:p>
                      <a:endParaRPr lang="en-US"/>
                    </a:p>
                  </a:txBody>
                  <a:tcPr/>
                </a:tc>
                <a:tc>
                  <a:txBody>
                    <a:bodyPr/>
                    <a:lstStyle/>
                    <a:p>
                      <a:pPr marL="0" marR="0">
                        <a:lnSpc>
                          <a:spcPct val="115000"/>
                        </a:lnSpc>
                        <a:spcBef>
                          <a:spcPts val="0"/>
                        </a:spcBef>
                        <a:spcAft>
                          <a:spcPts val="0"/>
                        </a:spcAft>
                      </a:pPr>
                      <a:endParaRPr lang="en-US" sz="10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w="12700" cap="flat" cmpd="sng" algn="ctr">
                      <a:solidFill>
                        <a:srgbClr val="C0C0C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10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C0C0C0"/>
                      </a:solidFill>
                      <a:prstDash val="solid"/>
                      <a:round/>
                      <a:headEnd type="none" w="med" len="med"/>
                      <a:tailEnd type="none" w="med" len="med"/>
                    </a:lnB>
                    <a:solidFill>
                      <a:srgbClr val="C0C0C0"/>
                    </a:solidFill>
                  </a:tcPr>
                </a:tc>
                <a:tc vMerge="1">
                  <a:txBody>
                    <a:bodyPr/>
                    <a:lstStyle/>
                    <a:p>
                      <a:endParaRPr lang="en-US"/>
                    </a:p>
                  </a:txBody>
                  <a:tcPr/>
                </a:tc>
                <a:tc>
                  <a:txBody>
                    <a:bodyPr/>
                    <a:lstStyle/>
                    <a:p>
                      <a:pPr marL="0" marR="0">
                        <a:lnSpc>
                          <a:spcPct val="115000"/>
                        </a:lnSpc>
                        <a:spcBef>
                          <a:spcPts val="0"/>
                        </a:spcBef>
                        <a:spcAft>
                          <a:spcPts val="1000"/>
                        </a:spcAft>
                      </a:pPr>
                      <a:r>
                        <a:rPr lang="en-US" sz="1100">
                          <a:latin typeface="Calibri"/>
                          <a:ea typeface="Times New Roman"/>
                          <a:cs typeface="Times New Roman"/>
                        </a:rPr>
                        <a:t> </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6"/>
                  </a:ext>
                </a:extLst>
              </a:tr>
              <a:tr h="49787">
                <a:tc>
                  <a:txBody>
                    <a:bodyPr/>
                    <a:lstStyle/>
                    <a:p>
                      <a:pPr marL="0" marR="0">
                        <a:lnSpc>
                          <a:spcPct val="115000"/>
                        </a:lnSpc>
                        <a:spcBef>
                          <a:spcPts val="0"/>
                        </a:spcBef>
                        <a:spcAft>
                          <a:spcPts val="0"/>
                        </a:spcAft>
                      </a:pPr>
                      <a:endParaRPr lang="en-US" sz="3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endParaRPr lang="en-US" sz="3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C0C0C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300">
                        <a:latin typeface="Times New Roman"/>
                        <a:ea typeface="Times New Roman"/>
                        <a:cs typeface="Times New Roman"/>
                      </a:endParaRPr>
                    </a:p>
                  </a:txBody>
                  <a:tcPr marL="0" marR="0" marT="0" marB="0" anchor="b">
                    <a:lnL>
                      <a:noFill/>
                    </a:lnL>
                    <a:lnR>
                      <a:noFill/>
                    </a:lnR>
                    <a:lnT w="12700" cap="flat" cmpd="sng" algn="ctr">
                      <a:solidFill>
                        <a:srgbClr val="C0C0C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3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C0C0C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3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C0C0C0"/>
                      </a:solidFill>
                      <a:prstDash val="solid"/>
                      <a:round/>
                      <a:headEnd type="none" w="med" len="med"/>
                      <a:tailEnd type="none" w="med" len="med"/>
                    </a:lnT>
                    <a:lnB>
                      <a:noFill/>
                    </a:lnB>
                  </a:tcPr>
                </a:tc>
                <a:tc rowSpan="2">
                  <a:txBody>
                    <a:bodyPr/>
                    <a:lstStyle/>
                    <a:p>
                      <a:pPr marL="0" marR="342900" algn="r">
                        <a:lnSpc>
                          <a:spcPts val="1565"/>
                        </a:lnSpc>
                        <a:spcBef>
                          <a:spcPts val="0"/>
                        </a:spcBef>
                        <a:spcAft>
                          <a:spcPts val="0"/>
                        </a:spcAft>
                      </a:pPr>
                      <a:r>
                        <a:rPr lang="en-US" sz="1400">
                          <a:latin typeface="Times New Roman"/>
                          <a:ea typeface="Times New Roman"/>
                          <a:cs typeface="Times New Roman"/>
                        </a:rPr>
                        <a:t>11</a:t>
                      </a:r>
                      <a:endParaRPr lang="en-US" sz="1100">
                        <a:latin typeface="Calibri"/>
                        <a:ea typeface="Times New Roman"/>
                        <a:cs typeface="Times New Roman"/>
                      </a:endParaRPr>
                    </a:p>
                  </a:txBody>
                  <a:tcPr marL="0" marR="0" marT="0" marB="0" anchor="b">
                    <a:lnL>
                      <a:noFill/>
                    </a:lnL>
                    <a:lnR>
                      <a:noFill/>
                    </a:lnR>
                    <a:lnT w="12700" cap="flat" cmpd="sng" algn="ctr">
                      <a:solidFill>
                        <a:srgbClr val="C0C0C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15000"/>
                        </a:lnSpc>
                        <a:spcBef>
                          <a:spcPts val="0"/>
                        </a:spcBef>
                        <a:spcAft>
                          <a:spcPts val="0"/>
                        </a:spcAft>
                      </a:pPr>
                      <a:endParaRPr lang="en-US" sz="3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nSpc>
                          <a:spcPct val="115000"/>
                        </a:lnSpc>
                        <a:spcBef>
                          <a:spcPts val="0"/>
                        </a:spcBef>
                        <a:spcAft>
                          <a:spcPts val="0"/>
                        </a:spcAft>
                      </a:pPr>
                      <a:endParaRPr lang="en-US" sz="3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C0C0C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gridSpan="2">
                  <a:txBody>
                    <a:bodyPr/>
                    <a:lstStyle/>
                    <a:p>
                      <a:pPr marL="289560" marR="0" algn="ctr">
                        <a:lnSpc>
                          <a:spcPts val="1565"/>
                        </a:lnSpc>
                        <a:spcBef>
                          <a:spcPts val="0"/>
                        </a:spcBef>
                        <a:spcAft>
                          <a:spcPts val="0"/>
                        </a:spcAft>
                      </a:pPr>
                      <a:r>
                        <a:rPr lang="en-US" sz="1400">
                          <a:latin typeface="Times New Roman"/>
                          <a:ea typeface="Times New Roman"/>
                          <a:cs typeface="Times New Roman"/>
                        </a:rPr>
                        <a:t>Capture 0.2 (Timer 1)</a:t>
                      </a:r>
                      <a:endParaRPr lang="en-US" sz="1100">
                        <a:latin typeface="Calibri"/>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hMerge="1">
                  <a:txBody>
                    <a:bodyPr/>
                    <a:lstStyle/>
                    <a:p>
                      <a:endParaRPr lang="en-US"/>
                    </a:p>
                  </a:txBody>
                  <a:tcPr/>
                </a:tc>
                <a:extLst>
                  <a:ext uri="{0D108BD9-81ED-4DB2-BD59-A6C34878D82A}">
                    <a16:rowId xmlns="" xmlns:a16="http://schemas.microsoft.com/office/drawing/2014/main" val="10007"/>
                  </a:ext>
                </a:extLst>
              </a:tr>
              <a:tr h="174256">
                <a:tc>
                  <a:txBody>
                    <a:bodyPr/>
                    <a:lstStyle/>
                    <a:p>
                      <a:pPr marL="0" marR="0">
                        <a:lnSpc>
                          <a:spcPct val="115000"/>
                        </a:lnSpc>
                        <a:spcBef>
                          <a:spcPts val="0"/>
                        </a:spcBef>
                        <a:spcAft>
                          <a:spcPts val="0"/>
                        </a:spcAft>
                      </a:pPr>
                      <a:endParaRPr lang="en-US" sz="105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endParaRPr lang="en-US" sz="10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1050">
                        <a:latin typeface="Times New Roman"/>
                        <a:ea typeface="Times New Roman"/>
                        <a:cs typeface="Times New Roman"/>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105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10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vMerge="1">
                  <a:txBody>
                    <a:bodyPr/>
                    <a:lstStyle/>
                    <a:p>
                      <a:endParaRPr lang="en-US"/>
                    </a:p>
                  </a:txBody>
                  <a:tcPr/>
                </a:tc>
                <a:tc vMerge="1">
                  <a:txBody>
                    <a:bodyPr/>
                    <a:lstStyle/>
                    <a:p>
                      <a:endParaRPr lang="en-US"/>
                    </a:p>
                  </a:txBody>
                  <a:tcPr/>
                </a:tc>
                <a:tc vMerge="1">
                  <a:txBody>
                    <a:bodyPr/>
                    <a:lstStyle/>
                    <a:p>
                      <a:endParaRPr lang="en-US"/>
                    </a:p>
                  </a:txBody>
                  <a:tcPr/>
                </a:tc>
                <a:tc gridSpan="2" vMerge="1">
                  <a:txBody>
                    <a:bodyPr/>
                    <a:lstStyle/>
                    <a:p>
                      <a:endParaRPr lang="en-US"/>
                    </a:p>
                  </a:txBody>
                  <a:tcPr/>
                </a:tc>
                <a:tc hMerge="1" vMerge="1">
                  <a:txBody>
                    <a:bodyPr/>
                    <a:lstStyle/>
                    <a:p>
                      <a:endParaRPr lang="en-US"/>
                    </a:p>
                  </a:txBody>
                  <a:tcPr/>
                </a:tc>
                <a:extLst>
                  <a:ext uri="{0D108BD9-81ED-4DB2-BD59-A6C34878D82A}">
                    <a16:rowId xmlns="" xmlns:a16="http://schemas.microsoft.com/office/drawing/2014/main" val="10008"/>
                  </a:ext>
                </a:extLst>
              </a:tr>
              <a:tr h="199149">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C0C0C0"/>
                    </a:solidFill>
                  </a:tcPr>
                </a:tc>
                <a:tc>
                  <a:txBody>
                    <a:bodyPr/>
                    <a:lstStyle/>
                    <a:p>
                      <a:pPr marL="0" marR="0" algn="ctr">
                        <a:lnSpc>
                          <a:spcPts val="1595"/>
                        </a:lnSpc>
                        <a:spcBef>
                          <a:spcPts val="0"/>
                        </a:spcBef>
                        <a:spcAft>
                          <a:spcPts val="0"/>
                        </a:spcAft>
                      </a:pPr>
                      <a:r>
                        <a:rPr lang="en-US" sz="1400" b="1">
                          <a:latin typeface="Times New Roman"/>
                          <a:ea typeface="Times New Roman"/>
                          <a:cs typeface="Times New Roman"/>
                        </a:rPr>
                        <a:t>P0.17</a:t>
                      </a:r>
                      <a:endParaRPr lang="en-US" sz="1100">
                        <a:latin typeface="Calibri"/>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0"/>
                        </a:spcAft>
                      </a:pPr>
                      <a:endParaRPr lang="en-US" sz="1200" dirty="0">
                        <a:latin typeface="Times New Roman"/>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solidFill>
                      <a:srgbClr val="C0C0C0"/>
                    </a:solidFill>
                  </a:tcPr>
                </a:tc>
                <a:tc>
                  <a:txBody>
                    <a:bodyPr/>
                    <a:lstStyle/>
                    <a:p>
                      <a:pPr marL="0" marR="0">
                        <a:lnSpc>
                          <a:spcPct val="115000"/>
                        </a:lnSpc>
                        <a:spcBef>
                          <a:spcPts val="0"/>
                        </a:spcBef>
                        <a:spcAft>
                          <a:spcPts val="1000"/>
                        </a:spcAft>
                      </a:pPr>
                      <a:r>
                        <a:rPr lang="en-US" sz="1100">
                          <a:latin typeface="Calibri"/>
                          <a:ea typeface="Times New Roman"/>
                          <a:cs typeface="Times New Roman"/>
                        </a:rPr>
                        <a:t> </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 xmlns:a16="http://schemas.microsoft.com/office/drawing/2014/main" val="10009"/>
                  </a:ext>
                </a:extLst>
              </a:tr>
              <a:tr h="182554">
                <a:tc>
                  <a:txBody>
                    <a:bodyPr/>
                    <a:lstStyle/>
                    <a:p>
                      <a:pPr marL="0" marR="0">
                        <a:lnSpc>
                          <a:spcPct val="115000"/>
                        </a:lnSpc>
                        <a:spcBef>
                          <a:spcPts val="0"/>
                        </a:spcBef>
                        <a:spcAft>
                          <a:spcPts val="0"/>
                        </a:spcAft>
                      </a:pPr>
                      <a:endParaRPr lang="en-US" sz="7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endParaRPr lang="en-US" sz="7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solidFill>
                      <a:srgbClr val="C0C0C0"/>
                    </a:solidFill>
                  </a:tcPr>
                </a:tc>
                <a:tc rowSpan="2">
                  <a:txBody>
                    <a:bodyPr/>
                    <a:lstStyle/>
                    <a:p>
                      <a:pPr marL="0" marR="0" algn="ctr">
                        <a:lnSpc>
                          <a:spcPct val="115000"/>
                        </a:lnSpc>
                        <a:spcBef>
                          <a:spcPts val="0"/>
                        </a:spcBef>
                        <a:spcAft>
                          <a:spcPts val="0"/>
                        </a:spcAft>
                      </a:pPr>
                      <a:r>
                        <a:rPr lang="en-US" sz="1400" b="1">
                          <a:latin typeface="Times New Roman"/>
                          <a:ea typeface="Times New Roman"/>
                          <a:cs typeface="Times New Roman"/>
                        </a:rPr>
                        <a:t>:</a:t>
                      </a:r>
                      <a:endParaRPr lang="en-US" sz="1100">
                        <a:latin typeface="Calibri"/>
                        <a:ea typeface="Times New Roman"/>
                        <a:cs typeface="Times New Roman"/>
                      </a:endParaRPr>
                    </a:p>
                  </a:txBody>
                  <a:tcPr marL="0" marR="0" marT="0" marB="0" anchor="b">
                    <a:lnL>
                      <a:noFill/>
                    </a:lnL>
                    <a:lnR>
                      <a:noFill/>
                    </a:lnR>
                    <a:lnT>
                      <a:noFill/>
                    </a:lnT>
                    <a:lnB>
                      <a:noFill/>
                    </a:lnB>
                    <a:solidFill>
                      <a:srgbClr val="C0C0C0"/>
                    </a:solidFill>
                  </a:tcPr>
                </a:tc>
                <a:tc>
                  <a:txBody>
                    <a:bodyPr/>
                    <a:lstStyle/>
                    <a:p>
                      <a:pPr marL="0" marR="0">
                        <a:lnSpc>
                          <a:spcPct val="115000"/>
                        </a:lnSpc>
                        <a:spcBef>
                          <a:spcPts val="0"/>
                        </a:spcBef>
                        <a:spcAft>
                          <a:spcPts val="0"/>
                        </a:spcAft>
                      </a:pPr>
                      <a:endParaRPr lang="en-US" sz="7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solidFill>
                      <a:srgbClr val="C0C0C0"/>
                    </a:solidFill>
                  </a:tcPr>
                </a:tc>
                <a:tc>
                  <a:txBody>
                    <a:bodyPr/>
                    <a:lstStyle/>
                    <a:p>
                      <a:pPr marL="0" marR="0">
                        <a:lnSpc>
                          <a:spcPct val="115000"/>
                        </a:lnSpc>
                        <a:spcBef>
                          <a:spcPts val="0"/>
                        </a:spcBef>
                        <a:spcAft>
                          <a:spcPts val="0"/>
                        </a:spcAft>
                      </a:pPr>
                      <a:endParaRPr lang="en-US" sz="7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solidFill>
                      <a:srgbClr val="C0C0C0"/>
                    </a:solidFill>
                  </a:tcPr>
                </a:tc>
                <a:tc>
                  <a:txBody>
                    <a:bodyPr/>
                    <a:lstStyle/>
                    <a:p>
                      <a:pPr marL="0" marR="0">
                        <a:lnSpc>
                          <a:spcPct val="115000"/>
                        </a:lnSpc>
                        <a:spcBef>
                          <a:spcPts val="0"/>
                        </a:spcBef>
                        <a:spcAft>
                          <a:spcPts val="0"/>
                        </a:spcAft>
                      </a:pPr>
                      <a:endParaRPr lang="en-US" sz="700">
                        <a:latin typeface="Times New Roman"/>
                        <a:ea typeface="Times New Roman"/>
                        <a:cs typeface="Times New Roman"/>
                      </a:endParaRPr>
                    </a:p>
                  </a:txBody>
                  <a:tcPr marL="0" marR="0" marT="0" marB="0" anchor="b">
                    <a:lnL>
                      <a:noFill/>
                    </a:lnL>
                    <a:lnR>
                      <a:noFill/>
                    </a:lnR>
                    <a:lnT>
                      <a:noFill/>
                    </a:lnT>
                    <a:lnB>
                      <a:noFill/>
                    </a:lnB>
                    <a:solidFill>
                      <a:srgbClr val="C0C0C0"/>
                    </a:solidFill>
                  </a:tcPr>
                </a:tc>
                <a:tc>
                  <a:txBody>
                    <a:bodyPr/>
                    <a:lstStyle/>
                    <a:p>
                      <a:pPr marL="0" marR="0">
                        <a:lnSpc>
                          <a:spcPct val="115000"/>
                        </a:lnSpc>
                        <a:spcBef>
                          <a:spcPts val="0"/>
                        </a:spcBef>
                        <a:spcAft>
                          <a:spcPts val="0"/>
                        </a:spcAft>
                      </a:pPr>
                      <a:endParaRPr lang="en-US" sz="7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solidFill>
                      <a:srgbClr val="C0C0C0"/>
                    </a:solidFill>
                  </a:tcPr>
                </a:tc>
                <a:tc>
                  <a:txBody>
                    <a:bodyPr/>
                    <a:lstStyle/>
                    <a:p>
                      <a:pPr marL="0" marR="0">
                        <a:lnSpc>
                          <a:spcPct val="115000"/>
                        </a:lnSpc>
                        <a:spcBef>
                          <a:spcPts val="0"/>
                        </a:spcBef>
                        <a:spcAft>
                          <a:spcPts val="0"/>
                        </a:spcAft>
                      </a:pPr>
                      <a:endParaRPr lang="en-US" sz="7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solidFill>
                      <a:srgbClr val="C0C0C0"/>
                    </a:solidFill>
                  </a:tcPr>
                </a:tc>
                <a:tc>
                  <a:txBody>
                    <a:bodyPr/>
                    <a:lstStyle/>
                    <a:p>
                      <a:pPr marL="0" marR="0">
                        <a:lnSpc>
                          <a:spcPct val="115000"/>
                        </a:lnSpc>
                        <a:spcBef>
                          <a:spcPts val="0"/>
                        </a:spcBef>
                        <a:spcAft>
                          <a:spcPts val="0"/>
                        </a:spcAft>
                      </a:pPr>
                      <a:endParaRPr lang="en-US" sz="700">
                        <a:latin typeface="Times New Roman"/>
                        <a:ea typeface="Times New Roman"/>
                        <a:cs typeface="Times New Roman"/>
                      </a:endParaRPr>
                    </a:p>
                  </a:txBody>
                  <a:tcPr marL="0" marR="0" marT="0" marB="0" anchor="b">
                    <a:lnL>
                      <a:noFill/>
                    </a:lnL>
                    <a:lnR>
                      <a:noFill/>
                    </a:lnR>
                    <a:lnT>
                      <a:noFill/>
                    </a:lnT>
                    <a:lnB>
                      <a:noFill/>
                    </a:lnB>
                    <a:solidFill>
                      <a:srgbClr val="C0C0C0"/>
                    </a:solidFill>
                  </a:tcPr>
                </a:tc>
                <a:tc>
                  <a:txBody>
                    <a:bodyPr/>
                    <a:lstStyle/>
                    <a:p>
                      <a:pPr marL="0" marR="0">
                        <a:lnSpc>
                          <a:spcPct val="115000"/>
                        </a:lnSpc>
                        <a:spcBef>
                          <a:spcPts val="0"/>
                        </a:spcBef>
                        <a:spcAft>
                          <a:spcPts val="1000"/>
                        </a:spcAft>
                      </a:pPr>
                      <a:r>
                        <a:rPr lang="en-US" sz="1100">
                          <a:latin typeface="Calibri"/>
                          <a:ea typeface="Times New Roman"/>
                          <a:cs typeface="Times New Roman"/>
                        </a:rPr>
                        <a:t> </a:t>
                      </a:r>
                    </a:p>
                  </a:txBody>
                  <a:tcPr marL="0" marR="0" marT="0" marB="0" anchor="ctr">
                    <a:lnL>
                      <a:noFill/>
                    </a:lnL>
                    <a:lnR>
                      <a:noFill/>
                    </a:lnR>
                    <a:lnT>
                      <a:noFill/>
                    </a:lnT>
                    <a:lnB>
                      <a:noFill/>
                    </a:lnB>
                  </a:tcPr>
                </a:tc>
                <a:extLst>
                  <a:ext uri="{0D108BD9-81ED-4DB2-BD59-A6C34878D82A}">
                    <a16:rowId xmlns="" xmlns:a16="http://schemas.microsoft.com/office/drawing/2014/main" val="10010"/>
                  </a:ext>
                </a:extLst>
              </a:tr>
              <a:tr h="182554">
                <a:tc>
                  <a:txBody>
                    <a:bodyPr/>
                    <a:lstStyle/>
                    <a:p>
                      <a:pPr marL="0" marR="0">
                        <a:lnSpc>
                          <a:spcPct val="115000"/>
                        </a:lnSpc>
                        <a:spcBef>
                          <a:spcPts val="0"/>
                        </a:spcBef>
                        <a:spcAft>
                          <a:spcPts val="0"/>
                        </a:spcAft>
                      </a:pPr>
                      <a:endParaRPr lang="en-US" sz="65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endParaRPr lang="en-US" sz="6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solidFill>
                      <a:srgbClr val="C0C0C0"/>
                    </a:solidFill>
                  </a:tcPr>
                </a:tc>
                <a:tc vMerge="1">
                  <a:txBody>
                    <a:bodyPr/>
                    <a:lstStyle/>
                    <a:p>
                      <a:endParaRPr lang="en-US"/>
                    </a:p>
                  </a:txBody>
                  <a:tcPr/>
                </a:tc>
                <a:tc>
                  <a:txBody>
                    <a:bodyPr/>
                    <a:lstStyle/>
                    <a:p>
                      <a:pPr marL="0" marR="0">
                        <a:lnSpc>
                          <a:spcPct val="115000"/>
                        </a:lnSpc>
                        <a:spcBef>
                          <a:spcPts val="0"/>
                        </a:spcBef>
                        <a:spcAft>
                          <a:spcPts val="0"/>
                        </a:spcAft>
                      </a:pPr>
                      <a:endParaRPr lang="en-US" sz="65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solidFill>
                      <a:srgbClr val="C0C0C0"/>
                    </a:solidFill>
                  </a:tcPr>
                </a:tc>
                <a:tc>
                  <a:txBody>
                    <a:bodyPr/>
                    <a:lstStyle/>
                    <a:p>
                      <a:pPr marL="0" marR="0">
                        <a:lnSpc>
                          <a:spcPct val="115000"/>
                        </a:lnSpc>
                        <a:spcBef>
                          <a:spcPts val="0"/>
                        </a:spcBef>
                        <a:spcAft>
                          <a:spcPts val="0"/>
                        </a:spcAft>
                      </a:pPr>
                      <a:endParaRPr lang="en-US" sz="6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solidFill>
                      <a:srgbClr val="C0C0C0"/>
                    </a:solidFill>
                  </a:tcPr>
                </a:tc>
                <a:tc>
                  <a:txBody>
                    <a:bodyPr/>
                    <a:lstStyle/>
                    <a:p>
                      <a:pPr marL="0" marR="0">
                        <a:lnSpc>
                          <a:spcPct val="115000"/>
                        </a:lnSpc>
                        <a:spcBef>
                          <a:spcPts val="0"/>
                        </a:spcBef>
                        <a:spcAft>
                          <a:spcPts val="0"/>
                        </a:spcAft>
                      </a:pPr>
                      <a:endParaRPr lang="en-US" sz="650">
                        <a:latin typeface="Times New Roman"/>
                        <a:ea typeface="Times New Roman"/>
                        <a:cs typeface="Times New Roman"/>
                      </a:endParaRPr>
                    </a:p>
                  </a:txBody>
                  <a:tcPr marL="0" marR="0" marT="0" marB="0" anchor="b">
                    <a:lnL>
                      <a:noFill/>
                    </a:lnL>
                    <a:lnR>
                      <a:noFill/>
                    </a:lnR>
                    <a:lnT>
                      <a:noFill/>
                    </a:lnT>
                    <a:lnB>
                      <a:noFill/>
                    </a:lnB>
                    <a:solidFill>
                      <a:srgbClr val="C0C0C0"/>
                    </a:solidFill>
                  </a:tcPr>
                </a:tc>
                <a:tc>
                  <a:txBody>
                    <a:bodyPr/>
                    <a:lstStyle/>
                    <a:p>
                      <a:pPr marL="0" marR="0">
                        <a:lnSpc>
                          <a:spcPct val="115000"/>
                        </a:lnSpc>
                        <a:spcBef>
                          <a:spcPts val="0"/>
                        </a:spcBef>
                        <a:spcAft>
                          <a:spcPts val="0"/>
                        </a:spcAft>
                      </a:pPr>
                      <a:endParaRPr lang="en-US" sz="65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solidFill>
                      <a:srgbClr val="C0C0C0"/>
                    </a:solidFill>
                  </a:tcPr>
                </a:tc>
                <a:tc>
                  <a:txBody>
                    <a:bodyPr/>
                    <a:lstStyle/>
                    <a:p>
                      <a:pPr marL="0" marR="0">
                        <a:lnSpc>
                          <a:spcPct val="115000"/>
                        </a:lnSpc>
                        <a:spcBef>
                          <a:spcPts val="0"/>
                        </a:spcBef>
                        <a:spcAft>
                          <a:spcPts val="0"/>
                        </a:spcAft>
                      </a:pPr>
                      <a:endParaRPr lang="en-US" sz="6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solidFill>
                      <a:srgbClr val="C0C0C0"/>
                    </a:solidFill>
                  </a:tcPr>
                </a:tc>
                <a:tc>
                  <a:txBody>
                    <a:bodyPr/>
                    <a:lstStyle/>
                    <a:p>
                      <a:pPr marL="0" marR="0">
                        <a:lnSpc>
                          <a:spcPct val="115000"/>
                        </a:lnSpc>
                        <a:spcBef>
                          <a:spcPts val="0"/>
                        </a:spcBef>
                        <a:spcAft>
                          <a:spcPts val="0"/>
                        </a:spcAft>
                      </a:pPr>
                      <a:endParaRPr lang="en-US" sz="650">
                        <a:latin typeface="Times New Roman"/>
                        <a:ea typeface="Times New Roman"/>
                        <a:cs typeface="Times New Roman"/>
                      </a:endParaRPr>
                    </a:p>
                  </a:txBody>
                  <a:tcPr marL="0" marR="0" marT="0" marB="0" anchor="b">
                    <a:lnL>
                      <a:noFill/>
                    </a:lnL>
                    <a:lnR>
                      <a:noFill/>
                    </a:lnR>
                    <a:lnT>
                      <a:noFill/>
                    </a:lnT>
                    <a:lnB>
                      <a:noFill/>
                    </a:lnB>
                    <a:solidFill>
                      <a:srgbClr val="C0C0C0"/>
                    </a:solidFill>
                  </a:tcPr>
                </a:tc>
                <a:tc>
                  <a:txBody>
                    <a:bodyPr/>
                    <a:lstStyle/>
                    <a:p>
                      <a:pPr marL="0" marR="0">
                        <a:lnSpc>
                          <a:spcPct val="115000"/>
                        </a:lnSpc>
                        <a:spcBef>
                          <a:spcPts val="0"/>
                        </a:spcBef>
                        <a:spcAft>
                          <a:spcPts val="1000"/>
                        </a:spcAft>
                      </a:pPr>
                      <a:r>
                        <a:rPr lang="en-US" sz="1100">
                          <a:latin typeface="Calibri"/>
                          <a:ea typeface="Times New Roman"/>
                          <a:cs typeface="Times New Roman"/>
                        </a:rPr>
                        <a:t> </a:t>
                      </a:r>
                    </a:p>
                  </a:txBody>
                  <a:tcPr marL="0" marR="0" marT="0" marB="0" anchor="ctr">
                    <a:lnL>
                      <a:noFill/>
                    </a:lnL>
                    <a:lnR>
                      <a:noFill/>
                    </a:lnR>
                    <a:lnT>
                      <a:noFill/>
                    </a:lnT>
                    <a:lnB>
                      <a:noFill/>
                    </a:lnB>
                  </a:tcPr>
                </a:tc>
                <a:extLst>
                  <a:ext uri="{0D108BD9-81ED-4DB2-BD59-A6C34878D82A}">
                    <a16:rowId xmlns="" xmlns:a16="http://schemas.microsoft.com/office/drawing/2014/main" val="10011"/>
                  </a:ext>
                </a:extLst>
              </a:tr>
              <a:tr h="182554">
                <a:tc>
                  <a:txBody>
                    <a:bodyPr/>
                    <a:lstStyle/>
                    <a:p>
                      <a:pPr marL="0" marR="0">
                        <a:lnSpc>
                          <a:spcPct val="115000"/>
                        </a:lnSpc>
                        <a:spcBef>
                          <a:spcPts val="0"/>
                        </a:spcBef>
                        <a:spcAft>
                          <a:spcPts val="0"/>
                        </a:spcAft>
                      </a:pPr>
                      <a:endParaRPr lang="en-US" sz="7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endParaRPr lang="en-US" sz="7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solidFill>
                      <a:srgbClr val="C0C0C0"/>
                    </a:solidFill>
                  </a:tcPr>
                </a:tc>
                <a:tc rowSpan="2">
                  <a:txBody>
                    <a:bodyPr/>
                    <a:lstStyle/>
                    <a:p>
                      <a:pPr marL="0" marR="0" algn="ctr">
                        <a:lnSpc>
                          <a:spcPts val="1605"/>
                        </a:lnSpc>
                        <a:spcBef>
                          <a:spcPts val="0"/>
                        </a:spcBef>
                        <a:spcAft>
                          <a:spcPts val="0"/>
                        </a:spcAft>
                      </a:pPr>
                      <a:r>
                        <a:rPr lang="en-US" sz="1400" b="1">
                          <a:latin typeface="Times New Roman"/>
                          <a:ea typeface="Times New Roman"/>
                          <a:cs typeface="Times New Roman"/>
                        </a:rPr>
                        <a:t>:</a:t>
                      </a:r>
                      <a:endParaRPr lang="en-US" sz="1100">
                        <a:latin typeface="Calibri"/>
                        <a:ea typeface="Times New Roman"/>
                        <a:cs typeface="Times New Roman"/>
                      </a:endParaRPr>
                    </a:p>
                  </a:txBody>
                  <a:tcPr marL="0" marR="0" marT="0" marB="0" anchor="b">
                    <a:lnL>
                      <a:noFill/>
                    </a:lnL>
                    <a:lnR>
                      <a:noFill/>
                    </a:lnR>
                    <a:lnT>
                      <a:noFill/>
                    </a:lnT>
                    <a:lnB>
                      <a:noFill/>
                    </a:lnB>
                    <a:solidFill>
                      <a:srgbClr val="C0C0C0"/>
                    </a:solidFill>
                  </a:tcPr>
                </a:tc>
                <a:tc>
                  <a:txBody>
                    <a:bodyPr/>
                    <a:lstStyle/>
                    <a:p>
                      <a:pPr marL="0" marR="0">
                        <a:lnSpc>
                          <a:spcPct val="115000"/>
                        </a:lnSpc>
                        <a:spcBef>
                          <a:spcPts val="0"/>
                        </a:spcBef>
                        <a:spcAft>
                          <a:spcPts val="0"/>
                        </a:spcAft>
                      </a:pPr>
                      <a:endParaRPr lang="en-US" sz="7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solidFill>
                      <a:srgbClr val="C0C0C0"/>
                    </a:solidFill>
                  </a:tcPr>
                </a:tc>
                <a:tc>
                  <a:txBody>
                    <a:bodyPr/>
                    <a:lstStyle/>
                    <a:p>
                      <a:pPr marL="0" marR="0">
                        <a:lnSpc>
                          <a:spcPct val="115000"/>
                        </a:lnSpc>
                        <a:spcBef>
                          <a:spcPts val="0"/>
                        </a:spcBef>
                        <a:spcAft>
                          <a:spcPts val="0"/>
                        </a:spcAft>
                      </a:pPr>
                      <a:endParaRPr lang="en-US" sz="7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solidFill>
                      <a:srgbClr val="C0C0C0"/>
                    </a:solidFill>
                  </a:tcPr>
                </a:tc>
                <a:tc>
                  <a:txBody>
                    <a:bodyPr/>
                    <a:lstStyle/>
                    <a:p>
                      <a:pPr marL="0" marR="0">
                        <a:lnSpc>
                          <a:spcPct val="115000"/>
                        </a:lnSpc>
                        <a:spcBef>
                          <a:spcPts val="0"/>
                        </a:spcBef>
                        <a:spcAft>
                          <a:spcPts val="0"/>
                        </a:spcAft>
                      </a:pPr>
                      <a:endParaRPr lang="en-US" sz="700">
                        <a:latin typeface="Times New Roman"/>
                        <a:ea typeface="Times New Roman"/>
                        <a:cs typeface="Times New Roman"/>
                      </a:endParaRPr>
                    </a:p>
                  </a:txBody>
                  <a:tcPr marL="0" marR="0" marT="0" marB="0" anchor="b">
                    <a:lnL>
                      <a:noFill/>
                    </a:lnL>
                    <a:lnR>
                      <a:noFill/>
                    </a:lnR>
                    <a:lnT>
                      <a:noFill/>
                    </a:lnT>
                    <a:lnB>
                      <a:noFill/>
                    </a:lnB>
                    <a:solidFill>
                      <a:srgbClr val="C0C0C0"/>
                    </a:solidFill>
                  </a:tcPr>
                </a:tc>
                <a:tc>
                  <a:txBody>
                    <a:bodyPr/>
                    <a:lstStyle/>
                    <a:p>
                      <a:pPr marL="0" marR="0">
                        <a:lnSpc>
                          <a:spcPct val="115000"/>
                        </a:lnSpc>
                        <a:spcBef>
                          <a:spcPts val="0"/>
                        </a:spcBef>
                        <a:spcAft>
                          <a:spcPts val="0"/>
                        </a:spcAft>
                      </a:pPr>
                      <a:endParaRPr lang="en-US" sz="7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solidFill>
                      <a:srgbClr val="C0C0C0"/>
                    </a:solidFill>
                  </a:tcPr>
                </a:tc>
                <a:tc>
                  <a:txBody>
                    <a:bodyPr/>
                    <a:lstStyle/>
                    <a:p>
                      <a:pPr marL="0" marR="0">
                        <a:lnSpc>
                          <a:spcPct val="115000"/>
                        </a:lnSpc>
                        <a:spcBef>
                          <a:spcPts val="0"/>
                        </a:spcBef>
                        <a:spcAft>
                          <a:spcPts val="0"/>
                        </a:spcAft>
                      </a:pPr>
                      <a:endParaRPr lang="en-US" sz="7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solidFill>
                      <a:srgbClr val="C0C0C0"/>
                    </a:solidFill>
                  </a:tcPr>
                </a:tc>
                <a:tc>
                  <a:txBody>
                    <a:bodyPr/>
                    <a:lstStyle/>
                    <a:p>
                      <a:pPr marL="0" marR="0">
                        <a:lnSpc>
                          <a:spcPct val="115000"/>
                        </a:lnSpc>
                        <a:spcBef>
                          <a:spcPts val="0"/>
                        </a:spcBef>
                        <a:spcAft>
                          <a:spcPts val="0"/>
                        </a:spcAft>
                      </a:pPr>
                      <a:endParaRPr lang="en-US" sz="700">
                        <a:latin typeface="Times New Roman"/>
                        <a:ea typeface="Times New Roman"/>
                        <a:cs typeface="Times New Roman"/>
                      </a:endParaRPr>
                    </a:p>
                  </a:txBody>
                  <a:tcPr marL="0" marR="0" marT="0" marB="0" anchor="b">
                    <a:lnL>
                      <a:noFill/>
                    </a:lnL>
                    <a:lnR>
                      <a:noFill/>
                    </a:lnR>
                    <a:lnT>
                      <a:noFill/>
                    </a:lnT>
                    <a:lnB>
                      <a:noFill/>
                    </a:lnB>
                    <a:solidFill>
                      <a:srgbClr val="C0C0C0"/>
                    </a:solidFill>
                  </a:tcPr>
                </a:tc>
                <a:tc>
                  <a:txBody>
                    <a:bodyPr/>
                    <a:lstStyle/>
                    <a:p>
                      <a:pPr marL="0" marR="0">
                        <a:lnSpc>
                          <a:spcPct val="115000"/>
                        </a:lnSpc>
                        <a:spcBef>
                          <a:spcPts val="0"/>
                        </a:spcBef>
                        <a:spcAft>
                          <a:spcPts val="1000"/>
                        </a:spcAft>
                      </a:pPr>
                      <a:r>
                        <a:rPr lang="en-US" sz="1100">
                          <a:latin typeface="Calibri"/>
                          <a:ea typeface="Times New Roman"/>
                          <a:cs typeface="Times New Roman"/>
                        </a:rPr>
                        <a:t> </a:t>
                      </a:r>
                    </a:p>
                  </a:txBody>
                  <a:tcPr marL="0" marR="0" marT="0" marB="0" anchor="ctr">
                    <a:lnL>
                      <a:noFill/>
                    </a:lnL>
                    <a:lnR>
                      <a:noFill/>
                    </a:lnR>
                    <a:lnT>
                      <a:noFill/>
                    </a:lnT>
                    <a:lnB>
                      <a:noFill/>
                    </a:lnB>
                  </a:tcPr>
                </a:tc>
                <a:extLst>
                  <a:ext uri="{0D108BD9-81ED-4DB2-BD59-A6C34878D82A}">
                    <a16:rowId xmlns="" xmlns:a16="http://schemas.microsoft.com/office/drawing/2014/main" val="10012"/>
                  </a:ext>
                </a:extLst>
              </a:tr>
              <a:tr h="182554">
                <a:tc>
                  <a:txBody>
                    <a:bodyPr/>
                    <a:lstStyle/>
                    <a:p>
                      <a:pPr marL="0" marR="0">
                        <a:lnSpc>
                          <a:spcPct val="115000"/>
                        </a:lnSpc>
                        <a:spcBef>
                          <a:spcPts val="0"/>
                        </a:spcBef>
                        <a:spcAft>
                          <a:spcPts val="0"/>
                        </a:spcAft>
                      </a:pPr>
                      <a:endParaRPr lang="en-US" sz="65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endParaRPr lang="en-US" sz="6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solidFill>
                      <a:srgbClr val="C0C0C0"/>
                    </a:solidFill>
                  </a:tcPr>
                </a:tc>
                <a:tc vMerge="1">
                  <a:txBody>
                    <a:bodyPr/>
                    <a:lstStyle/>
                    <a:p>
                      <a:endParaRPr lang="en-US"/>
                    </a:p>
                  </a:txBody>
                  <a:tcPr/>
                </a:tc>
                <a:tc>
                  <a:txBody>
                    <a:bodyPr/>
                    <a:lstStyle/>
                    <a:p>
                      <a:pPr marL="0" marR="0">
                        <a:lnSpc>
                          <a:spcPct val="115000"/>
                        </a:lnSpc>
                        <a:spcBef>
                          <a:spcPts val="0"/>
                        </a:spcBef>
                        <a:spcAft>
                          <a:spcPts val="0"/>
                        </a:spcAft>
                      </a:pPr>
                      <a:endParaRPr lang="en-US" sz="65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solidFill>
                      <a:srgbClr val="C0C0C0"/>
                    </a:solidFill>
                  </a:tcPr>
                </a:tc>
                <a:tc>
                  <a:txBody>
                    <a:bodyPr/>
                    <a:lstStyle/>
                    <a:p>
                      <a:pPr marL="0" marR="0">
                        <a:lnSpc>
                          <a:spcPct val="115000"/>
                        </a:lnSpc>
                        <a:spcBef>
                          <a:spcPts val="0"/>
                        </a:spcBef>
                        <a:spcAft>
                          <a:spcPts val="0"/>
                        </a:spcAft>
                      </a:pPr>
                      <a:endParaRPr lang="en-US" sz="6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solidFill>
                      <a:srgbClr val="C0C0C0"/>
                    </a:solidFill>
                  </a:tcPr>
                </a:tc>
                <a:tc>
                  <a:txBody>
                    <a:bodyPr/>
                    <a:lstStyle/>
                    <a:p>
                      <a:pPr marL="0" marR="0">
                        <a:lnSpc>
                          <a:spcPct val="115000"/>
                        </a:lnSpc>
                        <a:spcBef>
                          <a:spcPts val="0"/>
                        </a:spcBef>
                        <a:spcAft>
                          <a:spcPts val="0"/>
                        </a:spcAft>
                      </a:pPr>
                      <a:endParaRPr lang="en-US" sz="650">
                        <a:latin typeface="Times New Roman"/>
                        <a:ea typeface="Times New Roman"/>
                        <a:cs typeface="Times New Roman"/>
                      </a:endParaRPr>
                    </a:p>
                  </a:txBody>
                  <a:tcPr marL="0" marR="0" marT="0" marB="0" anchor="b">
                    <a:lnL>
                      <a:noFill/>
                    </a:lnL>
                    <a:lnR>
                      <a:noFill/>
                    </a:lnR>
                    <a:lnT>
                      <a:noFill/>
                    </a:lnT>
                    <a:lnB>
                      <a:noFill/>
                    </a:lnB>
                    <a:solidFill>
                      <a:srgbClr val="C0C0C0"/>
                    </a:solidFill>
                  </a:tcPr>
                </a:tc>
                <a:tc>
                  <a:txBody>
                    <a:bodyPr/>
                    <a:lstStyle/>
                    <a:p>
                      <a:pPr marL="0" marR="0">
                        <a:lnSpc>
                          <a:spcPct val="115000"/>
                        </a:lnSpc>
                        <a:spcBef>
                          <a:spcPts val="0"/>
                        </a:spcBef>
                        <a:spcAft>
                          <a:spcPts val="0"/>
                        </a:spcAft>
                      </a:pPr>
                      <a:endParaRPr lang="en-US" sz="65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solidFill>
                      <a:srgbClr val="C0C0C0"/>
                    </a:solidFill>
                  </a:tcPr>
                </a:tc>
                <a:tc>
                  <a:txBody>
                    <a:bodyPr/>
                    <a:lstStyle/>
                    <a:p>
                      <a:pPr marL="0" marR="0">
                        <a:lnSpc>
                          <a:spcPct val="115000"/>
                        </a:lnSpc>
                        <a:spcBef>
                          <a:spcPts val="0"/>
                        </a:spcBef>
                        <a:spcAft>
                          <a:spcPts val="0"/>
                        </a:spcAft>
                      </a:pPr>
                      <a:endParaRPr lang="en-US" sz="65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a:noFill/>
                    </a:lnB>
                    <a:solidFill>
                      <a:srgbClr val="C0C0C0"/>
                    </a:solidFill>
                  </a:tcPr>
                </a:tc>
                <a:tc>
                  <a:txBody>
                    <a:bodyPr/>
                    <a:lstStyle/>
                    <a:p>
                      <a:pPr marL="0" marR="0">
                        <a:lnSpc>
                          <a:spcPct val="115000"/>
                        </a:lnSpc>
                        <a:spcBef>
                          <a:spcPts val="0"/>
                        </a:spcBef>
                        <a:spcAft>
                          <a:spcPts val="0"/>
                        </a:spcAft>
                      </a:pPr>
                      <a:endParaRPr lang="en-US" sz="650">
                        <a:latin typeface="Times New Roman"/>
                        <a:ea typeface="Times New Roman"/>
                        <a:cs typeface="Times New Roman"/>
                      </a:endParaRPr>
                    </a:p>
                  </a:txBody>
                  <a:tcPr marL="0" marR="0" marT="0" marB="0" anchor="b">
                    <a:lnL>
                      <a:noFill/>
                    </a:lnL>
                    <a:lnR>
                      <a:noFill/>
                    </a:lnR>
                    <a:lnT>
                      <a:noFill/>
                    </a:lnT>
                    <a:lnB>
                      <a:noFill/>
                    </a:lnB>
                    <a:solidFill>
                      <a:srgbClr val="C0C0C0"/>
                    </a:solidFill>
                  </a:tcPr>
                </a:tc>
                <a:tc>
                  <a:txBody>
                    <a:bodyPr/>
                    <a:lstStyle/>
                    <a:p>
                      <a:pPr marL="0" marR="0">
                        <a:lnSpc>
                          <a:spcPct val="115000"/>
                        </a:lnSpc>
                        <a:spcBef>
                          <a:spcPts val="0"/>
                        </a:spcBef>
                        <a:spcAft>
                          <a:spcPts val="1000"/>
                        </a:spcAft>
                      </a:pPr>
                      <a:r>
                        <a:rPr lang="en-US" sz="1100">
                          <a:latin typeface="Calibri"/>
                          <a:ea typeface="Times New Roman"/>
                          <a:cs typeface="Times New Roman"/>
                        </a:rPr>
                        <a:t> </a:t>
                      </a:r>
                    </a:p>
                  </a:txBody>
                  <a:tcPr marL="0" marR="0" marT="0" marB="0" anchor="ctr">
                    <a:lnL>
                      <a:noFill/>
                    </a:lnL>
                    <a:lnR>
                      <a:noFill/>
                    </a:lnR>
                    <a:lnT>
                      <a:noFill/>
                    </a:lnT>
                    <a:lnB>
                      <a:noFill/>
                    </a:lnB>
                  </a:tcPr>
                </a:tc>
                <a:extLst>
                  <a:ext uri="{0D108BD9-81ED-4DB2-BD59-A6C34878D82A}">
                    <a16:rowId xmlns="" xmlns:a16="http://schemas.microsoft.com/office/drawing/2014/main" val="10013"/>
                  </a:ext>
                </a:extLst>
              </a:tr>
              <a:tr h="199149">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C0C0C0"/>
                    </a:solidFill>
                  </a:tcPr>
                </a:tc>
                <a:tc>
                  <a:txBody>
                    <a:bodyPr/>
                    <a:lstStyle/>
                    <a:p>
                      <a:pPr marL="0" marR="0" algn="ctr">
                        <a:lnSpc>
                          <a:spcPts val="1605"/>
                        </a:lnSpc>
                        <a:spcBef>
                          <a:spcPts val="0"/>
                        </a:spcBef>
                        <a:spcAft>
                          <a:spcPts val="0"/>
                        </a:spcAft>
                      </a:pPr>
                      <a:r>
                        <a:rPr lang="en-US" sz="1400" b="1">
                          <a:latin typeface="Times New Roman"/>
                          <a:ea typeface="Times New Roman"/>
                          <a:cs typeface="Times New Roman"/>
                        </a:rPr>
                        <a:t>P0.31</a:t>
                      </a:r>
                      <a:endParaRPr lang="en-US" sz="1100">
                        <a:latin typeface="Calibri"/>
                        <a:ea typeface="Times New Roman"/>
                        <a:cs typeface="Times New Roman"/>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0"/>
                        </a:spcAft>
                      </a:pPr>
                      <a:endParaRPr lang="en-US" sz="1200" dirty="0">
                        <a:latin typeface="Times New Roman"/>
                        <a:ea typeface="Times New Roman"/>
                        <a:cs typeface="Times New Roman"/>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solidFill>
                      <a:srgbClr val="C0C0C0"/>
                    </a:solidFill>
                  </a:tcPr>
                </a:tc>
                <a:tc>
                  <a:txBody>
                    <a:bodyPr/>
                    <a:lstStyle/>
                    <a:p>
                      <a:pPr marL="0" marR="0">
                        <a:lnSpc>
                          <a:spcPct val="115000"/>
                        </a:lnSpc>
                        <a:spcBef>
                          <a:spcPts val="0"/>
                        </a:spcBef>
                        <a:spcAft>
                          <a:spcPts val="1000"/>
                        </a:spcAft>
                      </a:pPr>
                      <a:r>
                        <a:rPr lang="en-US" sz="1100" dirty="0">
                          <a:latin typeface="Calibri"/>
                          <a:ea typeface="Times New Roman"/>
                          <a:cs typeface="Times New Roman"/>
                        </a:rPr>
                        <a:t> </a:t>
                      </a:r>
                    </a:p>
                  </a:txBody>
                  <a:tcPr marL="0" marR="0" marT="0" marB="0" anchor="ctr">
                    <a:lnL>
                      <a:noFill/>
                    </a:lnL>
                    <a:lnR>
                      <a:noFill/>
                    </a:lnR>
                    <a:lnT>
                      <a:noFill/>
                    </a:lnT>
                    <a:lnB>
                      <a:noFill/>
                    </a:lnB>
                  </a:tcPr>
                </a:tc>
                <a:extLst>
                  <a:ext uri="{0D108BD9-81ED-4DB2-BD59-A6C34878D82A}">
                    <a16:rowId xmlns="" xmlns:a16="http://schemas.microsoft.com/office/drawing/2014/main" val="10014"/>
                  </a:ext>
                </a:extLst>
              </a:tr>
            </a:tbl>
          </a:graphicData>
        </a:graphic>
      </p:graphicFrame>
      <p:sp>
        <p:nvSpPr>
          <p:cNvPr id="4" name="Footer Placeholder 3"/>
          <p:cNvSpPr>
            <a:spLocks noGrp="1"/>
          </p:cNvSpPr>
          <p:nvPr>
            <p:ph type="ftr" sz="quarter" idx="11"/>
          </p:nvPr>
        </p:nvSpPr>
        <p:spPr/>
        <p:txBody>
          <a:bodyPr/>
          <a:lstStyle/>
          <a:p>
            <a:r>
              <a:rPr lang="en-US" dirty="0" smtClean="0"/>
              <a:t>Prof. S. A. </a:t>
            </a:r>
            <a:r>
              <a:rPr lang="en-US" dirty="0" err="1" smtClean="0"/>
              <a:t>Shaikh</a:t>
            </a: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766752212"/>
              </p:ext>
            </p:extLst>
          </p:nvPr>
        </p:nvGraphicFramePr>
        <p:xfrm>
          <a:off x="2844800" y="3810000"/>
          <a:ext cx="4223657" cy="2837543"/>
        </p:xfrm>
        <a:graphic>
          <a:graphicData uri="http://schemas.openxmlformats.org/drawingml/2006/table">
            <a:tbl>
              <a:tblPr/>
              <a:tblGrid>
                <a:gridCol w="4223657">
                  <a:extLst>
                    <a:ext uri="{9D8B030D-6E8A-4147-A177-3AD203B41FA5}">
                      <a16:colId xmlns="" xmlns:a16="http://schemas.microsoft.com/office/drawing/2014/main" val="20000"/>
                    </a:ext>
                  </a:extLst>
                </a:gridCol>
              </a:tblGrid>
              <a:tr h="2837543">
                <a:tc>
                  <a:txBody>
                    <a:bodyPr/>
                    <a:lstStyle/>
                    <a:p>
                      <a:endParaRPr lang="en-US" sz="4400"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 xmlns:a16="http://schemas.microsoft.com/office/drawing/2014/main" val="10000"/>
                  </a:ext>
                </a:extLst>
              </a:tr>
            </a:tbl>
          </a:graphicData>
        </a:graphic>
      </p:graphicFrame>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695450"/>
            <a:ext cx="7477125" cy="173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57" y="1066800"/>
            <a:ext cx="9144000" cy="1447800"/>
          </a:xfrm>
          <a:solidFill>
            <a:schemeClr val="bg1"/>
          </a:solidFill>
        </p:spPr>
        <p:txBody>
          <a:bodyPr>
            <a:normAutofit/>
          </a:bodyPr>
          <a:lstStyle/>
          <a:p>
            <a:pPr algn="just"/>
            <a:r>
              <a:rPr lang="en-US" sz="2600" dirty="0">
                <a:latin typeface="Times New Roman" panose="02020603050405020304" pitchFamily="18" charset="0"/>
                <a:cs typeface="Times New Roman" panose="02020603050405020304" pitchFamily="18" charset="0"/>
              </a:rPr>
              <a:t>PINSEL</a:t>
            </a:r>
            <a:r>
              <a:rPr lang="en-US" sz="2600" dirty="0" smtClean="0">
                <a:latin typeface="Times New Roman" panose="02020603050405020304" pitchFamily="18" charset="0"/>
                <a:cs typeface="Times New Roman" panose="02020603050405020304" pitchFamily="18" charset="0"/>
              </a:rPr>
              <a:t> 2 is a special case, and is used to control whether pins P1.16..31 are used as GPIO pins, or as a Debug port in combination with a hardware JTAG debugger</a:t>
            </a:r>
            <a:endParaRPr lang="en-US" sz="2600" dirty="0">
              <a:latin typeface="Times New Roman" panose="02020603050405020304" pitchFamily="18" charset="0"/>
              <a:cs typeface="Times New Roman" panose="02020603050405020304" pitchFamily="18" charset="0"/>
            </a:endParaRPr>
          </a:p>
        </p:txBody>
      </p:sp>
      <p:pic>
        <p:nvPicPr>
          <p:cNvPr id="39938" name="Picture 2"/>
          <p:cNvPicPr>
            <a:picLocks noChangeAspect="1" noChangeArrowheads="1"/>
          </p:cNvPicPr>
          <p:nvPr/>
        </p:nvPicPr>
        <p:blipFill>
          <a:blip r:embed="rId2" cstate="print"/>
          <a:srcRect/>
          <a:stretch>
            <a:fillRect/>
          </a:stretch>
        </p:blipFill>
        <p:spPr bwMode="auto">
          <a:xfrm>
            <a:off x="32657" y="2751109"/>
            <a:ext cx="9104086" cy="2538639"/>
          </a:xfrm>
          <a:prstGeom prst="rect">
            <a:avLst/>
          </a:prstGeom>
          <a:noFill/>
          <a:ln w="9525">
            <a:noFill/>
            <a:miter lim="800000"/>
            <a:headEnd/>
            <a:tailEnd/>
          </a:ln>
          <a:effectLst/>
        </p:spPr>
      </p:pic>
      <p:sp>
        <p:nvSpPr>
          <p:cNvPr id="2" name="Rectangle 1"/>
          <p:cNvSpPr/>
          <p:nvPr/>
        </p:nvSpPr>
        <p:spPr>
          <a:xfrm>
            <a:off x="533400" y="118775"/>
            <a:ext cx="2438400" cy="707886"/>
          </a:xfrm>
          <a:prstGeom prst="rect">
            <a:avLst/>
          </a:prstGeom>
          <a:solidFill>
            <a:schemeClr val="bg1"/>
          </a:solidFill>
        </p:spPr>
        <p:txBody>
          <a:bodyPr wrap="square">
            <a:spAutoFit/>
          </a:bodyPr>
          <a:lstStyle/>
          <a:p>
            <a:r>
              <a:rPr lang="en-US" sz="4000" b="1" dirty="0" smtClean="0">
                <a:latin typeface="Times New Roman" panose="02020603050405020304" pitchFamily="18" charset="0"/>
                <a:cs typeface="Times New Roman" panose="02020603050405020304" pitchFamily="18" charset="0"/>
              </a:rPr>
              <a:t>PINSEL2</a:t>
            </a:r>
            <a:endParaRPr lang="en-US" sz="40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458200" cy="411162"/>
          </a:xfrm>
          <a:solidFill>
            <a:schemeClr val="bg1"/>
          </a:solidFill>
        </p:spPr>
        <p:txBody>
          <a:bodyPr>
            <a:normAutofit fontScale="90000"/>
          </a:bodyPr>
          <a:lstStyle/>
          <a:p>
            <a:pPr lvl="0"/>
            <a:r>
              <a:rPr lang="en-US" b="1" dirty="0" smtClean="0"/>
              <a:t/>
            </a:r>
            <a:br>
              <a:rPr lang="en-US" b="1" dirty="0" smtClean="0"/>
            </a:br>
            <a:r>
              <a:rPr lang="en-US" b="1" dirty="0" smtClean="0"/>
              <a:t>GPIO (General Purpose </a:t>
            </a:r>
            <a:r>
              <a:rPr lang="en-US" b="1" dirty="0" smtClean="0">
                <a:latin typeface="Times New Roman" panose="02020603050405020304" pitchFamily="18" charset="0"/>
                <a:cs typeface="Times New Roman" panose="02020603050405020304" pitchFamily="18" charset="0"/>
              </a:rPr>
              <a:t>Input</a:t>
            </a:r>
            <a:r>
              <a:rPr lang="en-US" b="1" dirty="0" smtClean="0"/>
              <a:t> Output) : </a:t>
            </a:r>
            <a:r>
              <a:rPr lang="en-US" sz="3200" dirty="0" smtClean="0"/>
              <a:t/>
            </a:r>
            <a:br>
              <a:rPr lang="en-US" sz="3200" dirty="0" smtClean="0"/>
            </a:br>
            <a:endParaRPr lang="en-US" dirty="0"/>
          </a:p>
        </p:txBody>
      </p:sp>
      <p:sp>
        <p:nvSpPr>
          <p:cNvPr id="3" name="Content Placeholder 2"/>
          <p:cNvSpPr>
            <a:spLocks noGrp="1"/>
          </p:cNvSpPr>
          <p:nvPr>
            <p:ph idx="1"/>
          </p:nvPr>
        </p:nvSpPr>
        <p:spPr>
          <a:xfrm>
            <a:off x="0" y="493866"/>
            <a:ext cx="9144000" cy="4380067"/>
          </a:xfrm>
          <a:solidFill>
            <a:schemeClr val="bg1"/>
          </a:solidFill>
        </p:spPr>
        <p:txBody>
          <a:bodyPr>
            <a:normAutofit fontScale="40000" lnSpcReduction="20000"/>
          </a:bodyPr>
          <a:lstStyle/>
          <a:p>
            <a:pPr marL="0" lvl="0" indent="0" hangingPunct="0">
              <a:buNone/>
            </a:pPr>
            <a:r>
              <a:rPr lang="en-US" sz="4500" b="1" dirty="0" smtClean="0">
                <a:latin typeface="Times New Roman" panose="02020603050405020304" pitchFamily="18" charset="0"/>
                <a:cs typeface="Times New Roman" panose="02020603050405020304" pitchFamily="18" charset="0"/>
              </a:rPr>
              <a:t>GPIO: </a:t>
            </a:r>
            <a:endParaRPr lang="en-US" sz="4500" dirty="0" smtClean="0">
              <a:latin typeface="Times New Roman" panose="02020603050405020304" pitchFamily="18" charset="0"/>
              <a:cs typeface="Times New Roman" panose="02020603050405020304" pitchFamily="18" charset="0"/>
            </a:endParaRPr>
          </a:p>
          <a:p>
            <a:pPr marL="298450" lvl="1" indent="-298450" hangingPunct="0">
              <a:buFont typeface="Wingdings" panose="05000000000000000000" pitchFamily="2" charset="2"/>
              <a:buChar char="Ø"/>
            </a:pPr>
            <a:r>
              <a:rPr lang="en-US" sz="4800" dirty="0" smtClean="0">
                <a:latin typeface="Times New Roman" panose="02020603050405020304" pitchFamily="18" charset="0"/>
                <a:cs typeface="Times New Roman" panose="02020603050405020304" pitchFamily="18" charset="0"/>
              </a:rPr>
              <a:t>Device pins that are not connected to a specific peripheral function are controlled by the GPIO registers. </a:t>
            </a:r>
          </a:p>
          <a:p>
            <a:pPr marL="298450" lvl="1" indent="-298450" hangingPunct="0">
              <a:buFont typeface="Wingdings" panose="05000000000000000000" pitchFamily="2" charset="2"/>
              <a:buChar char="Ø"/>
            </a:pPr>
            <a:r>
              <a:rPr lang="en-US" sz="4800" dirty="0" smtClean="0">
                <a:latin typeface="Times New Roman" panose="02020603050405020304" pitchFamily="18" charset="0"/>
                <a:cs typeface="Times New Roman" panose="02020603050405020304" pitchFamily="18" charset="0"/>
              </a:rPr>
              <a:t>Pins may be dynamically configured as inputs or outputs.  </a:t>
            </a:r>
          </a:p>
          <a:p>
            <a:pPr marL="298450" lvl="1" indent="-298450" hangingPunct="0">
              <a:buFont typeface="Wingdings" panose="05000000000000000000" pitchFamily="2" charset="2"/>
              <a:buChar char="Ø"/>
            </a:pPr>
            <a:r>
              <a:rPr lang="en-US" sz="4800" dirty="0" smtClean="0">
                <a:latin typeface="Times New Roman" panose="02020603050405020304" pitchFamily="18" charset="0"/>
                <a:cs typeface="Times New Roman" panose="02020603050405020304" pitchFamily="18" charset="0"/>
              </a:rPr>
              <a:t>Separate registers allow setting or clearing any number of outputs simultaneous </a:t>
            </a:r>
          </a:p>
          <a:p>
            <a:pPr marL="298450" lvl="1" indent="-298450" hangingPunct="0">
              <a:buFont typeface="Wingdings" panose="05000000000000000000" pitchFamily="2" charset="2"/>
              <a:buChar char="Ø"/>
            </a:pPr>
            <a:r>
              <a:rPr lang="en-US" sz="4800" dirty="0" smtClean="0">
                <a:latin typeface="Times New Roman" panose="02020603050405020304" pitchFamily="18" charset="0"/>
                <a:cs typeface="Times New Roman" panose="02020603050405020304" pitchFamily="18" charset="0"/>
              </a:rPr>
              <a:t>The value of the output register may be read back, as well as the current state of the port pins.  </a:t>
            </a:r>
          </a:p>
          <a:p>
            <a:pPr marL="298450" lvl="1" indent="-298450" hangingPunct="0">
              <a:buFont typeface="Wingdings" panose="05000000000000000000" pitchFamily="2" charset="2"/>
              <a:buChar char="Ø"/>
            </a:pPr>
            <a:r>
              <a:rPr lang="en-US" sz="4800" dirty="0" smtClean="0">
                <a:latin typeface="Times New Roman" panose="02020603050405020304" pitchFamily="18" charset="0"/>
                <a:cs typeface="Times New Roman" panose="02020603050405020304" pitchFamily="18" charset="0"/>
              </a:rPr>
              <a:t>LPC2141/42/44/46/48 introduce accelerated GPIO functions over prior LPC2000 devices  </a:t>
            </a:r>
          </a:p>
          <a:p>
            <a:pPr marL="298450" lvl="1" indent="-298450" hangingPunct="0">
              <a:buFont typeface="Wingdings" panose="05000000000000000000" pitchFamily="2" charset="2"/>
              <a:buChar char="Ø"/>
            </a:pPr>
            <a:r>
              <a:rPr lang="en-US" sz="4800" dirty="0" smtClean="0">
                <a:latin typeface="Times New Roman" panose="02020603050405020304" pitchFamily="18" charset="0"/>
                <a:cs typeface="Times New Roman" panose="02020603050405020304" pitchFamily="18" charset="0"/>
              </a:rPr>
              <a:t>Accelerated GPIO functions:  </a:t>
            </a:r>
          </a:p>
          <a:p>
            <a:pPr marL="623888" lvl="2" algn="just" hangingPunct="0"/>
            <a:r>
              <a:rPr lang="en-US" sz="4800" dirty="0" smtClean="0">
                <a:latin typeface="Times New Roman" panose="02020603050405020304" pitchFamily="18" charset="0"/>
                <a:cs typeface="Times New Roman" panose="02020603050405020304" pitchFamily="18" charset="0"/>
              </a:rPr>
              <a:t>GPIO registers are relocated to the ARM local bus so that the fastest possible I/O timing can be achieved </a:t>
            </a:r>
          </a:p>
          <a:p>
            <a:pPr marL="623888" lvl="2" algn="just" hangingPunct="0"/>
            <a:r>
              <a:rPr lang="en-US" sz="4800" dirty="0" smtClean="0">
                <a:latin typeface="Times New Roman" panose="02020603050405020304" pitchFamily="18" charset="0"/>
                <a:cs typeface="Times New Roman" panose="02020603050405020304" pitchFamily="18" charset="0"/>
              </a:rPr>
              <a:t>Mask registers allow treating sets of port bits as a group, leaving other bits unchanged </a:t>
            </a:r>
          </a:p>
          <a:p>
            <a:pPr marL="623888" lvl="2" algn="just" hangingPunct="0"/>
            <a:r>
              <a:rPr lang="en-US" sz="4800" dirty="0" smtClean="0">
                <a:latin typeface="Times New Roman" panose="02020603050405020304" pitchFamily="18" charset="0"/>
                <a:cs typeface="Times New Roman" panose="02020603050405020304" pitchFamily="18" charset="0"/>
              </a:rPr>
              <a:t>All registers are byte and half-word addressable </a:t>
            </a:r>
          </a:p>
          <a:p>
            <a:pPr marL="623888" lvl="2" algn="just" hangingPunct="0"/>
            <a:r>
              <a:rPr lang="en-US" sz="4800" dirty="0" smtClean="0">
                <a:latin typeface="Times New Roman" panose="02020603050405020304" pitchFamily="18" charset="0"/>
                <a:cs typeface="Times New Roman" panose="02020603050405020304" pitchFamily="18" charset="0"/>
              </a:rPr>
              <a:t>Entire port value can be written in one instruction </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376155380"/>
              </p:ext>
            </p:extLst>
          </p:nvPr>
        </p:nvGraphicFramePr>
        <p:xfrm>
          <a:off x="1524000" y="5325971"/>
          <a:ext cx="5867400" cy="1320646"/>
        </p:xfrm>
        <a:graphic>
          <a:graphicData uri="http://schemas.openxmlformats.org/drawingml/2006/table">
            <a:tbl>
              <a:tblPr/>
              <a:tblGrid>
                <a:gridCol w="70470">
                  <a:extLst>
                    <a:ext uri="{9D8B030D-6E8A-4147-A177-3AD203B41FA5}">
                      <a16:colId xmlns="" xmlns:a16="http://schemas.microsoft.com/office/drawing/2014/main" val="20000"/>
                    </a:ext>
                  </a:extLst>
                </a:gridCol>
                <a:gridCol w="1183888">
                  <a:extLst>
                    <a:ext uri="{9D8B030D-6E8A-4147-A177-3AD203B41FA5}">
                      <a16:colId xmlns="" xmlns:a16="http://schemas.microsoft.com/office/drawing/2014/main" val="20001"/>
                    </a:ext>
                  </a:extLst>
                </a:gridCol>
                <a:gridCol w="70470">
                  <a:extLst>
                    <a:ext uri="{9D8B030D-6E8A-4147-A177-3AD203B41FA5}">
                      <a16:colId xmlns="" xmlns:a16="http://schemas.microsoft.com/office/drawing/2014/main" val="20002"/>
                    </a:ext>
                  </a:extLst>
                </a:gridCol>
                <a:gridCol w="70470">
                  <a:extLst>
                    <a:ext uri="{9D8B030D-6E8A-4147-A177-3AD203B41FA5}">
                      <a16:colId xmlns="" xmlns:a16="http://schemas.microsoft.com/office/drawing/2014/main" val="20003"/>
                    </a:ext>
                  </a:extLst>
                </a:gridCol>
                <a:gridCol w="1254356">
                  <a:extLst>
                    <a:ext uri="{9D8B030D-6E8A-4147-A177-3AD203B41FA5}">
                      <a16:colId xmlns="" xmlns:a16="http://schemas.microsoft.com/office/drawing/2014/main" val="20004"/>
                    </a:ext>
                  </a:extLst>
                </a:gridCol>
                <a:gridCol w="70470">
                  <a:extLst>
                    <a:ext uri="{9D8B030D-6E8A-4147-A177-3AD203B41FA5}">
                      <a16:colId xmlns="" xmlns:a16="http://schemas.microsoft.com/office/drawing/2014/main" val="20005"/>
                    </a:ext>
                  </a:extLst>
                </a:gridCol>
                <a:gridCol w="70470">
                  <a:extLst>
                    <a:ext uri="{9D8B030D-6E8A-4147-A177-3AD203B41FA5}">
                      <a16:colId xmlns="" xmlns:a16="http://schemas.microsoft.com/office/drawing/2014/main" val="20006"/>
                    </a:ext>
                  </a:extLst>
                </a:gridCol>
                <a:gridCol w="2959718">
                  <a:extLst>
                    <a:ext uri="{9D8B030D-6E8A-4147-A177-3AD203B41FA5}">
                      <a16:colId xmlns="" xmlns:a16="http://schemas.microsoft.com/office/drawing/2014/main" val="20007"/>
                    </a:ext>
                  </a:extLst>
                </a:gridCol>
                <a:gridCol w="84563">
                  <a:extLst>
                    <a:ext uri="{9D8B030D-6E8A-4147-A177-3AD203B41FA5}">
                      <a16:colId xmlns="" xmlns:a16="http://schemas.microsoft.com/office/drawing/2014/main" val="20008"/>
                    </a:ext>
                  </a:extLst>
                </a:gridCol>
                <a:gridCol w="32525">
                  <a:extLst>
                    <a:ext uri="{9D8B030D-6E8A-4147-A177-3AD203B41FA5}">
                      <a16:colId xmlns="" xmlns:a16="http://schemas.microsoft.com/office/drawing/2014/main" val="20009"/>
                    </a:ext>
                  </a:extLst>
                </a:gridCol>
              </a:tblGrid>
              <a:tr h="61059">
                <a:tc>
                  <a:txBody>
                    <a:bodyPr/>
                    <a:lstStyle/>
                    <a:p>
                      <a:pPr marL="0" marR="0">
                        <a:lnSpc>
                          <a:spcPct val="115000"/>
                        </a:lnSpc>
                        <a:spcBef>
                          <a:spcPts val="0"/>
                        </a:spcBef>
                        <a:spcAft>
                          <a:spcPts val="0"/>
                        </a:spcAft>
                      </a:pPr>
                      <a:endParaRPr lang="en-US" sz="250" dirty="0">
                        <a:latin typeface="Times New Roman"/>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solidFill>
                      <a:srgbClr val="4F81BD"/>
                    </a:solidFill>
                  </a:tcPr>
                </a:tc>
                <a:tc rowSpan="2">
                  <a:txBody>
                    <a:bodyPr/>
                    <a:lstStyle/>
                    <a:p>
                      <a:pPr marL="406400" marR="0">
                        <a:lnSpc>
                          <a:spcPct val="115000"/>
                        </a:lnSpc>
                        <a:spcBef>
                          <a:spcPts val="0"/>
                        </a:spcBef>
                        <a:spcAft>
                          <a:spcPts val="0"/>
                        </a:spcAft>
                      </a:pPr>
                      <a:r>
                        <a:rPr lang="en-US" sz="1400" b="1">
                          <a:solidFill>
                            <a:srgbClr val="FFFFFF"/>
                          </a:solidFill>
                          <a:latin typeface="Times New Roman"/>
                          <a:ea typeface="Times New Roman"/>
                          <a:cs typeface="Times New Roman"/>
                        </a:rPr>
                        <a:t>Pin</a:t>
                      </a:r>
                      <a:endParaRPr lang="en-US" sz="1100">
                        <a:latin typeface="Calibri"/>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F81BD"/>
                    </a:solidFill>
                  </a:tcPr>
                </a:tc>
                <a:tc>
                  <a:txBody>
                    <a:bodyPr/>
                    <a:lstStyle/>
                    <a:p>
                      <a:pPr marL="0" marR="0">
                        <a:lnSpc>
                          <a:spcPct val="115000"/>
                        </a:lnSpc>
                        <a:spcBef>
                          <a:spcPts val="0"/>
                        </a:spcBef>
                        <a:spcAft>
                          <a:spcPts val="0"/>
                        </a:spcAft>
                      </a:pPr>
                      <a:endParaRPr lang="en-US" sz="250">
                        <a:latin typeface="Times New Roman"/>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solidFill>
                      <a:srgbClr val="4F81BD"/>
                    </a:solidFill>
                  </a:tcPr>
                </a:tc>
                <a:tc>
                  <a:txBody>
                    <a:bodyPr/>
                    <a:lstStyle/>
                    <a:p>
                      <a:pPr marL="0" marR="0">
                        <a:lnSpc>
                          <a:spcPct val="115000"/>
                        </a:lnSpc>
                        <a:spcBef>
                          <a:spcPts val="0"/>
                        </a:spcBef>
                        <a:spcAft>
                          <a:spcPts val="0"/>
                        </a:spcAft>
                      </a:pPr>
                      <a:endParaRPr lang="en-US" sz="250">
                        <a:latin typeface="Times New Roman"/>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solidFill>
                      <a:srgbClr val="4F81BD"/>
                    </a:solidFill>
                  </a:tcPr>
                </a:tc>
                <a:tc rowSpan="2">
                  <a:txBody>
                    <a:bodyPr/>
                    <a:lstStyle/>
                    <a:p>
                      <a:pPr marL="0" marR="0" algn="ctr">
                        <a:lnSpc>
                          <a:spcPct val="115000"/>
                        </a:lnSpc>
                        <a:spcBef>
                          <a:spcPts val="0"/>
                        </a:spcBef>
                        <a:spcAft>
                          <a:spcPts val="0"/>
                        </a:spcAft>
                      </a:pPr>
                      <a:r>
                        <a:rPr lang="en-US" sz="1400" b="1" dirty="0">
                          <a:solidFill>
                            <a:srgbClr val="FFFFFF"/>
                          </a:solidFill>
                          <a:latin typeface="Times New Roman"/>
                          <a:ea typeface="Times New Roman"/>
                          <a:cs typeface="Times New Roman"/>
                        </a:rPr>
                        <a:t>Type</a:t>
                      </a:r>
                      <a:endParaRPr lang="en-US" sz="1100" dirty="0">
                        <a:latin typeface="Calibri"/>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F81BD"/>
                    </a:solidFill>
                  </a:tcPr>
                </a:tc>
                <a:tc>
                  <a:txBody>
                    <a:bodyPr/>
                    <a:lstStyle/>
                    <a:p>
                      <a:pPr marL="0" marR="0">
                        <a:lnSpc>
                          <a:spcPct val="115000"/>
                        </a:lnSpc>
                        <a:spcBef>
                          <a:spcPts val="0"/>
                        </a:spcBef>
                        <a:spcAft>
                          <a:spcPts val="0"/>
                        </a:spcAft>
                      </a:pPr>
                      <a:endParaRPr lang="en-US" sz="250">
                        <a:latin typeface="Times New Roman"/>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solidFill>
                      <a:srgbClr val="4F81BD"/>
                    </a:solidFill>
                  </a:tcPr>
                </a:tc>
                <a:tc>
                  <a:txBody>
                    <a:bodyPr/>
                    <a:lstStyle/>
                    <a:p>
                      <a:pPr marL="0" marR="0">
                        <a:lnSpc>
                          <a:spcPct val="115000"/>
                        </a:lnSpc>
                        <a:spcBef>
                          <a:spcPts val="0"/>
                        </a:spcBef>
                        <a:spcAft>
                          <a:spcPts val="0"/>
                        </a:spcAft>
                      </a:pPr>
                      <a:endParaRPr lang="en-US" sz="250">
                        <a:latin typeface="Times New Roman"/>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solidFill>
                      <a:srgbClr val="4F81BD"/>
                    </a:solidFill>
                  </a:tcPr>
                </a:tc>
                <a:tc rowSpan="2">
                  <a:txBody>
                    <a:bodyPr/>
                    <a:lstStyle/>
                    <a:p>
                      <a:pPr marL="901700" marR="0">
                        <a:lnSpc>
                          <a:spcPct val="115000"/>
                        </a:lnSpc>
                        <a:spcBef>
                          <a:spcPts val="0"/>
                        </a:spcBef>
                        <a:spcAft>
                          <a:spcPts val="0"/>
                        </a:spcAft>
                      </a:pPr>
                      <a:r>
                        <a:rPr lang="en-US" sz="1400" b="1" dirty="0">
                          <a:solidFill>
                            <a:srgbClr val="FFFFFF"/>
                          </a:solidFill>
                          <a:latin typeface="Times New Roman"/>
                          <a:ea typeface="Times New Roman"/>
                          <a:cs typeface="Times New Roman"/>
                        </a:rPr>
                        <a:t>Description</a:t>
                      </a:r>
                      <a:endParaRPr lang="en-US" sz="1100" dirty="0">
                        <a:latin typeface="Calibri"/>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F81BD"/>
                    </a:solidFill>
                  </a:tcPr>
                </a:tc>
                <a:tc>
                  <a:txBody>
                    <a:bodyPr/>
                    <a:lstStyle/>
                    <a:p>
                      <a:pPr marL="0" marR="0">
                        <a:lnSpc>
                          <a:spcPct val="115000"/>
                        </a:lnSpc>
                        <a:spcBef>
                          <a:spcPts val="0"/>
                        </a:spcBef>
                        <a:spcAft>
                          <a:spcPts val="0"/>
                        </a:spcAft>
                      </a:pPr>
                      <a:endParaRPr lang="en-US" sz="250">
                        <a:latin typeface="Times New Roman"/>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solidFill>
                      <a:srgbClr val="4F81BD"/>
                    </a:solidFill>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00"/>
                  </a:ext>
                </a:extLst>
              </a:tr>
              <a:tr h="307065">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solidFill>
                      <a:srgbClr val="4F81BD"/>
                    </a:solidFill>
                  </a:tcPr>
                </a:tc>
                <a:tc vMerge="1">
                  <a:txBody>
                    <a:bodyPr/>
                    <a:lstStyle/>
                    <a:p>
                      <a:endParaRPr lang="en-US"/>
                    </a:p>
                  </a:txBody>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solidFill>
                      <a:srgbClr val="4F81BD"/>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solidFill>
                      <a:srgbClr val="4F81BD"/>
                    </a:solidFill>
                  </a:tcPr>
                </a:tc>
                <a:tc vMerge="1">
                  <a:txBody>
                    <a:bodyPr/>
                    <a:lstStyle/>
                    <a:p>
                      <a:endParaRPr lang="en-US"/>
                    </a:p>
                  </a:txBody>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solidFill>
                      <a:srgbClr val="4F81BD"/>
                    </a:solidFill>
                  </a:tcPr>
                </a:tc>
                <a:tc>
                  <a:txBody>
                    <a:bodyPr/>
                    <a:lstStyle/>
                    <a:p>
                      <a:pPr marL="0" marR="0">
                        <a:lnSpc>
                          <a:spcPct val="115000"/>
                        </a:lnSpc>
                        <a:spcBef>
                          <a:spcPts val="0"/>
                        </a:spcBef>
                        <a:spcAft>
                          <a:spcPts val="0"/>
                        </a:spcAft>
                      </a:pPr>
                      <a:endParaRPr lang="en-US" sz="1200" dirty="0">
                        <a:latin typeface="Times New Roman"/>
                        <a:ea typeface="Times New Roman"/>
                        <a:cs typeface="Times New Roman"/>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solidFill>
                      <a:srgbClr val="4F81BD"/>
                    </a:solidFill>
                  </a:tcPr>
                </a:tc>
                <a:tc vMerge="1">
                  <a:txBody>
                    <a:bodyPr/>
                    <a:lstStyle/>
                    <a:p>
                      <a:endParaRPr lang="en-US"/>
                    </a:p>
                  </a:txBody>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a:noFill/>
                    </a:lnR>
                    <a:lnT>
                      <a:noFill/>
                    </a:lnT>
                    <a:lnB w="12700" cap="flat" cmpd="sng" algn="ctr">
                      <a:solidFill>
                        <a:srgbClr val="000000"/>
                      </a:solidFill>
                      <a:prstDash val="solid"/>
                      <a:round/>
                      <a:headEnd type="none" w="med" len="med"/>
                      <a:tailEnd type="none" w="med" len="med"/>
                    </a:lnB>
                    <a:solidFill>
                      <a:srgbClr val="4F81BD"/>
                    </a:solidFill>
                  </a:tcPr>
                </a:tc>
                <a:tc>
                  <a:txBody>
                    <a:bodyPr/>
                    <a:lstStyle/>
                    <a:p>
                      <a:pPr marL="0" marR="0">
                        <a:lnSpc>
                          <a:spcPct val="115000"/>
                        </a:lnSpc>
                        <a:spcBef>
                          <a:spcPts val="0"/>
                        </a:spcBef>
                        <a:spcAft>
                          <a:spcPts val="0"/>
                        </a:spcAft>
                      </a:pPr>
                      <a:endParaRPr lang="en-US" sz="100" dirty="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01"/>
                  </a:ext>
                </a:extLst>
              </a:tr>
              <a:tr h="293084">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solidFill>
                      <a:srgbClr val="4F81BD"/>
                    </a:solidFill>
                  </a:tcPr>
                </a:tc>
                <a:tc>
                  <a:txBody>
                    <a:bodyPr/>
                    <a:lstStyle/>
                    <a:p>
                      <a:pPr marL="0" marR="0" algn="ctr">
                        <a:lnSpc>
                          <a:spcPts val="1495"/>
                        </a:lnSpc>
                        <a:spcBef>
                          <a:spcPts val="0"/>
                        </a:spcBef>
                        <a:spcAft>
                          <a:spcPts val="0"/>
                        </a:spcAft>
                      </a:pPr>
                      <a:r>
                        <a:rPr lang="en-US" sz="1400" b="1">
                          <a:solidFill>
                            <a:srgbClr val="FFFFFF"/>
                          </a:solidFill>
                          <a:latin typeface="Times New Roman"/>
                          <a:ea typeface="Times New Roman"/>
                          <a:cs typeface="Times New Roman"/>
                        </a:rPr>
                        <a:t>P0.0-P.31</a:t>
                      </a:r>
                      <a:endParaRPr lang="en-US" sz="1100">
                        <a:latin typeface="Calibri"/>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solidFill>
                      <a:srgbClr val="4F81BD"/>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solidFill>
                      <a:srgbClr val="4F81BD"/>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solidFill>
                      <a:srgbClr val="D8D8D8"/>
                    </a:solidFill>
                  </a:tcPr>
                </a:tc>
                <a:tc>
                  <a:txBody>
                    <a:bodyPr/>
                    <a:lstStyle/>
                    <a:p>
                      <a:pPr marL="0" marR="0" algn="ctr">
                        <a:lnSpc>
                          <a:spcPts val="1470"/>
                        </a:lnSpc>
                        <a:spcBef>
                          <a:spcPts val="0"/>
                        </a:spcBef>
                        <a:spcAft>
                          <a:spcPts val="0"/>
                        </a:spcAft>
                      </a:pPr>
                      <a:r>
                        <a:rPr lang="en-US" sz="1400">
                          <a:latin typeface="Times New Roman"/>
                          <a:ea typeface="Times New Roman"/>
                          <a:cs typeface="Times New Roman"/>
                        </a:rPr>
                        <a:t>Input/</a:t>
                      </a:r>
                      <a:endParaRPr lang="en-US" sz="1100">
                        <a:latin typeface="Calibri"/>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solidFill>
                      <a:srgbClr val="D8D8D8"/>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solidFill>
                      <a:srgbClr val="D8D8D8"/>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nSpc>
                          <a:spcPts val="1470"/>
                        </a:lnSpc>
                        <a:spcBef>
                          <a:spcPts val="0"/>
                        </a:spcBef>
                        <a:spcAft>
                          <a:spcPts val="0"/>
                        </a:spcAft>
                      </a:pPr>
                      <a:r>
                        <a:rPr lang="en-US" sz="1400" dirty="0">
                          <a:latin typeface="Times New Roman"/>
                          <a:ea typeface="Times New Roman"/>
                          <a:cs typeface="Times New Roman"/>
                        </a:rPr>
                        <a:t>General purpose input/output. The</a:t>
                      </a:r>
                      <a:endParaRPr lang="en-US" sz="1100" dirty="0">
                        <a:latin typeface="Calibri"/>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solidFill>
                      <a:srgbClr val="D8D8D8"/>
                    </a:solidFill>
                  </a:tcPr>
                </a:tc>
                <a:tc>
                  <a:txBody>
                    <a:bodyPr/>
                    <a:lstStyle/>
                    <a:p>
                      <a:pPr marL="0" marR="0">
                        <a:lnSpc>
                          <a:spcPct val="115000"/>
                        </a:lnSpc>
                        <a:spcBef>
                          <a:spcPts val="0"/>
                        </a:spcBef>
                        <a:spcAft>
                          <a:spcPts val="0"/>
                        </a:spcAft>
                      </a:pPr>
                      <a:endParaRPr lang="en-US" sz="1200">
                        <a:latin typeface="Times New Roman"/>
                        <a:ea typeface="Times New Roman"/>
                        <a:cs typeface="Times New Roman"/>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nSpc>
                          <a:spcPct val="115000"/>
                        </a:lnSpc>
                        <a:spcBef>
                          <a:spcPts val="0"/>
                        </a:spcBef>
                        <a:spcAft>
                          <a:spcPts val="0"/>
                        </a:spcAft>
                      </a:pPr>
                      <a:endParaRPr lang="en-US" sz="100" dirty="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02"/>
                  </a:ext>
                </a:extLst>
              </a:tr>
              <a:tr h="122118">
                <a:tc>
                  <a:txBody>
                    <a:bodyPr/>
                    <a:lstStyle/>
                    <a:p>
                      <a:pPr marL="0" marR="0">
                        <a:lnSpc>
                          <a:spcPct val="115000"/>
                        </a:lnSpc>
                        <a:spcBef>
                          <a:spcPts val="0"/>
                        </a:spcBef>
                        <a:spcAft>
                          <a:spcPts val="0"/>
                        </a:spcAft>
                      </a:pPr>
                      <a:endParaRPr lang="en-US" sz="500">
                        <a:latin typeface="Times New Roman"/>
                        <a:ea typeface="Times New Roman"/>
                        <a:cs typeface="Times New Roman"/>
                      </a:endParaRPr>
                    </a:p>
                  </a:txBody>
                  <a:tcPr marL="0" marR="0" marT="0" marB="0" anchor="b">
                    <a:lnL>
                      <a:noFill/>
                    </a:lnL>
                    <a:lnR>
                      <a:noFill/>
                    </a:lnR>
                    <a:lnT>
                      <a:noFill/>
                    </a:lnT>
                    <a:lnB>
                      <a:noFill/>
                    </a:lnB>
                    <a:solidFill>
                      <a:srgbClr val="4F81BD"/>
                    </a:solidFill>
                  </a:tcPr>
                </a:tc>
                <a:tc>
                  <a:txBody>
                    <a:bodyPr/>
                    <a:lstStyle/>
                    <a:p>
                      <a:pPr marL="0" marR="0">
                        <a:lnSpc>
                          <a:spcPct val="115000"/>
                        </a:lnSpc>
                        <a:spcBef>
                          <a:spcPts val="0"/>
                        </a:spcBef>
                        <a:spcAft>
                          <a:spcPts val="0"/>
                        </a:spcAft>
                      </a:pPr>
                      <a:endParaRPr lang="en-US" sz="500">
                        <a:latin typeface="Times New Roman"/>
                        <a:ea typeface="Times New Roman"/>
                        <a:cs typeface="Times New Roman"/>
                      </a:endParaRPr>
                    </a:p>
                  </a:txBody>
                  <a:tcPr marL="0" marR="0" marT="0" marB="0" anchor="b">
                    <a:lnL>
                      <a:noFill/>
                    </a:lnL>
                    <a:lnR>
                      <a:noFill/>
                    </a:lnR>
                    <a:lnT>
                      <a:noFill/>
                    </a:lnT>
                    <a:lnB>
                      <a:noFill/>
                    </a:lnB>
                    <a:solidFill>
                      <a:srgbClr val="4F81BD"/>
                    </a:solidFill>
                  </a:tcPr>
                </a:tc>
                <a:tc>
                  <a:txBody>
                    <a:bodyPr/>
                    <a:lstStyle/>
                    <a:p>
                      <a:pPr marL="0" marR="0">
                        <a:lnSpc>
                          <a:spcPct val="115000"/>
                        </a:lnSpc>
                        <a:spcBef>
                          <a:spcPts val="0"/>
                        </a:spcBef>
                        <a:spcAft>
                          <a:spcPts val="0"/>
                        </a:spcAft>
                      </a:pPr>
                      <a:endParaRPr lang="en-US" sz="500">
                        <a:latin typeface="Times New Roman"/>
                        <a:ea typeface="Times New Roman"/>
                        <a:cs typeface="Times New Roman"/>
                      </a:endParaRPr>
                    </a:p>
                  </a:txBody>
                  <a:tcPr marL="0" marR="0" marT="0" marB="0" anchor="b">
                    <a:lnL>
                      <a:noFill/>
                    </a:lnL>
                    <a:lnR>
                      <a:noFill/>
                    </a:lnR>
                    <a:lnT>
                      <a:noFill/>
                    </a:lnT>
                    <a:lnB>
                      <a:noFill/>
                    </a:lnB>
                    <a:solidFill>
                      <a:srgbClr val="4F81BD"/>
                    </a:solidFill>
                  </a:tcPr>
                </a:tc>
                <a:tc>
                  <a:txBody>
                    <a:bodyPr/>
                    <a:lstStyle/>
                    <a:p>
                      <a:pPr marL="0" marR="0">
                        <a:lnSpc>
                          <a:spcPct val="115000"/>
                        </a:lnSpc>
                        <a:spcBef>
                          <a:spcPts val="0"/>
                        </a:spcBef>
                        <a:spcAft>
                          <a:spcPts val="0"/>
                        </a:spcAft>
                      </a:pPr>
                      <a:endParaRPr lang="en-US" sz="500">
                        <a:latin typeface="Times New Roman"/>
                        <a:ea typeface="Times New Roman"/>
                        <a:cs typeface="Times New Roman"/>
                      </a:endParaRPr>
                    </a:p>
                  </a:txBody>
                  <a:tcPr marL="0" marR="0" marT="0" marB="0" anchor="b">
                    <a:lnL>
                      <a:noFill/>
                    </a:lnL>
                    <a:lnR>
                      <a:noFill/>
                    </a:lnR>
                    <a:lnT>
                      <a:noFill/>
                    </a:lnT>
                    <a:lnB>
                      <a:noFill/>
                    </a:lnB>
                    <a:solidFill>
                      <a:srgbClr val="D8D8D8"/>
                    </a:solidFill>
                  </a:tcPr>
                </a:tc>
                <a:tc rowSpan="2">
                  <a:txBody>
                    <a:bodyPr/>
                    <a:lstStyle/>
                    <a:p>
                      <a:pPr marL="0" marR="0" algn="ctr">
                        <a:lnSpc>
                          <a:spcPts val="1570"/>
                        </a:lnSpc>
                        <a:spcBef>
                          <a:spcPts val="0"/>
                        </a:spcBef>
                        <a:spcAft>
                          <a:spcPts val="0"/>
                        </a:spcAft>
                      </a:pPr>
                      <a:r>
                        <a:rPr lang="en-US" sz="1400" dirty="0">
                          <a:latin typeface="Times New Roman"/>
                          <a:ea typeface="Times New Roman"/>
                          <a:cs typeface="Times New Roman"/>
                        </a:rPr>
                        <a:t>Output</a:t>
                      </a:r>
                      <a:endParaRPr lang="en-US" sz="1100" dirty="0">
                        <a:latin typeface="Calibri"/>
                        <a:ea typeface="Times New Roman"/>
                        <a:cs typeface="Times New Roman"/>
                      </a:endParaRPr>
                    </a:p>
                  </a:txBody>
                  <a:tcPr marL="0" marR="0" marT="0" marB="0" anchor="b">
                    <a:lnL>
                      <a:noFill/>
                    </a:lnL>
                    <a:lnR>
                      <a:noFill/>
                    </a:lnR>
                    <a:lnT>
                      <a:noFill/>
                    </a:lnT>
                    <a:lnB>
                      <a:noFill/>
                    </a:lnB>
                    <a:solidFill>
                      <a:srgbClr val="D8D8D8"/>
                    </a:solidFill>
                  </a:tcPr>
                </a:tc>
                <a:tc>
                  <a:txBody>
                    <a:bodyPr/>
                    <a:lstStyle/>
                    <a:p>
                      <a:pPr marL="0" marR="0">
                        <a:lnSpc>
                          <a:spcPct val="115000"/>
                        </a:lnSpc>
                        <a:spcBef>
                          <a:spcPts val="0"/>
                        </a:spcBef>
                        <a:spcAft>
                          <a:spcPts val="0"/>
                        </a:spcAft>
                      </a:pPr>
                      <a:endParaRPr lang="en-US" sz="500">
                        <a:latin typeface="Times New Roman"/>
                        <a:ea typeface="Times New Roman"/>
                        <a:cs typeface="Times New Roman"/>
                      </a:endParaRPr>
                    </a:p>
                  </a:txBody>
                  <a:tcPr marL="0" marR="0" marT="0" marB="0" anchor="b">
                    <a:lnL>
                      <a:noFill/>
                    </a:lnL>
                    <a:lnR>
                      <a:noFill/>
                    </a:lnR>
                    <a:lnT>
                      <a:noFill/>
                    </a:lnT>
                    <a:lnB>
                      <a:noFill/>
                    </a:lnB>
                    <a:solidFill>
                      <a:srgbClr val="D8D8D8"/>
                    </a:solidFill>
                  </a:tcPr>
                </a:tc>
                <a:tc>
                  <a:txBody>
                    <a:bodyPr/>
                    <a:lstStyle/>
                    <a:p>
                      <a:pPr marL="0" marR="0">
                        <a:lnSpc>
                          <a:spcPct val="115000"/>
                        </a:lnSpc>
                        <a:spcBef>
                          <a:spcPts val="0"/>
                        </a:spcBef>
                        <a:spcAft>
                          <a:spcPts val="0"/>
                        </a:spcAft>
                      </a:pPr>
                      <a:endParaRPr lang="en-US" sz="500" dirty="0">
                        <a:latin typeface="Times New Roman"/>
                        <a:ea typeface="Times New Roman"/>
                        <a:cs typeface="Times New Roman"/>
                      </a:endParaRPr>
                    </a:p>
                  </a:txBody>
                  <a:tcPr marL="0" marR="0" marT="0" marB="0" anchor="b">
                    <a:lnL>
                      <a:noFill/>
                    </a:lnL>
                    <a:lnR>
                      <a:noFill/>
                    </a:lnR>
                    <a:lnT>
                      <a:noFill/>
                    </a:lnT>
                    <a:lnB>
                      <a:noFill/>
                    </a:lnB>
                  </a:tcPr>
                </a:tc>
                <a:tc rowSpan="2">
                  <a:txBody>
                    <a:bodyPr/>
                    <a:lstStyle/>
                    <a:p>
                      <a:pPr marL="0" marR="0">
                        <a:lnSpc>
                          <a:spcPts val="1570"/>
                        </a:lnSpc>
                        <a:spcBef>
                          <a:spcPts val="0"/>
                        </a:spcBef>
                        <a:spcAft>
                          <a:spcPts val="0"/>
                        </a:spcAft>
                      </a:pPr>
                      <a:r>
                        <a:rPr lang="en-US" sz="1400" dirty="0">
                          <a:latin typeface="Times New Roman"/>
                          <a:ea typeface="Times New Roman"/>
                          <a:cs typeface="Times New Roman"/>
                        </a:rPr>
                        <a:t>number of GPIOs actually available</a:t>
                      </a:r>
                      <a:endParaRPr lang="en-US" sz="1100" dirty="0">
                        <a:latin typeface="Calibri"/>
                        <a:ea typeface="Times New Roman"/>
                        <a:cs typeface="Times New Roman"/>
                      </a:endParaRPr>
                    </a:p>
                  </a:txBody>
                  <a:tcPr marL="0" marR="0" marT="0" marB="0" anchor="b">
                    <a:lnL>
                      <a:noFill/>
                    </a:lnL>
                    <a:lnR>
                      <a:noFill/>
                    </a:lnR>
                    <a:lnT>
                      <a:noFill/>
                    </a:lnT>
                    <a:lnB>
                      <a:noFill/>
                    </a:lnB>
                    <a:solidFill>
                      <a:srgbClr val="D8D8D8"/>
                    </a:solidFill>
                  </a:tcPr>
                </a:tc>
                <a:tc>
                  <a:txBody>
                    <a:bodyPr/>
                    <a:lstStyle/>
                    <a:p>
                      <a:pPr marL="0" marR="0">
                        <a:lnSpc>
                          <a:spcPct val="115000"/>
                        </a:lnSpc>
                        <a:spcBef>
                          <a:spcPts val="0"/>
                        </a:spcBef>
                        <a:spcAft>
                          <a:spcPts val="0"/>
                        </a:spcAft>
                      </a:pPr>
                      <a:endParaRPr lang="en-US" sz="500">
                        <a:latin typeface="Times New Roman"/>
                        <a:ea typeface="Times New Roman"/>
                        <a:cs typeface="Times New Roman"/>
                      </a:endParaRPr>
                    </a:p>
                  </a:txBody>
                  <a:tcPr marL="0" marR="0" marT="0" marB="0" anchor="b">
                    <a:lnL>
                      <a:noFill/>
                    </a:lnL>
                    <a:lnR>
                      <a:noFill/>
                    </a:lnR>
                    <a:lnT>
                      <a:noFill/>
                    </a:lnT>
                    <a:lnB>
                      <a:noFill/>
                    </a:lnB>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03"/>
                  </a:ext>
                </a:extLst>
              </a:tr>
              <a:tr h="207601">
                <a:tc>
                  <a:txBody>
                    <a:bodyPr/>
                    <a:lstStyle/>
                    <a:p>
                      <a:pPr marL="0" marR="0">
                        <a:lnSpc>
                          <a:spcPct val="115000"/>
                        </a:lnSpc>
                        <a:spcBef>
                          <a:spcPts val="0"/>
                        </a:spcBef>
                        <a:spcAft>
                          <a:spcPts val="0"/>
                        </a:spcAft>
                      </a:pPr>
                      <a:endParaRPr lang="en-US" sz="850">
                        <a:latin typeface="Times New Roman"/>
                        <a:ea typeface="Times New Roman"/>
                        <a:cs typeface="Times New Roman"/>
                      </a:endParaRPr>
                    </a:p>
                  </a:txBody>
                  <a:tcPr marL="0" marR="0" marT="0" marB="0" anchor="b">
                    <a:lnL>
                      <a:noFill/>
                    </a:lnL>
                    <a:lnR>
                      <a:noFill/>
                    </a:lnR>
                    <a:lnT>
                      <a:noFill/>
                    </a:lnT>
                    <a:lnB>
                      <a:noFill/>
                    </a:lnB>
                    <a:solidFill>
                      <a:srgbClr val="4F81BD"/>
                    </a:solidFill>
                  </a:tcPr>
                </a:tc>
                <a:tc rowSpan="2">
                  <a:txBody>
                    <a:bodyPr/>
                    <a:lstStyle/>
                    <a:p>
                      <a:pPr marL="0" marR="0" algn="ctr">
                        <a:lnSpc>
                          <a:spcPts val="1590"/>
                        </a:lnSpc>
                        <a:spcBef>
                          <a:spcPts val="0"/>
                        </a:spcBef>
                        <a:spcAft>
                          <a:spcPts val="0"/>
                        </a:spcAft>
                      </a:pPr>
                      <a:r>
                        <a:rPr lang="en-US" sz="1400" b="1">
                          <a:solidFill>
                            <a:srgbClr val="FFFFFF"/>
                          </a:solidFill>
                          <a:latin typeface="Times New Roman"/>
                          <a:ea typeface="Times New Roman"/>
                          <a:cs typeface="Times New Roman"/>
                        </a:rPr>
                        <a:t>P1.16-P1.31</a:t>
                      </a:r>
                      <a:endParaRPr lang="en-US" sz="1100">
                        <a:latin typeface="Calibri"/>
                        <a:ea typeface="Times New Roman"/>
                        <a:cs typeface="Times New Roman"/>
                      </a:endParaRPr>
                    </a:p>
                  </a:txBody>
                  <a:tcPr marL="0" marR="0" marT="0" marB="0" anchor="b">
                    <a:lnL>
                      <a:noFill/>
                    </a:lnL>
                    <a:lnR>
                      <a:noFill/>
                    </a:lnR>
                    <a:lnT>
                      <a:noFill/>
                    </a:lnT>
                    <a:lnB>
                      <a:noFill/>
                    </a:lnB>
                    <a:solidFill>
                      <a:srgbClr val="4F81BD"/>
                    </a:solidFill>
                  </a:tcPr>
                </a:tc>
                <a:tc>
                  <a:txBody>
                    <a:bodyPr/>
                    <a:lstStyle/>
                    <a:p>
                      <a:pPr marL="0" marR="0">
                        <a:lnSpc>
                          <a:spcPct val="115000"/>
                        </a:lnSpc>
                        <a:spcBef>
                          <a:spcPts val="0"/>
                        </a:spcBef>
                        <a:spcAft>
                          <a:spcPts val="0"/>
                        </a:spcAft>
                      </a:pPr>
                      <a:endParaRPr lang="en-US" sz="850">
                        <a:latin typeface="Times New Roman"/>
                        <a:ea typeface="Times New Roman"/>
                        <a:cs typeface="Times New Roman"/>
                      </a:endParaRPr>
                    </a:p>
                  </a:txBody>
                  <a:tcPr marL="0" marR="0" marT="0" marB="0" anchor="b">
                    <a:lnL>
                      <a:noFill/>
                    </a:lnL>
                    <a:lnR>
                      <a:noFill/>
                    </a:lnR>
                    <a:lnT>
                      <a:noFill/>
                    </a:lnT>
                    <a:lnB>
                      <a:noFill/>
                    </a:lnB>
                    <a:solidFill>
                      <a:srgbClr val="4F81BD"/>
                    </a:solidFill>
                  </a:tcPr>
                </a:tc>
                <a:tc>
                  <a:txBody>
                    <a:bodyPr/>
                    <a:lstStyle/>
                    <a:p>
                      <a:pPr marL="0" marR="0">
                        <a:lnSpc>
                          <a:spcPct val="115000"/>
                        </a:lnSpc>
                        <a:spcBef>
                          <a:spcPts val="0"/>
                        </a:spcBef>
                        <a:spcAft>
                          <a:spcPts val="0"/>
                        </a:spcAft>
                      </a:pPr>
                      <a:endParaRPr lang="en-US" sz="850">
                        <a:latin typeface="Times New Roman"/>
                        <a:ea typeface="Times New Roman"/>
                        <a:cs typeface="Times New Roman"/>
                      </a:endParaRPr>
                    </a:p>
                  </a:txBody>
                  <a:tcPr marL="0" marR="0" marT="0" marB="0" anchor="b">
                    <a:lnL>
                      <a:noFill/>
                    </a:lnL>
                    <a:lnR>
                      <a:noFill/>
                    </a:lnR>
                    <a:lnT>
                      <a:noFill/>
                    </a:lnT>
                    <a:lnB>
                      <a:noFill/>
                    </a:lnB>
                    <a:solidFill>
                      <a:srgbClr val="D8D8D8"/>
                    </a:solidFill>
                  </a:tcPr>
                </a:tc>
                <a:tc vMerge="1">
                  <a:txBody>
                    <a:bodyPr/>
                    <a:lstStyle/>
                    <a:p>
                      <a:endParaRPr lang="en-US"/>
                    </a:p>
                  </a:txBody>
                  <a:tcPr/>
                </a:tc>
                <a:tc>
                  <a:txBody>
                    <a:bodyPr/>
                    <a:lstStyle/>
                    <a:p>
                      <a:pPr marL="0" marR="0">
                        <a:lnSpc>
                          <a:spcPct val="115000"/>
                        </a:lnSpc>
                        <a:spcBef>
                          <a:spcPts val="0"/>
                        </a:spcBef>
                        <a:spcAft>
                          <a:spcPts val="0"/>
                        </a:spcAft>
                      </a:pPr>
                      <a:endParaRPr lang="en-US" sz="850">
                        <a:latin typeface="Times New Roman"/>
                        <a:ea typeface="Times New Roman"/>
                        <a:cs typeface="Times New Roman"/>
                      </a:endParaRPr>
                    </a:p>
                  </a:txBody>
                  <a:tcPr marL="0" marR="0" marT="0" marB="0" anchor="b">
                    <a:lnL>
                      <a:noFill/>
                    </a:lnL>
                    <a:lnR>
                      <a:noFill/>
                    </a:lnR>
                    <a:lnT>
                      <a:noFill/>
                    </a:lnT>
                    <a:lnB>
                      <a:noFill/>
                    </a:lnB>
                    <a:solidFill>
                      <a:srgbClr val="D8D8D8"/>
                    </a:solidFill>
                  </a:tcPr>
                </a:tc>
                <a:tc>
                  <a:txBody>
                    <a:bodyPr/>
                    <a:lstStyle/>
                    <a:p>
                      <a:pPr marL="0" marR="0">
                        <a:lnSpc>
                          <a:spcPct val="115000"/>
                        </a:lnSpc>
                        <a:spcBef>
                          <a:spcPts val="0"/>
                        </a:spcBef>
                        <a:spcAft>
                          <a:spcPts val="0"/>
                        </a:spcAft>
                      </a:pPr>
                      <a:endParaRPr lang="en-US" sz="850" dirty="0">
                        <a:latin typeface="Times New Roman"/>
                        <a:ea typeface="Times New Roman"/>
                        <a:cs typeface="Times New Roman"/>
                      </a:endParaRPr>
                    </a:p>
                  </a:txBody>
                  <a:tcPr marL="0" marR="0" marT="0" marB="0" anchor="b">
                    <a:lnL>
                      <a:noFill/>
                    </a:lnL>
                    <a:lnR>
                      <a:noFill/>
                    </a:lnR>
                    <a:lnT>
                      <a:noFill/>
                    </a:lnT>
                    <a:lnB>
                      <a:noFill/>
                    </a:lnB>
                  </a:tcPr>
                </a:tc>
                <a:tc vMerge="1">
                  <a:txBody>
                    <a:bodyPr/>
                    <a:lstStyle/>
                    <a:p>
                      <a:endParaRPr lang="en-US"/>
                    </a:p>
                  </a:txBody>
                  <a:tcPr/>
                </a:tc>
                <a:tc>
                  <a:txBody>
                    <a:bodyPr/>
                    <a:lstStyle/>
                    <a:p>
                      <a:pPr marL="0" marR="0">
                        <a:lnSpc>
                          <a:spcPct val="115000"/>
                        </a:lnSpc>
                        <a:spcBef>
                          <a:spcPts val="0"/>
                        </a:spcBef>
                        <a:spcAft>
                          <a:spcPts val="0"/>
                        </a:spcAft>
                      </a:pPr>
                      <a:endParaRPr lang="en-US" sz="850">
                        <a:latin typeface="Times New Roman"/>
                        <a:ea typeface="Times New Roman"/>
                        <a:cs typeface="Times New Roman"/>
                      </a:endParaRPr>
                    </a:p>
                  </a:txBody>
                  <a:tcPr marL="0" marR="0" marT="0" marB="0" anchor="b">
                    <a:lnL>
                      <a:noFill/>
                    </a:lnL>
                    <a:lnR>
                      <a:noFill/>
                    </a:lnR>
                    <a:lnT>
                      <a:noFill/>
                    </a:lnT>
                    <a:lnB>
                      <a:noFill/>
                    </a:lnB>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04"/>
                  </a:ext>
                </a:extLst>
              </a:tr>
              <a:tr h="122118">
                <a:tc>
                  <a:txBody>
                    <a:bodyPr/>
                    <a:lstStyle/>
                    <a:p>
                      <a:pPr marL="0" marR="0">
                        <a:lnSpc>
                          <a:spcPct val="115000"/>
                        </a:lnSpc>
                        <a:spcBef>
                          <a:spcPts val="0"/>
                        </a:spcBef>
                        <a:spcAft>
                          <a:spcPts val="0"/>
                        </a:spcAft>
                      </a:pPr>
                      <a:endParaRPr lang="en-US" sz="500">
                        <a:latin typeface="Times New Roman"/>
                        <a:ea typeface="Times New Roman"/>
                        <a:cs typeface="Times New Roman"/>
                      </a:endParaRPr>
                    </a:p>
                  </a:txBody>
                  <a:tcPr marL="0" marR="0" marT="0" marB="0" anchor="b">
                    <a:lnL>
                      <a:noFill/>
                    </a:lnL>
                    <a:lnR>
                      <a:noFill/>
                    </a:lnR>
                    <a:lnT>
                      <a:noFill/>
                    </a:lnT>
                    <a:lnB>
                      <a:noFill/>
                    </a:lnB>
                    <a:solidFill>
                      <a:srgbClr val="4F81BD"/>
                    </a:solidFill>
                  </a:tcPr>
                </a:tc>
                <a:tc vMerge="1">
                  <a:txBody>
                    <a:bodyPr/>
                    <a:lstStyle/>
                    <a:p>
                      <a:endParaRPr lang="en-US"/>
                    </a:p>
                  </a:txBody>
                  <a:tcPr/>
                </a:tc>
                <a:tc>
                  <a:txBody>
                    <a:bodyPr/>
                    <a:lstStyle/>
                    <a:p>
                      <a:pPr marL="0" marR="0">
                        <a:lnSpc>
                          <a:spcPct val="115000"/>
                        </a:lnSpc>
                        <a:spcBef>
                          <a:spcPts val="0"/>
                        </a:spcBef>
                        <a:spcAft>
                          <a:spcPts val="0"/>
                        </a:spcAft>
                      </a:pPr>
                      <a:endParaRPr lang="en-US" sz="500">
                        <a:latin typeface="Times New Roman"/>
                        <a:ea typeface="Times New Roman"/>
                        <a:cs typeface="Times New Roman"/>
                      </a:endParaRPr>
                    </a:p>
                  </a:txBody>
                  <a:tcPr marL="0" marR="0" marT="0" marB="0" anchor="b">
                    <a:lnL>
                      <a:noFill/>
                    </a:lnL>
                    <a:lnR>
                      <a:noFill/>
                    </a:lnR>
                    <a:lnT>
                      <a:noFill/>
                    </a:lnT>
                    <a:lnB>
                      <a:noFill/>
                    </a:lnB>
                    <a:solidFill>
                      <a:srgbClr val="4F81BD"/>
                    </a:solidFill>
                  </a:tcPr>
                </a:tc>
                <a:tc>
                  <a:txBody>
                    <a:bodyPr/>
                    <a:lstStyle/>
                    <a:p>
                      <a:pPr marL="0" marR="0">
                        <a:lnSpc>
                          <a:spcPct val="115000"/>
                        </a:lnSpc>
                        <a:spcBef>
                          <a:spcPts val="0"/>
                        </a:spcBef>
                        <a:spcAft>
                          <a:spcPts val="0"/>
                        </a:spcAft>
                      </a:pPr>
                      <a:endParaRPr lang="en-US" sz="500">
                        <a:latin typeface="Times New Roman"/>
                        <a:ea typeface="Times New Roman"/>
                        <a:cs typeface="Times New Roman"/>
                      </a:endParaRPr>
                    </a:p>
                  </a:txBody>
                  <a:tcPr marL="0" marR="0" marT="0" marB="0" anchor="b">
                    <a:lnL>
                      <a:noFill/>
                    </a:lnL>
                    <a:lnR>
                      <a:noFill/>
                    </a:lnR>
                    <a:lnT>
                      <a:noFill/>
                    </a:lnT>
                    <a:lnB>
                      <a:noFill/>
                    </a:lnB>
                  </a:tcPr>
                </a:tc>
                <a:tc>
                  <a:txBody>
                    <a:bodyPr/>
                    <a:lstStyle/>
                    <a:p>
                      <a:pPr marL="0" marR="0">
                        <a:lnSpc>
                          <a:spcPct val="115000"/>
                        </a:lnSpc>
                        <a:spcBef>
                          <a:spcPts val="0"/>
                        </a:spcBef>
                        <a:spcAft>
                          <a:spcPts val="0"/>
                        </a:spcAft>
                      </a:pPr>
                      <a:endParaRPr lang="en-US" sz="500" dirty="0">
                        <a:latin typeface="Times New Roman"/>
                        <a:ea typeface="Times New Roman"/>
                        <a:cs typeface="Times New Roman"/>
                      </a:endParaRPr>
                    </a:p>
                  </a:txBody>
                  <a:tcPr marL="0" marR="0" marT="0" marB="0" anchor="b">
                    <a:lnL>
                      <a:noFill/>
                    </a:lnL>
                    <a:lnR>
                      <a:noFill/>
                    </a:lnR>
                    <a:lnT>
                      <a:noFill/>
                    </a:lnT>
                    <a:lnB>
                      <a:noFill/>
                    </a:lnB>
                  </a:tcPr>
                </a:tc>
                <a:tc>
                  <a:txBody>
                    <a:bodyPr/>
                    <a:lstStyle/>
                    <a:p>
                      <a:pPr marL="0" marR="0">
                        <a:lnSpc>
                          <a:spcPct val="115000"/>
                        </a:lnSpc>
                        <a:spcBef>
                          <a:spcPts val="0"/>
                        </a:spcBef>
                        <a:spcAft>
                          <a:spcPts val="0"/>
                        </a:spcAft>
                      </a:pPr>
                      <a:endParaRPr lang="en-US" sz="500">
                        <a:latin typeface="Times New Roman"/>
                        <a:ea typeface="Times New Roman"/>
                        <a:cs typeface="Times New Roman"/>
                      </a:endParaRPr>
                    </a:p>
                  </a:txBody>
                  <a:tcPr marL="0" marR="0" marT="0" marB="0" anchor="b">
                    <a:lnL>
                      <a:noFill/>
                    </a:lnL>
                    <a:lnR>
                      <a:noFill/>
                    </a:lnR>
                    <a:lnT>
                      <a:noFill/>
                    </a:lnT>
                    <a:lnB>
                      <a:noFill/>
                    </a:lnB>
                  </a:tcPr>
                </a:tc>
                <a:tc>
                  <a:txBody>
                    <a:bodyPr/>
                    <a:lstStyle/>
                    <a:p>
                      <a:pPr marL="0" marR="0">
                        <a:lnSpc>
                          <a:spcPct val="115000"/>
                        </a:lnSpc>
                        <a:spcBef>
                          <a:spcPts val="0"/>
                        </a:spcBef>
                        <a:spcAft>
                          <a:spcPts val="0"/>
                        </a:spcAft>
                      </a:pPr>
                      <a:endParaRPr lang="en-US" sz="500" dirty="0">
                        <a:latin typeface="Times New Roman"/>
                        <a:ea typeface="Times New Roman"/>
                        <a:cs typeface="Times New Roman"/>
                      </a:endParaRPr>
                    </a:p>
                  </a:txBody>
                  <a:tcPr marL="0" marR="0" marT="0" marB="0" anchor="b">
                    <a:lnL>
                      <a:noFill/>
                    </a:lnL>
                    <a:lnR>
                      <a:noFill/>
                    </a:lnR>
                    <a:lnT>
                      <a:noFill/>
                    </a:lnT>
                    <a:lnB>
                      <a:noFill/>
                    </a:lnB>
                  </a:tcPr>
                </a:tc>
                <a:tc rowSpan="2">
                  <a:txBody>
                    <a:bodyPr/>
                    <a:lstStyle/>
                    <a:p>
                      <a:pPr marL="0" marR="0">
                        <a:lnSpc>
                          <a:spcPts val="1570"/>
                        </a:lnSpc>
                        <a:spcBef>
                          <a:spcPts val="0"/>
                        </a:spcBef>
                        <a:spcAft>
                          <a:spcPts val="0"/>
                        </a:spcAft>
                      </a:pPr>
                      <a:r>
                        <a:rPr lang="en-US" sz="1400" dirty="0">
                          <a:latin typeface="Times New Roman"/>
                          <a:ea typeface="Times New Roman"/>
                          <a:cs typeface="Times New Roman"/>
                        </a:rPr>
                        <a:t>depends on the</a:t>
                      </a:r>
                      <a:endParaRPr lang="en-US" sz="1100" dirty="0">
                        <a:latin typeface="Calibri"/>
                        <a:ea typeface="Times New Roman"/>
                        <a:cs typeface="Times New Roman"/>
                      </a:endParaRPr>
                    </a:p>
                  </a:txBody>
                  <a:tcPr marL="0" marR="0" marT="0" marB="0" anchor="b">
                    <a:lnL>
                      <a:noFill/>
                    </a:lnL>
                    <a:lnR>
                      <a:noFill/>
                    </a:lnR>
                    <a:lnT>
                      <a:noFill/>
                    </a:lnT>
                    <a:lnB>
                      <a:noFill/>
                    </a:lnB>
                    <a:solidFill>
                      <a:srgbClr val="D8D8D8"/>
                    </a:solidFill>
                  </a:tcPr>
                </a:tc>
                <a:tc>
                  <a:txBody>
                    <a:bodyPr/>
                    <a:lstStyle/>
                    <a:p>
                      <a:pPr marL="0" marR="0">
                        <a:lnSpc>
                          <a:spcPct val="115000"/>
                        </a:lnSpc>
                        <a:spcBef>
                          <a:spcPts val="0"/>
                        </a:spcBef>
                        <a:spcAft>
                          <a:spcPts val="0"/>
                        </a:spcAft>
                      </a:pPr>
                      <a:endParaRPr lang="en-US" sz="500">
                        <a:latin typeface="Times New Roman"/>
                        <a:ea typeface="Times New Roman"/>
                        <a:cs typeface="Times New Roman"/>
                      </a:endParaRPr>
                    </a:p>
                  </a:txBody>
                  <a:tcPr marL="0" marR="0" marT="0" marB="0" anchor="b">
                    <a:lnL>
                      <a:noFill/>
                    </a:lnL>
                    <a:lnR>
                      <a:noFill/>
                    </a:lnR>
                    <a:lnT>
                      <a:noFill/>
                    </a:lnT>
                    <a:lnB>
                      <a:noFill/>
                    </a:lnB>
                  </a:tcPr>
                </a:tc>
                <a:tc>
                  <a:txBody>
                    <a:bodyPr/>
                    <a:lstStyle/>
                    <a:p>
                      <a:pPr marL="0" marR="0">
                        <a:lnSpc>
                          <a:spcPct val="115000"/>
                        </a:lnSpc>
                        <a:spcBef>
                          <a:spcPts val="0"/>
                        </a:spcBef>
                        <a:spcAft>
                          <a:spcPts val="0"/>
                        </a:spcAft>
                      </a:pPr>
                      <a:endParaRPr lang="en-US" sz="10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05"/>
                  </a:ext>
                </a:extLst>
              </a:tr>
              <a:tr h="207601">
                <a:tc>
                  <a:txBody>
                    <a:bodyPr/>
                    <a:lstStyle/>
                    <a:p>
                      <a:pPr marL="0" marR="0">
                        <a:lnSpc>
                          <a:spcPct val="115000"/>
                        </a:lnSpc>
                        <a:spcBef>
                          <a:spcPts val="0"/>
                        </a:spcBef>
                        <a:spcAft>
                          <a:spcPts val="0"/>
                        </a:spcAft>
                      </a:pPr>
                      <a:endParaRPr lang="en-US" sz="850">
                        <a:latin typeface="Times New Roman"/>
                        <a:ea typeface="Times New Roman"/>
                        <a:cs typeface="Times New Roman"/>
                      </a:endParaRPr>
                    </a:p>
                  </a:txBody>
                  <a:tcPr marL="0" marR="0" marT="0" marB="0" anchor="b">
                    <a:lnL>
                      <a:noFill/>
                    </a:lnL>
                    <a:lnR>
                      <a:noFill/>
                    </a:lnR>
                    <a:lnT>
                      <a:noFill/>
                    </a:lnT>
                    <a:lnB>
                      <a:noFill/>
                    </a:lnB>
                  </a:tcPr>
                </a:tc>
                <a:tc>
                  <a:txBody>
                    <a:bodyPr/>
                    <a:lstStyle/>
                    <a:p>
                      <a:pPr marL="0" marR="0">
                        <a:lnSpc>
                          <a:spcPct val="115000"/>
                        </a:lnSpc>
                        <a:spcBef>
                          <a:spcPts val="0"/>
                        </a:spcBef>
                        <a:spcAft>
                          <a:spcPts val="0"/>
                        </a:spcAft>
                      </a:pPr>
                      <a:endParaRPr lang="en-US" sz="850">
                        <a:latin typeface="Times New Roman"/>
                        <a:ea typeface="Times New Roman"/>
                        <a:cs typeface="Times New Roman"/>
                      </a:endParaRPr>
                    </a:p>
                  </a:txBody>
                  <a:tcPr marL="0" marR="0" marT="0" marB="0" anchor="b">
                    <a:lnL>
                      <a:noFill/>
                    </a:lnL>
                    <a:lnR>
                      <a:noFill/>
                    </a:lnR>
                    <a:lnT>
                      <a:noFill/>
                    </a:lnT>
                    <a:lnB>
                      <a:noFill/>
                    </a:lnB>
                  </a:tcPr>
                </a:tc>
                <a:tc>
                  <a:txBody>
                    <a:bodyPr/>
                    <a:lstStyle/>
                    <a:p>
                      <a:pPr marL="0" marR="0">
                        <a:lnSpc>
                          <a:spcPct val="115000"/>
                        </a:lnSpc>
                        <a:spcBef>
                          <a:spcPts val="0"/>
                        </a:spcBef>
                        <a:spcAft>
                          <a:spcPts val="0"/>
                        </a:spcAft>
                      </a:pPr>
                      <a:endParaRPr lang="en-US" sz="850">
                        <a:latin typeface="Times New Roman"/>
                        <a:ea typeface="Times New Roman"/>
                        <a:cs typeface="Times New Roman"/>
                      </a:endParaRPr>
                    </a:p>
                  </a:txBody>
                  <a:tcPr marL="0" marR="0" marT="0" marB="0" anchor="b">
                    <a:lnL>
                      <a:noFill/>
                    </a:lnL>
                    <a:lnR>
                      <a:noFill/>
                    </a:lnR>
                    <a:lnT>
                      <a:noFill/>
                    </a:lnT>
                    <a:lnB>
                      <a:noFill/>
                    </a:lnB>
                  </a:tcPr>
                </a:tc>
                <a:tc>
                  <a:txBody>
                    <a:bodyPr/>
                    <a:lstStyle/>
                    <a:p>
                      <a:pPr marL="0" marR="0">
                        <a:lnSpc>
                          <a:spcPct val="115000"/>
                        </a:lnSpc>
                        <a:spcBef>
                          <a:spcPts val="0"/>
                        </a:spcBef>
                        <a:spcAft>
                          <a:spcPts val="0"/>
                        </a:spcAft>
                      </a:pPr>
                      <a:endParaRPr lang="en-US" sz="850">
                        <a:latin typeface="Times New Roman"/>
                        <a:ea typeface="Times New Roman"/>
                        <a:cs typeface="Times New Roman"/>
                      </a:endParaRPr>
                    </a:p>
                  </a:txBody>
                  <a:tcPr marL="0" marR="0" marT="0" marB="0" anchor="b">
                    <a:lnL>
                      <a:noFill/>
                    </a:lnL>
                    <a:lnR>
                      <a:noFill/>
                    </a:lnR>
                    <a:lnT>
                      <a:noFill/>
                    </a:lnT>
                    <a:lnB>
                      <a:noFill/>
                    </a:lnB>
                  </a:tcPr>
                </a:tc>
                <a:tc>
                  <a:txBody>
                    <a:bodyPr/>
                    <a:lstStyle/>
                    <a:p>
                      <a:pPr marL="0" marR="0">
                        <a:lnSpc>
                          <a:spcPct val="115000"/>
                        </a:lnSpc>
                        <a:spcBef>
                          <a:spcPts val="0"/>
                        </a:spcBef>
                        <a:spcAft>
                          <a:spcPts val="0"/>
                        </a:spcAft>
                      </a:pPr>
                      <a:endParaRPr lang="en-US" sz="850" dirty="0">
                        <a:latin typeface="Times New Roman"/>
                        <a:ea typeface="Times New Roman"/>
                        <a:cs typeface="Times New Roman"/>
                      </a:endParaRPr>
                    </a:p>
                  </a:txBody>
                  <a:tcPr marL="0" marR="0" marT="0" marB="0" anchor="b">
                    <a:lnL>
                      <a:noFill/>
                    </a:lnL>
                    <a:lnR>
                      <a:noFill/>
                    </a:lnR>
                    <a:lnT>
                      <a:noFill/>
                    </a:lnT>
                    <a:lnB>
                      <a:noFill/>
                    </a:lnB>
                  </a:tcPr>
                </a:tc>
                <a:tc>
                  <a:txBody>
                    <a:bodyPr/>
                    <a:lstStyle/>
                    <a:p>
                      <a:pPr marL="0" marR="0">
                        <a:lnSpc>
                          <a:spcPct val="115000"/>
                        </a:lnSpc>
                        <a:spcBef>
                          <a:spcPts val="0"/>
                        </a:spcBef>
                        <a:spcAft>
                          <a:spcPts val="0"/>
                        </a:spcAft>
                      </a:pPr>
                      <a:endParaRPr lang="en-US" sz="850">
                        <a:latin typeface="Times New Roman"/>
                        <a:ea typeface="Times New Roman"/>
                        <a:cs typeface="Times New Roman"/>
                      </a:endParaRPr>
                    </a:p>
                  </a:txBody>
                  <a:tcPr marL="0" marR="0" marT="0" marB="0" anchor="b">
                    <a:lnL>
                      <a:noFill/>
                    </a:lnL>
                    <a:lnR>
                      <a:noFill/>
                    </a:lnR>
                    <a:lnT>
                      <a:noFill/>
                    </a:lnT>
                    <a:lnB>
                      <a:noFill/>
                    </a:lnB>
                  </a:tcPr>
                </a:tc>
                <a:tc>
                  <a:txBody>
                    <a:bodyPr/>
                    <a:lstStyle/>
                    <a:p>
                      <a:pPr marL="0" marR="0">
                        <a:lnSpc>
                          <a:spcPct val="115000"/>
                        </a:lnSpc>
                        <a:spcBef>
                          <a:spcPts val="0"/>
                        </a:spcBef>
                        <a:spcAft>
                          <a:spcPts val="0"/>
                        </a:spcAft>
                      </a:pPr>
                      <a:endParaRPr lang="en-US" sz="850" dirty="0">
                        <a:latin typeface="Times New Roman"/>
                        <a:ea typeface="Times New Roman"/>
                        <a:cs typeface="Times New Roman"/>
                      </a:endParaRPr>
                    </a:p>
                  </a:txBody>
                  <a:tcPr marL="0" marR="0" marT="0" marB="0" anchor="b">
                    <a:lnL>
                      <a:noFill/>
                    </a:lnL>
                    <a:lnR>
                      <a:noFill/>
                    </a:lnR>
                    <a:lnT>
                      <a:noFill/>
                    </a:lnT>
                    <a:lnB>
                      <a:noFill/>
                    </a:lnB>
                  </a:tcPr>
                </a:tc>
                <a:tc vMerge="1">
                  <a:txBody>
                    <a:bodyPr/>
                    <a:lstStyle/>
                    <a:p>
                      <a:endParaRPr lang="en-US"/>
                    </a:p>
                  </a:txBody>
                  <a:tcPr/>
                </a:tc>
                <a:tc>
                  <a:txBody>
                    <a:bodyPr/>
                    <a:lstStyle/>
                    <a:p>
                      <a:pPr marL="0" marR="0">
                        <a:lnSpc>
                          <a:spcPct val="115000"/>
                        </a:lnSpc>
                        <a:spcBef>
                          <a:spcPts val="0"/>
                        </a:spcBef>
                        <a:spcAft>
                          <a:spcPts val="0"/>
                        </a:spcAft>
                      </a:pPr>
                      <a:endParaRPr lang="en-US" sz="850">
                        <a:latin typeface="Times New Roman"/>
                        <a:ea typeface="Times New Roman"/>
                        <a:cs typeface="Times New Roman"/>
                      </a:endParaRPr>
                    </a:p>
                  </a:txBody>
                  <a:tcPr marL="0" marR="0" marT="0" marB="0" anchor="b">
                    <a:lnL>
                      <a:noFill/>
                    </a:lnL>
                    <a:lnR>
                      <a:noFill/>
                    </a:lnR>
                    <a:lnT>
                      <a:noFill/>
                    </a:lnT>
                    <a:lnB>
                      <a:noFill/>
                    </a:lnB>
                  </a:tcPr>
                </a:tc>
                <a:tc>
                  <a:txBody>
                    <a:bodyPr/>
                    <a:lstStyle/>
                    <a:p>
                      <a:pPr marL="0" marR="0">
                        <a:lnSpc>
                          <a:spcPct val="115000"/>
                        </a:lnSpc>
                        <a:spcBef>
                          <a:spcPts val="0"/>
                        </a:spcBef>
                        <a:spcAft>
                          <a:spcPts val="0"/>
                        </a:spcAft>
                      </a:pPr>
                      <a:endParaRPr lang="en-US" sz="100" dirty="0">
                        <a:latin typeface="Times New Roman"/>
                        <a:ea typeface="Times New Roman"/>
                        <a:cs typeface="Times New Roman"/>
                      </a:endParaRPr>
                    </a:p>
                  </a:txBody>
                  <a:tcPr marL="0" marR="0" marT="0" marB="0" anchor="b">
                    <a:lnL>
                      <a:noFill/>
                    </a:lnL>
                    <a:lnR>
                      <a:noFill/>
                    </a:lnR>
                    <a:lnT>
                      <a:noFill/>
                    </a:lnT>
                    <a:lnB>
                      <a:noFill/>
                    </a:lnB>
                  </a:tcPr>
                </a:tc>
                <a:extLst>
                  <a:ext uri="{0D108BD9-81ED-4DB2-BD59-A6C34878D82A}">
                    <a16:rowId xmlns="" xmlns:a16="http://schemas.microsoft.com/office/drawing/2014/main" val="10006"/>
                  </a:ext>
                </a:extLst>
              </a:tr>
            </a:tbl>
          </a:graphicData>
        </a:graphic>
      </p:graphicFrame>
      <p:sp>
        <p:nvSpPr>
          <p:cNvPr id="9" name="Rectangle 8"/>
          <p:cNvSpPr/>
          <p:nvPr/>
        </p:nvSpPr>
        <p:spPr>
          <a:xfrm>
            <a:off x="2651398" y="4873934"/>
            <a:ext cx="2903359" cy="369332"/>
          </a:xfrm>
          <a:prstGeom prst="rect">
            <a:avLst/>
          </a:prstGeom>
        </p:spPr>
        <p:txBody>
          <a:bodyPr wrap="none">
            <a:spAutoFit/>
          </a:bodyPr>
          <a:lstStyle/>
          <a:p>
            <a:pPr lvl="0" indent="457200" fontAlgn="base">
              <a:spcBef>
                <a:spcPct val="0"/>
              </a:spcBef>
              <a:spcAft>
                <a:spcPct val="0"/>
              </a:spcAft>
            </a:pPr>
            <a:r>
              <a:rPr lang="en-US" b="1" dirty="0" smtClean="0">
                <a:latin typeface="Times New Roman" pitchFamily="18" charset="0"/>
                <a:ea typeface="Times New Roman" pitchFamily="18" charset="0"/>
                <a:cs typeface="Times New Roman" pitchFamily="18" charset="0"/>
              </a:rPr>
              <a:t>GPIO Pin Description:</a:t>
            </a:r>
            <a:endParaRPr lang="en-US" sz="1000" dirty="0" smtClean="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0"/>
            <a:ext cx="8229600" cy="4525963"/>
          </a:xfrm>
          <a:solidFill>
            <a:schemeClr val="bg1"/>
          </a:solidFill>
        </p:spPr>
        <p:txBody>
          <a:bodyPr/>
          <a:lstStyle/>
          <a:p>
            <a:r>
              <a:rPr lang="en-US" b="1" dirty="0" smtClean="0">
                <a:latin typeface="Times New Roman" panose="02020603050405020304" pitchFamily="18" charset="0"/>
                <a:cs typeface="Times New Roman" panose="02020603050405020304" pitchFamily="18" charset="0"/>
              </a:rPr>
              <a:t>Register description:</a:t>
            </a:r>
            <a:endParaRPr lang="en-US" dirty="0" smtClean="0">
              <a:latin typeface="Times New Roman" panose="02020603050405020304" pitchFamily="18" charset="0"/>
              <a:cs typeface="Times New Roman" panose="02020603050405020304" pitchFamily="18" charset="0"/>
            </a:endParaRPr>
          </a:p>
          <a:p>
            <a:endParaRPr lang="en-US" dirty="0"/>
          </a:p>
        </p:txBody>
      </p:sp>
      <p:pic>
        <p:nvPicPr>
          <p:cNvPr id="4" name="Picture 3"/>
          <p:cNvPicPr/>
          <p:nvPr/>
        </p:nvPicPr>
        <p:blipFill>
          <a:blip r:embed="rId2" cstate="print"/>
          <a:srcRect/>
          <a:stretch>
            <a:fillRect/>
          </a:stretch>
        </p:blipFill>
        <p:spPr bwMode="auto">
          <a:xfrm>
            <a:off x="152400" y="914400"/>
            <a:ext cx="8991600" cy="4876800"/>
          </a:xfrm>
          <a:prstGeom prst="rect">
            <a:avLst/>
          </a:prstGeom>
          <a:noFill/>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100" y="68263"/>
            <a:ext cx="8229600" cy="563562"/>
          </a:xfrm>
          <a:solidFill>
            <a:schemeClr val="bg1"/>
          </a:solidFill>
        </p:spPr>
        <p:txBody>
          <a:bodyPr>
            <a:normAutofit fontScale="90000"/>
          </a:bodyPr>
          <a:lstStyle/>
          <a:p>
            <a:r>
              <a:rPr lang="en-US" b="1" dirty="0" smtClean="0">
                <a:latin typeface="Times New Roman" panose="02020603050405020304" pitchFamily="18" charset="0"/>
                <a:cs typeface="Times New Roman" panose="02020603050405020304" pitchFamily="18" charset="0"/>
              </a:rPr>
              <a:t/>
            </a:r>
            <a:br>
              <a:rPr lang="en-US" b="1" dirty="0" smtClean="0">
                <a:latin typeface="Times New Roman" panose="02020603050405020304" pitchFamily="18" charset="0"/>
                <a:cs typeface="Times New Roman" panose="02020603050405020304" pitchFamily="18" charset="0"/>
              </a:rPr>
            </a:br>
            <a:r>
              <a:rPr lang="en-US" b="1" dirty="0" smtClean="0">
                <a:latin typeface="Times New Roman" panose="02020603050405020304" pitchFamily="18" charset="0"/>
                <a:cs typeface="Times New Roman" panose="02020603050405020304" pitchFamily="18" charset="0"/>
              </a:rPr>
              <a:t>IODIR</a:t>
            </a: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11" name="Picture 10"/>
          <p:cNvPicPr/>
          <p:nvPr/>
        </p:nvPicPr>
        <p:blipFill>
          <a:blip r:embed="rId2" cstate="print"/>
          <a:srcRect/>
          <a:stretch>
            <a:fillRect/>
          </a:stretch>
        </p:blipFill>
        <p:spPr bwMode="auto">
          <a:xfrm>
            <a:off x="685800" y="3352800"/>
            <a:ext cx="208280" cy="485775"/>
          </a:xfrm>
          <a:prstGeom prst="rect">
            <a:avLst/>
          </a:prstGeom>
          <a:noFill/>
        </p:spPr>
      </p:pic>
      <p:sp>
        <p:nvSpPr>
          <p:cNvPr id="3" name="Content Placeholder 2"/>
          <p:cNvSpPr>
            <a:spLocks noGrp="1"/>
          </p:cNvSpPr>
          <p:nvPr>
            <p:ph idx="1"/>
          </p:nvPr>
        </p:nvSpPr>
        <p:spPr>
          <a:xfrm>
            <a:off x="152400" y="914400"/>
            <a:ext cx="8763000" cy="5715000"/>
          </a:xfrm>
          <a:solidFill>
            <a:schemeClr val="bg1"/>
          </a:solidFill>
        </p:spPr>
        <p:txBody>
          <a:bodyPr>
            <a:normAutofit/>
          </a:bodyPr>
          <a:lstStyle/>
          <a:p>
            <a:pPr marL="0" indent="0">
              <a:buNone/>
            </a:pPr>
            <a:r>
              <a:rPr lang="en-US" b="1" dirty="0" smtClean="0">
                <a:latin typeface="Times New Roman" panose="02020603050405020304" pitchFamily="18" charset="0"/>
                <a:cs typeface="Times New Roman" panose="02020603050405020304" pitchFamily="18" charset="0"/>
              </a:rPr>
              <a:t>IODIR 0:</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Each register is of 32 bit &amp; each bit corresponds to </a:t>
            </a:r>
            <a:r>
              <a:rPr lang="en-US" dirty="0">
                <a:latin typeface="Times New Roman" panose="02020603050405020304" pitchFamily="18" charset="0"/>
                <a:cs typeface="Times New Roman" panose="02020603050405020304" pitchFamily="18" charset="0"/>
              </a:rPr>
              <a:t>e</a:t>
            </a:r>
            <a:r>
              <a:rPr lang="en-US" dirty="0" smtClean="0">
                <a:latin typeface="Times New Roman" panose="02020603050405020304" pitchFamily="18" charset="0"/>
                <a:cs typeface="Times New Roman" panose="02020603050405020304" pitchFamily="18" charset="0"/>
              </a:rPr>
              <a:t>ach pins of respective port (port 0)</a:t>
            </a:r>
          </a:p>
          <a:p>
            <a:r>
              <a:rPr lang="en-US" dirty="0" smtClean="0"/>
              <a:t> </a:t>
            </a:r>
          </a:p>
          <a:p>
            <a:pPr marL="0" indent="0">
              <a:buNone/>
            </a:pPr>
            <a:r>
              <a:rPr lang="en-US" sz="2000" b="1" dirty="0" smtClean="0">
                <a:latin typeface="Times New Roman" panose="02020603050405020304" pitchFamily="18" charset="0"/>
                <a:cs typeface="Times New Roman" panose="02020603050405020304" pitchFamily="18" charset="0"/>
              </a:rPr>
              <a:t>       31</a:t>
            </a:r>
            <a:r>
              <a:rPr lang="en-US" sz="2000" dirty="0" smtClean="0">
                <a:latin typeface="Times New Roman" panose="02020603050405020304" pitchFamily="18" charset="0"/>
                <a:cs typeface="Times New Roman" panose="02020603050405020304" pitchFamily="18" charset="0"/>
              </a:rPr>
              <a:t>	     </a:t>
            </a:r>
            <a:r>
              <a:rPr lang="en-US" sz="2000" b="1" dirty="0" smtClean="0">
                <a:latin typeface="Times New Roman" panose="02020603050405020304" pitchFamily="18" charset="0"/>
                <a:cs typeface="Times New Roman" panose="02020603050405020304" pitchFamily="18" charset="0"/>
              </a:rPr>
              <a:t>30</a:t>
            </a:r>
            <a:r>
              <a:rPr lang="en-US" sz="2000" dirty="0" smtClean="0">
                <a:latin typeface="Times New Roman" panose="02020603050405020304" pitchFamily="18" charset="0"/>
                <a:cs typeface="Times New Roman" panose="02020603050405020304" pitchFamily="18" charset="0"/>
              </a:rPr>
              <a:t>	      </a:t>
            </a:r>
            <a:r>
              <a:rPr lang="en-US" sz="2000" b="1" dirty="0" smtClean="0">
                <a:latin typeface="Times New Roman" panose="02020603050405020304" pitchFamily="18" charset="0"/>
                <a:cs typeface="Times New Roman" panose="02020603050405020304" pitchFamily="18" charset="0"/>
              </a:rPr>
              <a:t>29</a:t>
            </a:r>
            <a:r>
              <a:rPr lang="en-US" sz="2000" dirty="0" smtClean="0">
                <a:latin typeface="Times New Roman" panose="02020603050405020304" pitchFamily="18" charset="0"/>
                <a:cs typeface="Times New Roman" panose="02020603050405020304" pitchFamily="18" charset="0"/>
              </a:rPr>
              <a:t>	</a:t>
            </a:r>
            <a:r>
              <a:rPr lang="en-US" sz="2000" b="1" dirty="0" smtClean="0">
                <a:latin typeface="Times New Roman" panose="02020603050405020304" pitchFamily="18" charset="0"/>
                <a:cs typeface="Times New Roman" panose="02020603050405020304" pitchFamily="18" charset="0"/>
              </a:rPr>
              <a:t>………                  3</a:t>
            </a:r>
            <a:r>
              <a:rPr lang="en-US" sz="2000" dirty="0" smtClean="0">
                <a:latin typeface="Times New Roman" panose="02020603050405020304" pitchFamily="18" charset="0"/>
                <a:cs typeface="Times New Roman" panose="02020603050405020304" pitchFamily="18" charset="0"/>
              </a:rPr>
              <a:t>                </a:t>
            </a:r>
            <a:r>
              <a:rPr lang="en-US" sz="2000" b="1" dirty="0" smtClean="0">
                <a:latin typeface="Times New Roman" panose="02020603050405020304" pitchFamily="18" charset="0"/>
                <a:cs typeface="Times New Roman" panose="02020603050405020304" pitchFamily="18" charset="0"/>
              </a:rPr>
              <a:t>2</a:t>
            </a:r>
            <a:r>
              <a:rPr lang="en-US" sz="2000" dirty="0" smtClean="0">
                <a:latin typeface="Times New Roman" panose="02020603050405020304" pitchFamily="18" charset="0"/>
                <a:cs typeface="Times New Roman" panose="02020603050405020304" pitchFamily="18" charset="0"/>
              </a:rPr>
              <a:t>	            </a:t>
            </a:r>
            <a:r>
              <a:rPr lang="en-US" sz="2000" b="1" dirty="0" smtClean="0">
                <a:latin typeface="Times New Roman" panose="02020603050405020304" pitchFamily="18" charset="0"/>
                <a:cs typeface="Times New Roman" panose="02020603050405020304" pitchFamily="18" charset="0"/>
              </a:rPr>
              <a:t>1</a:t>
            </a:r>
            <a:r>
              <a:rPr lang="en-US" sz="2000" dirty="0" smtClean="0">
                <a:latin typeface="Times New Roman" panose="02020603050405020304" pitchFamily="18" charset="0"/>
                <a:cs typeface="Times New Roman" panose="02020603050405020304" pitchFamily="18" charset="0"/>
              </a:rPr>
              <a:t>	             </a:t>
            </a:r>
            <a:r>
              <a:rPr lang="en-US" sz="2000" b="1" dirty="0" smtClean="0">
                <a:latin typeface="Times New Roman" panose="02020603050405020304" pitchFamily="18" charset="0"/>
                <a:cs typeface="Times New Roman" panose="02020603050405020304" pitchFamily="18" charset="0"/>
              </a:rPr>
              <a:t>0</a:t>
            </a:r>
            <a:endParaRPr lang="en-US" sz="2000" dirty="0" smtClean="0">
              <a:latin typeface="Times New Roman" panose="02020603050405020304" pitchFamily="18" charset="0"/>
              <a:cs typeface="Times New Roman" panose="02020603050405020304" pitchFamily="18" charset="0"/>
            </a:endParaRPr>
          </a:p>
          <a:p>
            <a:pPr marL="0" indent="0">
              <a:buNone/>
            </a:pPr>
            <a:endParaRPr lang="en-US" sz="1900" dirty="0" smtClean="0"/>
          </a:p>
          <a:p>
            <a:pPr marL="0" indent="0">
              <a:buNone/>
            </a:pPr>
            <a:r>
              <a:rPr lang="en-US" sz="1900" dirty="0" smtClean="0"/>
              <a:t> </a:t>
            </a:r>
          </a:p>
          <a:p>
            <a:pPr marL="0" indent="0">
              <a:buNone/>
            </a:pPr>
            <a:r>
              <a:rPr lang="en-US" sz="2200" dirty="0" smtClean="0">
                <a:latin typeface="Times New Roman" panose="02020603050405020304" pitchFamily="18" charset="0"/>
                <a:cs typeface="Times New Roman" panose="02020603050405020304" pitchFamily="18" charset="0"/>
              </a:rPr>
              <a:t>    P0.31  P0.30    P0.29	……..               P0.03          P0.02        P0.01     P0.0</a:t>
            </a:r>
          </a:p>
          <a:p>
            <a:r>
              <a:rPr lang="en-US" sz="2600" dirty="0" smtClean="0">
                <a:latin typeface="Times New Roman" panose="02020603050405020304" pitchFamily="18" charset="0"/>
                <a:cs typeface="Times New Roman" panose="02020603050405020304" pitchFamily="18" charset="0"/>
              </a:rPr>
              <a:t>If IODIR0 = 1 </a:t>
            </a:r>
            <a:r>
              <a:rPr lang="en-US" sz="2600" dirty="0" err="1" smtClean="0">
                <a:latin typeface="Times New Roman" panose="02020603050405020304" pitchFamily="18" charset="0"/>
                <a:cs typeface="Times New Roman" panose="02020603050405020304" pitchFamily="18" charset="0"/>
              </a:rPr>
              <a:t>i.e</a:t>
            </a:r>
            <a:r>
              <a:rPr lang="en-US" sz="2600" dirty="0" smtClean="0">
                <a:latin typeface="Times New Roman" panose="02020603050405020304" pitchFamily="18" charset="0"/>
                <a:cs typeface="Times New Roman" panose="02020603050405020304" pitchFamily="18" charset="0"/>
              </a:rPr>
              <a:t> 00000001H</a:t>
            </a:r>
          </a:p>
          <a:p>
            <a:r>
              <a:rPr lang="en-US" sz="2600" dirty="0" smtClean="0">
                <a:latin typeface="Times New Roman" panose="02020603050405020304" pitchFamily="18" charset="0"/>
                <a:cs typeface="Times New Roman" panose="02020603050405020304" pitchFamily="18" charset="0"/>
              </a:rPr>
              <a:t>IODIR 0 </a:t>
            </a:r>
            <a:r>
              <a:rPr lang="en-US" sz="2600" baseline="30000" dirty="0" smtClean="0">
                <a:latin typeface="Times New Roman" panose="02020603050405020304" pitchFamily="18" charset="0"/>
                <a:cs typeface="Times New Roman" panose="02020603050405020304" pitchFamily="18" charset="0"/>
              </a:rPr>
              <a:t>=</a:t>
            </a:r>
            <a:r>
              <a:rPr lang="en-US" sz="2600" dirty="0" smtClean="0">
                <a:latin typeface="Times New Roman" panose="02020603050405020304" pitchFamily="18" charset="0"/>
                <a:cs typeface="Times New Roman" panose="02020603050405020304" pitchFamily="18" charset="0"/>
              </a:rPr>
              <a:t> 1    then Output (P 0.0)</a:t>
            </a:r>
          </a:p>
          <a:p>
            <a:r>
              <a:rPr lang="en-US" sz="2600" dirty="0" smtClean="0">
                <a:latin typeface="Times New Roman" panose="02020603050405020304" pitchFamily="18" charset="0"/>
                <a:cs typeface="Times New Roman" panose="02020603050405020304" pitchFamily="18" charset="0"/>
              </a:rPr>
              <a:t>If IODIR 0 = 0 </a:t>
            </a:r>
            <a:r>
              <a:rPr lang="en-US" sz="2600" dirty="0" err="1" smtClean="0">
                <a:latin typeface="Times New Roman" panose="02020603050405020304" pitchFamily="18" charset="0"/>
                <a:cs typeface="Times New Roman" panose="02020603050405020304" pitchFamily="18" charset="0"/>
              </a:rPr>
              <a:t>i.e</a:t>
            </a:r>
            <a:r>
              <a:rPr lang="en-US" sz="2600" dirty="0" smtClean="0">
                <a:latin typeface="Times New Roman" panose="02020603050405020304" pitchFamily="18" charset="0"/>
                <a:cs typeface="Times New Roman" panose="02020603050405020304" pitchFamily="18" charset="0"/>
              </a:rPr>
              <a:t> 00000000H</a:t>
            </a:r>
          </a:p>
          <a:p>
            <a:r>
              <a:rPr lang="en-US" sz="2600" dirty="0" smtClean="0">
                <a:latin typeface="Times New Roman" panose="02020603050405020304" pitchFamily="18" charset="0"/>
                <a:cs typeface="Times New Roman" panose="02020603050405020304" pitchFamily="18" charset="0"/>
              </a:rPr>
              <a:t>IODIR 0 = 0 </a:t>
            </a:r>
            <a:r>
              <a:rPr lang="en-US" sz="2600" baseline="30000" dirty="0" smtClean="0">
                <a:latin typeface="Times New Roman" panose="02020603050405020304" pitchFamily="18" charset="0"/>
                <a:cs typeface="Times New Roman" panose="02020603050405020304" pitchFamily="18" charset="0"/>
              </a:rPr>
              <a:t> </a:t>
            </a:r>
            <a:r>
              <a:rPr lang="en-US" sz="2600" dirty="0" smtClean="0">
                <a:latin typeface="Times New Roman" panose="02020603050405020304" pitchFamily="18" charset="0"/>
                <a:cs typeface="Times New Roman" panose="02020603050405020304" pitchFamily="18" charset="0"/>
              </a:rPr>
              <a:t> then Input (P 0.0)</a:t>
            </a:r>
          </a:p>
          <a:p>
            <a:endParaRPr lang="en-US" dirty="0" smtClean="0"/>
          </a:p>
          <a:p>
            <a:endParaRPr lang="en-US" dirty="0" smtClean="0"/>
          </a:p>
        </p:txBody>
      </p:sp>
      <p:pic>
        <p:nvPicPr>
          <p:cNvPr id="12" name="Picture 11"/>
          <p:cNvPicPr/>
          <p:nvPr/>
        </p:nvPicPr>
        <p:blipFill>
          <a:blip r:embed="rId2" cstate="print"/>
          <a:srcRect/>
          <a:stretch>
            <a:fillRect/>
          </a:stretch>
        </p:blipFill>
        <p:spPr bwMode="auto">
          <a:xfrm>
            <a:off x="1414780" y="3426504"/>
            <a:ext cx="370840" cy="749528"/>
          </a:xfrm>
          <a:prstGeom prst="rect">
            <a:avLst/>
          </a:prstGeom>
          <a:noFill/>
        </p:spPr>
      </p:pic>
      <p:pic>
        <p:nvPicPr>
          <p:cNvPr id="14" name="Picture 13"/>
          <p:cNvPicPr/>
          <p:nvPr/>
        </p:nvPicPr>
        <p:blipFill>
          <a:blip r:embed="rId2" cstate="print"/>
          <a:srcRect/>
          <a:stretch>
            <a:fillRect/>
          </a:stretch>
        </p:blipFill>
        <p:spPr bwMode="auto">
          <a:xfrm>
            <a:off x="2275840" y="3446235"/>
            <a:ext cx="543560" cy="749528"/>
          </a:xfrm>
          <a:prstGeom prst="rect">
            <a:avLst/>
          </a:prstGeom>
          <a:noFill/>
        </p:spPr>
      </p:pic>
      <p:pic>
        <p:nvPicPr>
          <p:cNvPr id="15" name="Picture 14"/>
          <p:cNvPicPr/>
          <p:nvPr/>
        </p:nvPicPr>
        <p:blipFill>
          <a:blip r:embed="rId2" cstate="print"/>
          <a:srcRect/>
          <a:stretch>
            <a:fillRect/>
          </a:stretch>
        </p:blipFill>
        <p:spPr bwMode="auto">
          <a:xfrm>
            <a:off x="6047740" y="3471860"/>
            <a:ext cx="401320" cy="784679"/>
          </a:xfrm>
          <a:prstGeom prst="rect">
            <a:avLst/>
          </a:prstGeom>
          <a:noFill/>
        </p:spPr>
      </p:pic>
      <p:pic>
        <p:nvPicPr>
          <p:cNvPr id="16" name="Picture 15"/>
          <p:cNvPicPr/>
          <p:nvPr/>
        </p:nvPicPr>
        <p:blipFill>
          <a:blip r:embed="rId2" cstate="print"/>
          <a:srcRect/>
          <a:stretch>
            <a:fillRect/>
          </a:stretch>
        </p:blipFill>
        <p:spPr bwMode="auto">
          <a:xfrm>
            <a:off x="4817110" y="3494993"/>
            <a:ext cx="370840" cy="830489"/>
          </a:xfrm>
          <a:prstGeom prst="rect">
            <a:avLst/>
          </a:prstGeom>
          <a:noFill/>
        </p:spPr>
      </p:pic>
      <p:pic>
        <p:nvPicPr>
          <p:cNvPr id="18" name="Picture 17"/>
          <p:cNvPicPr/>
          <p:nvPr/>
        </p:nvPicPr>
        <p:blipFill>
          <a:blip r:embed="rId2" cstate="print"/>
          <a:srcRect/>
          <a:stretch>
            <a:fillRect/>
          </a:stretch>
        </p:blipFill>
        <p:spPr bwMode="auto">
          <a:xfrm>
            <a:off x="8382000" y="3533775"/>
            <a:ext cx="304800" cy="609600"/>
          </a:xfrm>
          <a:prstGeom prst="rect">
            <a:avLst/>
          </a:prstGeom>
          <a:noFill/>
        </p:spPr>
      </p:pic>
      <p:pic>
        <p:nvPicPr>
          <p:cNvPr id="17" name="Picture 16"/>
          <p:cNvPicPr/>
          <p:nvPr/>
        </p:nvPicPr>
        <p:blipFill>
          <a:blip r:embed="rId2" cstate="print"/>
          <a:srcRect/>
          <a:stretch>
            <a:fillRect/>
          </a:stretch>
        </p:blipFill>
        <p:spPr bwMode="auto">
          <a:xfrm>
            <a:off x="7305040" y="3446235"/>
            <a:ext cx="401320" cy="784679"/>
          </a:xfrm>
          <a:prstGeom prst="rect">
            <a:avLst/>
          </a:prstGeom>
          <a:noFill/>
        </p:spPr>
      </p:pic>
      <p:pic>
        <p:nvPicPr>
          <p:cNvPr id="19" name="Picture 18"/>
          <p:cNvPicPr/>
          <p:nvPr/>
        </p:nvPicPr>
        <p:blipFill>
          <a:blip r:embed="rId2" cstate="print"/>
          <a:srcRect/>
          <a:stretch>
            <a:fillRect/>
          </a:stretch>
        </p:blipFill>
        <p:spPr bwMode="auto">
          <a:xfrm>
            <a:off x="621030" y="3426504"/>
            <a:ext cx="370840" cy="749528"/>
          </a:xfrm>
          <a:prstGeom prst="rect">
            <a:avLst/>
          </a:prstGeom>
          <a:noFill/>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66971"/>
            <a:ext cx="8686800" cy="4525963"/>
          </a:xfrm>
          <a:solidFill>
            <a:schemeClr val="bg1"/>
          </a:solidFill>
        </p:spPr>
        <p:txBody>
          <a:bodyPr>
            <a:normAutofit fontScale="85000" lnSpcReduction="20000"/>
          </a:bodyPr>
          <a:lstStyle/>
          <a:p>
            <a:r>
              <a:rPr lang="en-US" b="1" dirty="0" smtClean="0">
                <a:latin typeface="Times New Roman" panose="02020603050405020304" pitchFamily="18" charset="0"/>
                <a:cs typeface="Times New Roman" panose="02020603050405020304" pitchFamily="18" charset="0"/>
              </a:rPr>
              <a:t>IODIR 1:</a:t>
            </a:r>
            <a:endParaRPr lang="en-US" dirty="0" smtClean="0">
              <a:latin typeface="Times New Roman" panose="02020603050405020304" pitchFamily="18" charset="0"/>
              <a:cs typeface="Times New Roman" panose="02020603050405020304" pitchFamily="18" charset="0"/>
            </a:endParaRPr>
          </a:p>
          <a:p>
            <a:pPr hangingPunct="0"/>
            <a:r>
              <a:rPr lang="en-US" dirty="0" smtClean="0">
                <a:latin typeface="Times New Roman" panose="02020603050405020304" pitchFamily="18" charset="0"/>
                <a:cs typeface="Times New Roman" panose="02020603050405020304" pitchFamily="18" charset="0"/>
              </a:rPr>
              <a:t>As, P1.0 to P1.15 pins is not available for programmers use. Setting or clearing of these bits will not affect the execution of program.</a:t>
            </a:r>
          </a:p>
          <a:p>
            <a:r>
              <a:rPr lang="en-US" sz="2800" b="1" dirty="0" smtClean="0">
                <a:latin typeface="Times New Roman" panose="02020603050405020304" pitchFamily="18" charset="0"/>
                <a:cs typeface="Times New Roman" panose="02020603050405020304" pitchFamily="18" charset="0"/>
              </a:rPr>
              <a:t>31</a:t>
            </a:r>
            <a:r>
              <a:rPr lang="en-US" sz="2800" dirty="0" smtClean="0">
                <a:latin typeface="Times New Roman" panose="02020603050405020304" pitchFamily="18" charset="0"/>
                <a:cs typeface="Times New Roman" panose="02020603050405020304" pitchFamily="18" charset="0"/>
              </a:rPr>
              <a:t>	    </a:t>
            </a:r>
            <a:r>
              <a:rPr lang="en-US" sz="2800" b="1" dirty="0" smtClean="0">
                <a:latin typeface="Times New Roman" panose="02020603050405020304" pitchFamily="18" charset="0"/>
                <a:cs typeface="Times New Roman" panose="02020603050405020304" pitchFamily="18" charset="0"/>
              </a:rPr>
              <a:t>30</a:t>
            </a:r>
            <a:r>
              <a:rPr lang="en-US" sz="2800" dirty="0" smtClean="0">
                <a:latin typeface="Times New Roman" panose="02020603050405020304" pitchFamily="18" charset="0"/>
                <a:cs typeface="Times New Roman" panose="02020603050405020304" pitchFamily="18" charset="0"/>
              </a:rPr>
              <a:t>	     </a:t>
            </a:r>
            <a:r>
              <a:rPr lang="en-US" sz="2800" b="1" dirty="0" smtClean="0">
                <a:latin typeface="Times New Roman" panose="02020603050405020304" pitchFamily="18" charset="0"/>
                <a:cs typeface="Times New Roman" panose="02020603050405020304" pitchFamily="18" charset="0"/>
              </a:rPr>
              <a:t>29</a:t>
            </a:r>
            <a:r>
              <a:rPr lang="en-US" sz="2800" dirty="0" smtClean="0">
                <a:latin typeface="Times New Roman" panose="02020603050405020304" pitchFamily="18" charset="0"/>
                <a:cs typeface="Times New Roman" panose="02020603050405020304" pitchFamily="18" charset="0"/>
              </a:rPr>
              <a:t>	</a:t>
            </a:r>
            <a:r>
              <a:rPr lang="en-US" sz="2800" b="1" dirty="0" smtClean="0">
                <a:latin typeface="Times New Roman" panose="02020603050405020304" pitchFamily="18" charset="0"/>
                <a:cs typeface="Times New Roman" panose="02020603050405020304" pitchFamily="18" charset="0"/>
              </a:rPr>
              <a:t>……             3</a:t>
            </a:r>
            <a:r>
              <a:rPr lang="en-US" sz="2800" dirty="0" smtClean="0">
                <a:latin typeface="Times New Roman" panose="02020603050405020304" pitchFamily="18" charset="0"/>
                <a:cs typeface="Times New Roman" panose="02020603050405020304" pitchFamily="18" charset="0"/>
              </a:rPr>
              <a:t>	          </a:t>
            </a:r>
            <a:r>
              <a:rPr lang="en-US" sz="2800" b="1" dirty="0" smtClean="0">
                <a:latin typeface="Times New Roman" panose="02020603050405020304" pitchFamily="18" charset="0"/>
                <a:cs typeface="Times New Roman" panose="02020603050405020304" pitchFamily="18" charset="0"/>
              </a:rPr>
              <a:t>2</a:t>
            </a:r>
            <a:r>
              <a:rPr lang="en-US" sz="2800" dirty="0" smtClean="0">
                <a:latin typeface="Times New Roman" panose="02020603050405020304" pitchFamily="18" charset="0"/>
                <a:cs typeface="Times New Roman" panose="02020603050405020304" pitchFamily="18" charset="0"/>
              </a:rPr>
              <a:t>	</a:t>
            </a:r>
            <a:r>
              <a:rPr lang="en-US" sz="2800" b="1" dirty="0" smtClean="0">
                <a:latin typeface="Times New Roman" panose="02020603050405020304" pitchFamily="18" charset="0"/>
                <a:cs typeface="Times New Roman" panose="02020603050405020304" pitchFamily="18" charset="0"/>
              </a:rPr>
              <a:t>1</a:t>
            </a:r>
            <a:r>
              <a:rPr lang="en-US" sz="2800" dirty="0" smtClean="0">
                <a:latin typeface="Times New Roman" panose="02020603050405020304" pitchFamily="18" charset="0"/>
                <a:cs typeface="Times New Roman" panose="02020603050405020304" pitchFamily="18" charset="0"/>
              </a:rPr>
              <a:t>	</a:t>
            </a:r>
            <a:r>
              <a:rPr lang="en-US" sz="2800" b="1" dirty="0" smtClean="0">
                <a:latin typeface="Times New Roman" panose="02020603050405020304" pitchFamily="18" charset="0"/>
                <a:cs typeface="Times New Roman" panose="02020603050405020304" pitchFamily="18" charset="0"/>
              </a:rPr>
              <a:t>0</a:t>
            </a:r>
            <a:endParaRPr lang="en-US" sz="2800"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 </a:t>
            </a:r>
          </a:p>
          <a:p>
            <a:r>
              <a:rPr lang="en-US" dirty="0" smtClean="0">
                <a:latin typeface="Times New Roman" panose="02020603050405020304" pitchFamily="18" charset="0"/>
                <a:cs typeface="Times New Roman" panose="02020603050405020304" pitchFamily="18" charset="0"/>
              </a:rPr>
              <a:t> </a:t>
            </a:r>
          </a:p>
          <a:p>
            <a:r>
              <a:rPr lang="en-US" sz="2400" b="1" dirty="0" smtClean="0">
                <a:latin typeface="Times New Roman" panose="02020603050405020304" pitchFamily="18" charset="0"/>
                <a:cs typeface="Times New Roman" panose="02020603050405020304" pitchFamily="18" charset="0"/>
              </a:rPr>
              <a:t>P1.31    P1.30	   P1.29	………           P1.03</a:t>
            </a:r>
            <a:r>
              <a:rPr lang="en-US" sz="2400" b="1" dirty="0">
                <a:latin typeface="Times New Roman" panose="02020603050405020304" pitchFamily="18" charset="0"/>
                <a:cs typeface="Times New Roman" panose="02020603050405020304" pitchFamily="18" charset="0"/>
              </a:rPr>
              <a:t> </a:t>
            </a:r>
            <a:r>
              <a:rPr lang="en-US" sz="2400" b="1" dirty="0" smtClean="0">
                <a:latin typeface="Times New Roman" panose="02020603050405020304" pitchFamily="18" charset="0"/>
                <a:cs typeface="Times New Roman" panose="02020603050405020304" pitchFamily="18" charset="0"/>
              </a:rPr>
              <a:t>     P1.02</a:t>
            </a:r>
            <a:r>
              <a:rPr lang="en-US" sz="2400" b="1" dirty="0">
                <a:latin typeface="Times New Roman" panose="02020603050405020304" pitchFamily="18" charset="0"/>
                <a:cs typeface="Times New Roman" panose="02020603050405020304" pitchFamily="18" charset="0"/>
              </a:rPr>
              <a:t> </a:t>
            </a:r>
            <a:r>
              <a:rPr lang="en-US" sz="2400" b="1" dirty="0" smtClean="0">
                <a:latin typeface="Times New Roman" panose="02020603050405020304" pitchFamily="18" charset="0"/>
                <a:cs typeface="Times New Roman" panose="02020603050405020304" pitchFamily="18" charset="0"/>
              </a:rPr>
              <a:t>     P1.01	P1.0</a:t>
            </a:r>
          </a:p>
          <a:p>
            <a:r>
              <a:rPr lang="en-US" dirty="0" smtClean="0">
                <a:latin typeface="Times New Roman" panose="02020603050405020304" pitchFamily="18" charset="0"/>
                <a:cs typeface="Times New Roman" panose="02020603050405020304" pitchFamily="18" charset="0"/>
              </a:rPr>
              <a:t> </a:t>
            </a:r>
          </a:p>
          <a:p>
            <a:r>
              <a:rPr lang="en-US" dirty="0" smtClean="0">
                <a:latin typeface="Times New Roman" panose="02020603050405020304" pitchFamily="18" charset="0"/>
                <a:cs typeface="Times New Roman" panose="02020603050405020304" pitchFamily="18" charset="0"/>
              </a:rPr>
              <a:t>IODIR 1 = 1            Output</a:t>
            </a:r>
          </a:p>
          <a:p>
            <a:r>
              <a:rPr lang="en-US" dirty="0" smtClean="0">
                <a:latin typeface="Times New Roman" panose="02020603050405020304" pitchFamily="18" charset="0"/>
                <a:cs typeface="Times New Roman" panose="02020603050405020304" pitchFamily="18" charset="0"/>
              </a:rPr>
              <a:t>IODIR 1 = 0 	     Input</a:t>
            </a:r>
          </a:p>
          <a:p>
            <a:pPr hangingPunct="0"/>
            <a:endParaRPr lang="en-US" dirty="0" smtClean="0">
              <a:latin typeface="Times New Roman" panose="02020603050405020304" pitchFamily="18" charset="0"/>
              <a:cs typeface="Times New Roman" panose="02020603050405020304" pitchFamily="18" charset="0"/>
            </a:endParaRPr>
          </a:p>
          <a:p>
            <a:endParaRPr lang="en-US" dirty="0"/>
          </a:p>
        </p:txBody>
      </p:sp>
      <p:pic>
        <p:nvPicPr>
          <p:cNvPr id="4" name="Picture 3"/>
          <p:cNvPicPr/>
          <p:nvPr/>
        </p:nvPicPr>
        <p:blipFill>
          <a:blip r:embed="rId2" cstate="print"/>
          <a:srcRect/>
          <a:stretch>
            <a:fillRect/>
          </a:stretch>
        </p:blipFill>
        <p:spPr bwMode="auto">
          <a:xfrm>
            <a:off x="914400" y="2899522"/>
            <a:ext cx="381000" cy="681878"/>
          </a:xfrm>
          <a:prstGeom prst="rect">
            <a:avLst/>
          </a:prstGeom>
          <a:noFill/>
        </p:spPr>
      </p:pic>
      <p:pic>
        <p:nvPicPr>
          <p:cNvPr id="5" name="Picture 4"/>
          <p:cNvPicPr/>
          <p:nvPr/>
        </p:nvPicPr>
        <p:blipFill>
          <a:blip r:embed="rId2" cstate="print"/>
          <a:srcRect/>
          <a:stretch>
            <a:fillRect/>
          </a:stretch>
        </p:blipFill>
        <p:spPr bwMode="auto">
          <a:xfrm>
            <a:off x="1806666" y="2907008"/>
            <a:ext cx="306614" cy="674392"/>
          </a:xfrm>
          <a:prstGeom prst="rect">
            <a:avLst/>
          </a:prstGeom>
          <a:noFill/>
        </p:spPr>
      </p:pic>
      <p:pic>
        <p:nvPicPr>
          <p:cNvPr id="6" name="Picture 5"/>
          <p:cNvPicPr/>
          <p:nvPr/>
        </p:nvPicPr>
        <p:blipFill>
          <a:blip r:embed="rId2" cstate="print"/>
          <a:srcRect/>
          <a:stretch>
            <a:fillRect/>
          </a:stretch>
        </p:blipFill>
        <p:spPr bwMode="auto">
          <a:xfrm>
            <a:off x="2743200" y="2899524"/>
            <a:ext cx="338546" cy="681876"/>
          </a:xfrm>
          <a:prstGeom prst="rect">
            <a:avLst/>
          </a:prstGeom>
          <a:noFill/>
        </p:spPr>
      </p:pic>
      <p:pic>
        <p:nvPicPr>
          <p:cNvPr id="7" name="Picture 6"/>
          <p:cNvPicPr/>
          <p:nvPr/>
        </p:nvPicPr>
        <p:blipFill>
          <a:blip r:embed="rId2" cstate="print"/>
          <a:srcRect/>
          <a:stretch>
            <a:fillRect/>
          </a:stretch>
        </p:blipFill>
        <p:spPr bwMode="auto">
          <a:xfrm>
            <a:off x="4757150" y="2790505"/>
            <a:ext cx="380087" cy="714240"/>
          </a:xfrm>
          <a:prstGeom prst="rect">
            <a:avLst/>
          </a:prstGeom>
          <a:noFill/>
        </p:spPr>
      </p:pic>
      <p:pic>
        <p:nvPicPr>
          <p:cNvPr id="8" name="Picture 7"/>
          <p:cNvPicPr/>
          <p:nvPr/>
        </p:nvPicPr>
        <p:blipFill>
          <a:blip r:embed="rId2" cstate="print"/>
          <a:srcRect/>
          <a:stretch>
            <a:fillRect/>
          </a:stretch>
        </p:blipFill>
        <p:spPr bwMode="auto">
          <a:xfrm>
            <a:off x="5815330" y="2790505"/>
            <a:ext cx="356870" cy="790895"/>
          </a:xfrm>
          <a:prstGeom prst="rect">
            <a:avLst/>
          </a:prstGeom>
          <a:noFill/>
        </p:spPr>
      </p:pic>
      <p:pic>
        <p:nvPicPr>
          <p:cNvPr id="9" name="Picture 8"/>
          <p:cNvPicPr/>
          <p:nvPr/>
        </p:nvPicPr>
        <p:blipFill>
          <a:blip r:embed="rId2" cstate="print"/>
          <a:srcRect/>
          <a:stretch>
            <a:fillRect/>
          </a:stretch>
        </p:blipFill>
        <p:spPr bwMode="auto">
          <a:xfrm>
            <a:off x="6910616" y="2790505"/>
            <a:ext cx="252184" cy="692843"/>
          </a:xfrm>
          <a:prstGeom prst="rect">
            <a:avLst/>
          </a:prstGeom>
          <a:noFill/>
        </p:spPr>
      </p:pic>
      <p:pic>
        <p:nvPicPr>
          <p:cNvPr id="10" name="Picture 9"/>
          <p:cNvPicPr/>
          <p:nvPr/>
        </p:nvPicPr>
        <p:blipFill>
          <a:blip r:embed="rId2" cstate="print"/>
          <a:srcRect/>
          <a:stretch>
            <a:fillRect/>
          </a:stretch>
        </p:blipFill>
        <p:spPr bwMode="auto">
          <a:xfrm>
            <a:off x="5544820" y="4100512"/>
            <a:ext cx="45719" cy="485775"/>
          </a:xfrm>
          <a:prstGeom prst="rect">
            <a:avLst/>
          </a:prstGeom>
          <a:noFill/>
        </p:spPr>
      </p:pic>
      <p:pic>
        <p:nvPicPr>
          <p:cNvPr id="11" name="Picture 10"/>
          <p:cNvPicPr/>
          <p:nvPr/>
        </p:nvPicPr>
        <p:blipFill>
          <a:blip r:embed="rId2" cstate="print"/>
          <a:srcRect/>
          <a:stretch>
            <a:fillRect/>
          </a:stretch>
        </p:blipFill>
        <p:spPr bwMode="auto">
          <a:xfrm>
            <a:off x="7823746" y="2766016"/>
            <a:ext cx="287745" cy="789984"/>
          </a:xfrm>
          <a:prstGeom prst="rect">
            <a:avLst/>
          </a:prstGeom>
          <a:noFill/>
        </p:spPr>
      </p:pic>
      <p:sp>
        <p:nvSpPr>
          <p:cNvPr id="12" name="Right Arrow 11"/>
          <p:cNvSpPr/>
          <p:nvPr/>
        </p:nvSpPr>
        <p:spPr>
          <a:xfrm>
            <a:off x="2763520" y="4551454"/>
            <a:ext cx="7620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p:cNvSpPr/>
          <p:nvPr/>
        </p:nvSpPr>
        <p:spPr>
          <a:xfrm>
            <a:off x="2743200" y="4945994"/>
            <a:ext cx="7620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2971800" y="0"/>
            <a:ext cx="3914854" cy="769441"/>
          </a:xfrm>
          <a:prstGeom prst="rect">
            <a:avLst/>
          </a:prstGeom>
          <a:solidFill>
            <a:schemeClr val="bg1"/>
          </a:solidFill>
        </p:spPr>
        <p:txBody>
          <a:bodyPr wrap="none">
            <a:spAutoFit/>
          </a:bodyPr>
          <a:lstStyle/>
          <a:p>
            <a:r>
              <a:rPr lang="en-US" sz="4400" b="1" dirty="0" smtClean="0">
                <a:latin typeface="Times New Roman" panose="02020603050405020304" pitchFamily="18" charset="0"/>
                <a:cs typeface="Times New Roman" panose="02020603050405020304" pitchFamily="18" charset="0"/>
              </a:rPr>
              <a:t>IODIR Cont….</a:t>
            </a:r>
            <a:endParaRPr lang="en-US" sz="44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ChangeArrowheads="1"/>
          </p:cNvSpPr>
          <p:nvPr/>
        </p:nvSpPr>
        <p:spPr bwMode="auto">
          <a:xfrm>
            <a:off x="152400" y="196776"/>
            <a:ext cx="8534400" cy="830997"/>
          </a:xfrm>
          <a:prstGeom prst="rect">
            <a:avLst/>
          </a:prstGeom>
          <a:solidFill>
            <a:schemeClr val="bg1"/>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IOSET 0 / IOSET 1:</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In order to SET the particular bit of port 0 &amp; 1 </a:t>
            </a:r>
            <a:r>
              <a:rPr kumimoji="0" lang="en-US" sz="20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IOSET </a:t>
            </a:r>
            <a:r>
              <a:rPr kumimoji="0" lang="en-US" sz="20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Register are used</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41986" name="Picture 2"/>
          <p:cNvPicPr>
            <a:picLocks noGrp="1" noChangeAspect="1" noChangeArrowheads="1"/>
          </p:cNvPicPr>
          <p:nvPr>
            <p:ph idx="1"/>
          </p:nvPr>
        </p:nvPicPr>
        <p:blipFill>
          <a:blip r:embed="rId2" cstate="print"/>
          <a:srcRect/>
          <a:stretch>
            <a:fillRect/>
          </a:stretch>
        </p:blipFill>
        <p:spPr bwMode="auto">
          <a:xfrm>
            <a:off x="0" y="1219200"/>
            <a:ext cx="9067800" cy="1697256"/>
          </a:xfrm>
          <a:prstGeom prst="rect">
            <a:avLst/>
          </a:prstGeom>
          <a:noFill/>
          <a:ln w="9525">
            <a:noFill/>
            <a:miter lim="800000"/>
            <a:headEnd/>
            <a:tailEnd/>
          </a:ln>
          <a:effectLst/>
        </p:spPr>
      </p:pic>
      <p:sp>
        <p:nvSpPr>
          <p:cNvPr id="41988" name="Rectangle 4"/>
          <p:cNvSpPr>
            <a:spLocks noChangeArrowheads="1"/>
          </p:cNvSpPr>
          <p:nvPr/>
        </p:nvSpPr>
        <p:spPr bwMode="auto">
          <a:xfrm>
            <a:off x="152400" y="3022878"/>
            <a:ext cx="8991600" cy="861774"/>
          </a:xfrm>
          <a:prstGeom prst="rect">
            <a:avLst/>
          </a:prstGeom>
          <a:solidFill>
            <a:schemeClr val="bg1"/>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US" sz="2800" b="1" dirty="0">
                <a:latin typeface="Times New Roman" pitchFamily="18" charset="0"/>
                <a:ea typeface="Times New Roman" pitchFamily="18" charset="0"/>
                <a:cs typeface="Times New Roman" pitchFamily="18" charset="0"/>
              </a:rPr>
              <a:t>IOCLR 0 /IOCLR 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In order to CLR the particular bit of port 0 &amp; 1 </a:t>
            </a:r>
            <a:r>
              <a:rPr kumimoji="0" lang="en-US" sz="22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IOCLR</a:t>
            </a:r>
            <a:r>
              <a:rPr kumimoji="0" lang="en-US" sz="22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Register are used</a:t>
            </a:r>
            <a:endPar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
        <p:nvSpPr>
          <p:cNvPr id="41989" name="Rectangle 5"/>
          <p:cNvSpPr>
            <a:spLocks noChangeArrowheads="1"/>
          </p:cNvSpPr>
          <p:nvPr/>
        </p:nvSpPr>
        <p:spPr bwMode="auto">
          <a:xfrm>
            <a:off x="1219200" y="5715000"/>
            <a:ext cx="7543800" cy="646331"/>
          </a:xfrm>
          <a:prstGeom prst="rect">
            <a:avLst/>
          </a:prstGeom>
          <a:solidFill>
            <a:schemeClr val="bg1"/>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IOCLR 0.0 = 1  		Will be cleared (0V)</a:t>
            </a:r>
            <a:endParaRPr kumimoji="0" lang="en-US" sz="1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IOCLR 0.0 = 0  		P0.0 No Change in previous logic</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pic>
        <p:nvPicPr>
          <p:cNvPr id="41990" name="Picture 6"/>
          <p:cNvPicPr>
            <a:picLocks noChangeAspect="1" noChangeArrowheads="1"/>
          </p:cNvPicPr>
          <p:nvPr/>
        </p:nvPicPr>
        <p:blipFill>
          <a:blip r:embed="rId3" cstate="print"/>
          <a:srcRect/>
          <a:stretch>
            <a:fillRect/>
          </a:stretch>
        </p:blipFill>
        <p:spPr bwMode="auto">
          <a:xfrm>
            <a:off x="114300" y="4116152"/>
            <a:ext cx="8915400" cy="1524000"/>
          </a:xfrm>
          <a:prstGeom prst="rect">
            <a:avLst/>
          </a:prstGeom>
          <a:noFill/>
          <a:ln w="9525">
            <a:noFill/>
            <a:miter lim="800000"/>
            <a:headEnd/>
            <a:tailEnd/>
          </a:ln>
          <a:effectLst/>
        </p:spPr>
      </p:pic>
      <p:sp>
        <p:nvSpPr>
          <p:cNvPr id="12" name="Right Arrow 11"/>
          <p:cNvSpPr/>
          <p:nvPr/>
        </p:nvSpPr>
        <p:spPr>
          <a:xfrm>
            <a:off x="3048000" y="6019800"/>
            <a:ext cx="7620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p:cNvSpPr/>
          <p:nvPr/>
        </p:nvSpPr>
        <p:spPr>
          <a:xfrm>
            <a:off x="3048000" y="6324600"/>
            <a:ext cx="7620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886" y="427604"/>
            <a:ext cx="9144000" cy="6172200"/>
          </a:xfrm>
          <a:solidFill>
            <a:schemeClr val="bg1"/>
          </a:solidFill>
        </p:spPr>
        <p:txBody>
          <a:bodyPr>
            <a:noAutofit/>
          </a:bodyPr>
          <a:lstStyle/>
          <a:p>
            <a:pPr marL="0" indent="0" algn="just">
              <a:buNone/>
            </a:pPr>
            <a:r>
              <a:rPr lang="en-US" sz="2400" b="1" dirty="0" smtClean="0">
                <a:latin typeface="Times New Roman" panose="02020603050405020304" pitchFamily="18" charset="0"/>
                <a:cs typeface="Times New Roman" panose="02020603050405020304" pitchFamily="18" charset="0"/>
              </a:rPr>
              <a:t>Features of Timers </a:t>
            </a:r>
          </a:p>
          <a:p>
            <a:pPr lvl="0" algn="just" hangingPunct="0"/>
            <a:r>
              <a:rPr lang="en-US" sz="1800" dirty="0" smtClean="0">
                <a:latin typeface="Times New Roman" panose="02020603050405020304" pitchFamily="18" charset="0"/>
                <a:cs typeface="Times New Roman" panose="02020603050405020304" pitchFamily="18" charset="0"/>
              </a:rPr>
              <a:t>A 32-bit Timer/Counter with a programmable 32-bit Prescaler. </a:t>
            </a:r>
          </a:p>
          <a:p>
            <a:pPr lvl="0" algn="just" hangingPunct="0"/>
            <a:r>
              <a:rPr lang="en-US" sz="1800" dirty="0" smtClean="0">
                <a:latin typeface="Times New Roman" panose="02020603050405020304" pitchFamily="18" charset="0"/>
                <a:cs typeface="Times New Roman" panose="02020603050405020304" pitchFamily="18" charset="0"/>
              </a:rPr>
              <a:t>Counter or Timer operation </a:t>
            </a:r>
          </a:p>
          <a:p>
            <a:pPr lvl="0" algn="just" hangingPunct="0"/>
            <a:r>
              <a:rPr lang="en-US" sz="1800" dirty="0" smtClean="0">
                <a:latin typeface="Times New Roman" panose="02020603050405020304" pitchFamily="18" charset="0"/>
                <a:cs typeface="Times New Roman" panose="02020603050405020304" pitchFamily="18" charset="0"/>
              </a:rPr>
              <a:t>Up to four 32-bit capture channels per timer, that can take a snapshot of the timer value when an input signal transitions. A capture event may also optionally generate an interrupt. </a:t>
            </a:r>
          </a:p>
          <a:p>
            <a:pPr lvl="0" algn="just" hangingPunct="0"/>
            <a:r>
              <a:rPr lang="en-US" sz="1800" dirty="0" smtClean="0">
                <a:latin typeface="Times New Roman" panose="02020603050405020304" pitchFamily="18" charset="0"/>
                <a:cs typeface="Times New Roman" panose="02020603050405020304" pitchFamily="18" charset="0"/>
              </a:rPr>
              <a:t>Four 32-bit match registers that allow: </a:t>
            </a:r>
          </a:p>
          <a:p>
            <a:pPr lvl="1" algn="just" hangingPunct="0"/>
            <a:r>
              <a:rPr lang="en-US" sz="1800" dirty="0" smtClean="0">
                <a:latin typeface="Times New Roman" panose="02020603050405020304" pitchFamily="18" charset="0"/>
                <a:cs typeface="Times New Roman" panose="02020603050405020304" pitchFamily="18" charset="0"/>
              </a:rPr>
              <a:t>Continuous operation with optional interrupt generation on match. </a:t>
            </a:r>
          </a:p>
          <a:p>
            <a:pPr lvl="1" algn="just" hangingPunct="0"/>
            <a:r>
              <a:rPr lang="en-US" sz="1800" dirty="0" smtClean="0">
                <a:latin typeface="Times New Roman" panose="02020603050405020304" pitchFamily="18" charset="0"/>
                <a:cs typeface="Times New Roman" panose="02020603050405020304" pitchFamily="18" charset="0"/>
              </a:rPr>
              <a:t>Stop timer on match with optional interrupt generation. </a:t>
            </a:r>
          </a:p>
          <a:p>
            <a:pPr lvl="1" algn="just" hangingPunct="0"/>
            <a:r>
              <a:rPr lang="en-US" sz="1800" dirty="0" smtClean="0">
                <a:latin typeface="Times New Roman" panose="02020603050405020304" pitchFamily="18" charset="0"/>
                <a:cs typeface="Times New Roman" panose="02020603050405020304" pitchFamily="18" charset="0"/>
              </a:rPr>
              <a:t>Reset timer on match with optional interrupt generation. </a:t>
            </a:r>
          </a:p>
          <a:p>
            <a:pPr lvl="0" algn="just" hangingPunct="0"/>
            <a:r>
              <a:rPr lang="en-US" sz="1800" dirty="0" smtClean="0">
                <a:latin typeface="Times New Roman" panose="02020603050405020304" pitchFamily="18" charset="0"/>
                <a:cs typeface="Times New Roman" panose="02020603050405020304" pitchFamily="18" charset="0"/>
              </a:rPr>
              <a:t>Up to four external outputs corresponding to match registers, with the following capabilities: </a:t>
            </a:r>
          </a:p>
          <a:p>
            <a:pPr lvl="1" algn="just" hangingPunct="0"/>
            <a:r>
              <a:rPr lang="en-US" sz="1800" dirty="0" smtClean="0">
                <a:latin typeface="Times New Roman" panose="02020603050405020304" pitchFamily="18" charset="0"/>
                <a:cs typeface="Times New Roman" panose="02020603050405020304" pitchFamily="18" charset="0"/>
              </a:rPr>
              <a:t>Set low on match. </a:t>
            </a:r>
          </a:p>
          <a:p>
            <a:pPr lvl="1" algn="just" hangingPunct="0"/>
            <a:r>
              <a:rPr lang="en-US" sz="1800" dirty="0" smtClean="0">
                <a:latin typeface="Times New Roman" panose="02020603050405020304" pitchFamily="18" charset="0"/>
                <a:cs typeface="Times New Roman" panose="02020603050405020304" pitchFamily="18" charset="0"/>
              </a:rPr>
              <a:t>Set high on match. </a:t>
            </a:r>
          </a:p>
          <a:p>
            <a:pPr lvl="1" algn="just" hangingPunct="0"/>
            <a:r>
              <a:rPr lang="en-US" sz="1800" dirty="0" smtClean="0">
                <a:latin typeface="Times New Roman" panose="02020603050405020304" pitchFamily="18" charset="0"/>
                <a:cs typeface="Times New Roman" panose="02020603050405020304" pitchFamily="18" charset="0"/>
              </a:rPr>
              <a:t>Toggle on match. </a:t>
            </a:r>
          </a:p>
          <a:p>
            <a:pPr lvl="1" algn="just" hangingPunct="0"/>
            <a:r>
              <a:rPr lang="en-US" sz="1800" dirty="0" smtClean="0">
                <a:latin typeface="Times New Roman" panose="02020603050405020304" pitchFamily="18" charset="0"/>
                <a:cs typeface="Times New Roman" panose="02020603050405020304" pitchFamily="18" charset="0"/>
              </a:rPr>
              <a:t>Do nothing on match </a:t>
            </a:r>
          </a:p>
          <a:p>
            <a:pPr marL="0" indent="0" algn="just">
              <a:buNone/>
            </a:pPr>
            <a:r>
              <a:rPr lang="en-US" sz="2400" b="1" dirty="0" smtClean="0">
                <a:latin typeface="Times New Roman" panose="02020603050405020304" pitchFamily="18" charset="0"/>
                <a:cs typeface="Times New Roman" panose="02020603050405020304" pitchFamily="18" charset="0"/>
              </a:rPr>
              <a:t>Applications of Timers</a:t>
            </a:r>
            <a:r>
              <a:rPr lang="en-US" sz="2400" dirty="0" smtClean="0">
                <a:latin typeface="Times New Roman" panose="02020603050405020304" pitchFamily="18" charset="0"/>
                <a:cs typeface="Times New Roman" panose="02020603050405020304" pitchFamily="18" charset="0"/>
              </a:rPr>
              <a:t>:</a:t>
            </a:r>
          </a:p>
          <a:p>
            <a:pPr algn="just">
              <a:buNone/>
            </a:pPr>
            <a:r>
              <a:rPr lang="en-US" sz="1600" dirty="0" smtClean="0">
                <a:latin typeface="Times New Roman" panose="02020603050405020304" pitchFamily="18" charset="0"/>
                <a:cs typeface="Times New Roman" panose="02020603050405020304" pitchFamily="18" charset="0"/>
              </a:rPr>
              <a:t> 		</a:t>
            </a:r>
            <a:r>
              <a:rPr lang="en-US" sz="1900" dirty="0" smtClean="0">
                <a:latin typeface="Times New Roman" panose="02020603050405020304" pitchFamily="18" charset="0"/>
                <a:cs typeface="Times New Roman" panose="02020603050405020304" pitchFamily="18" charset="0"/>
              </a:rPr>
              <a:t>Interval Timer for counting internal events.  </a:t>
            </a:r>
          </a:p>
          <a:p>
            <a:pPr lvl="0" algn="just" hangingPunct="0">
              <a:buNone/>
            </a:pPr>
            <a:r>
              <a:rPr lang="en-US" sz="1900" dirty="0" smtClean="0">
                <a:latin typeface="Times New Roman" panose="02020603050405020304" pitchFamily="18" charset="0"/>
                <a:cs typeface="Times New Roman" panose="02020603050405020304" pitchFamily="18" charset="0"/>
              </a:rPr>
              <a:t>		Pulse Width Demodulator via Capture inputs.  </a:t>
            </a:r>
          </a:p>
          <a:p>
            <a:pPr lvl="0" algn="just" hangingPunct="0">
              <a:buNone/>
            </a:pPr>
            <a:r>
              <a:rPr lang="en-US" sz="1900" dirty="0" smtClean="0">
                <a:latin typeface="Times New Roman" panose="02020603050405020304" pitchFamily="18" charset="0"/>
                <a:cs typeface="Times New Roman" panose="02020603050405020304" pitchFamily="18" charset="0"/>
              </a:rPr>
              <a:t>		Free running timer. </a:t>
            </a:r>
          </a:p>
          <a:p>
            <a:pPr>
              <a:buNone/>
            </a:pPr>
            <a:endParaRPr lang="en-US" sz="1400" b="1" dirty="0" smtClean="0"/>
          </a:p>
          <a:p>
            <a:endParaRPr lang="en-US" sz="1600" b="1" dirty="0"/>
          </a:p>
        </p:txBody>
      </p:sp>
      <p:sp>
        <p:nvSpPr>
          <p:cNvPr id="2" name="Title 1"/>
          <p:cNvSpPr>
            <a:spLocks noGrp="1"/>
          </p:cNvSpPr>
          <p:nvPr>
            <p:ph type="title"/>
          </p:nvPr>
        </p:nvSpPr>
        <p:spPr>
          <a:xfrm>
            <a:off x="457200" y="0"/>
            <a:ext cx="8229600" cy="639762"/>
          </a:xfrm>
        </p:spPr>
        <p:txBody>
          <a:bodyPr>
            <a:normAutofit fontScale="90000"/>
          </a:bodyPr>
          <a:lstStyle/>
          <a:p>
            <a:r>
              <a:rPr lang="en-US" b="1" dirty="0" smtClean="0"/>
              <a:t/>
            </a:r>
            <a:br>
              <a:rPr lang="en-US" b="1" dirty="0" smtClean="0"/>
            </a:br>
            <a:r>
              <a:rPr lang="en-US" b="1" dirty="0" smtClean="0">
                <a:latin typeface="Times New Roman" panose="02020603050405020304" pitchFamily="18" charset="0"/>
                <a:cs typeface="Times New Roman" panose="02020603050405020304" pitchFamily="18" charset="0"/>
              </a:rPr>
              <a:t>Timer</a:t>
            </a: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92162"/>
          </a:xfrm>
          <a:solidFill>
            <a:schemeClr val="bg1"/>
          </a:solidFill>
        </p:spPr>
        <p:txBody>
          <a:bodyPr>
            <a:normAutofit/>
          </a:bodyPr>
          <a:lstStyle/>
          <a:p>
            <a:r>
              <a:rPr lang="en-US" sz="3600" b="1" dirty="0" smtClean="0">
                <a:latin typeface="Times New Roman" panose="02020603050405020304" pitchFamily="18" charset="0"/>
                <a:cs typeface="Times New Roman" panose="02020603050405020304" pitchFamily="18" charset="0"/>
              </a:rPr>
              <a:t>Block diagram of timer</a:t>
            </a:r>
            <a:endParaRPr lang="en-US" sz="3600" b="1"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Prof. S. A. Shaikh</a:t>
            </a:r>
            <a:endParaRPr lang="en-US"/>
          </a:p>
        </p:txBody>
      </p:sp>
      <p:pic>
        <p:nvPicPr>
          <p:cNvPr id="5" name="Shape 77"/>
          <p:cNvPicPr preferRelativeResize="0">
            <a:picLocks noGrp="1"/>
          </p:cNvPicPr>
          <p:nvPr>
            <p:ph idx="1"/>
          </p:nvPr>
        </p:nvPicPr>
        <p:blipFill>
          <a:blip r:embed="rId2">
            <a:alphaModFix/>
          </a:blip>
          <a:stretch>
            <a:fillRect/>
          </a:stretch>
        </p:blipFill>
        <p:spPr>
          <a:xfrm>
            <a:off x="457200" y="1066800"/>
            <a:ext cx="8305799" cy="5562600"/>
          </a:xfrm>
          <a:prstGeom prst="rect">
            <a:avLst/>
          </a:prstGeom>
          <a:noFill/>
          <a:ln>
            <a:noFill/>
          </a:ln>
        </p:spPr>
      </p:pic>
    </p:spTree>
    <p:extLst>
      <p:ext uri="{BB962C8B-B14F-4D97-AF65-F5344CB8AC3E}">
        <p14:creationId xmlns:p14="http://schemas.microsoft.com/office/powerpoint/2010/main" val="311688125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a:solidFill>
            <a:schemeClr val="bg1"/>
          </a:solidFill>
        </p:spPr>
        <p:txBody>
          <a:bodyPr>
            <a:normAutofit fontScale="90000"/>
          </a:bodyPr>
          <a:lstStyle/>
          <a:p>
            <a:r>
              <a:rPr lang="en-US" b="1" dirty="0" smtClean="0">
                <a:latin typeface="Times New Roman" panose="02020603050405020304" pitchFamily="18" charset="0"/>
                <a:cs typeface="Times New Roman" panose="02020603050405020304" pitchFamily="18" charset="0"/>
              </a:rPr>
              <a:t>Timer </a:t>
            </a:r>
            <a:r>
              <a:rPr lang="en-US" sz="3200" dirty="0" smtClean="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Cont….</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685800"/>
            <a:ext cx="8915400" cy="6172200"/>
          </a:xfrm>
          <a:solidFill>
            <a:schemeClr val="bg1"/>
          </a:solidFill>
        </p:spPr>
        <p:txBody>
          <a:bodyPr>
            <a:normAutofit fontScale="77500" lnSpcReduction="20000"/>
          </a:bodyPr>
          <a:lstStyle/>
          <a:p>
            <a:pPr marL="0" indent="0">
              <a:buNone/>
            </a:pPr>
            <a:r>
              <a:rPr lang="en-US" sz="5100" b="1" dirty="0" smtClean="0">
                <a:latin typeface="Times New Roman" panose="02020603050405020304" pitchFamily="18" charset="0"/>
                <a:cs typeface="Times New Roman" panose="02020603050405020304" pitchFamily="18" charset="0"/>
              </a:rPr>
              <a:t>Timer Basic:</a:t>
            </a:r>
            <a:endParaRPr lang="en-US" dirty="0" smtClean="0">
              <a:latin typeface="Times New Roman" panose="02020603050405020304" pitchFamily="18" charset="0"/>
              <a:cs typeface="Times New Roman" panose="02020603050405020304" pitchFamily="18" charset="0"/>
            </a:endParaRPr>
          </a:p>
          <a:p>
            <a:pPr lvl="0" algn="just" hangingPunct="0"/>
            <a:r>
              <a:rPr lang="en-US" dirty="0" smtClean="0">
                <a:latin typeface="Times New Roman" panose="02020603050405020304" pitchFamily="18" charset="0"/>
                <a:cs typeface="Times New Roman" panose="02020603050405020304" pitchFamily="18" charset="0"/>
              </a:rPr>
              <a:t>LPC2148 comes loaded with two 32-bit-Timer blocks. </a:t>
            </a:r>
          </a:p>
          <a:p>
            <a:pPr lvl="0" algn="just" hangingPunct="0"/>
            <a:r>
              <a:rPr lang="en-US" dirty="0" smtClean="0">
                <a:latin typeface="Times New Roman" panose="02020603050405020304" pitchFamily="18" charset="0"/>
                <a:cs typeface="Times New Roman" panose="02020603050405020304" pitchFamily="18" charset="0"/>
              </a:rPr>
              <a:t>Each Timer block can be used as a „Timer‟ (like for e.g. triggering an interrupt every „t‟ microseconds) or as a „Counter‟ and can be also used to demodulate PWM signals given as input. </a:t>
            </a:r>
          </a:p>
          <a:p>
            <a:pPr lvl="0" algn="just" hangingPunct="0"/>
            <a:r>
              <a:rPr lang="en-US" dirty="0" smtClean="0">
                <a:latin typeface="Times New Roman" panose="02020603050405020304" pitchFamily="18" charset="0"/>
                <a:cs typeface="Times New Roman" panose="02020603050405020304" pitchFamily="18" charset="0"/>
              </a:rPr>
              <a:t>A timer has a Timer Counter(TC) and Prescale Register(PR) associated with it. When Timer is Reset and Enabled TC is set to 0 and incremented by 1 every </a:t>
            </a:r>
          </a:p>
          <a:p>
            <a:pPr algn="just" hangingPunct="0"/>
            <a:r>
              <a:rPr lang="en-US" dirty="0" smtClean="0">
                <a:latin typeface="Times New Roman" panose="02020603050405020304" pitchFamily="18" charset="0"/>
                <a:cs typeface="Times New Roman" panose="02020603050405020304" pitchFamily="18" charset="0"/>
              </a:rPr>
              <a:t>„PR+1′ clock cycles. When it reaches its maximum value it gets reset to 0 and hence restarts counting. </a:t>
            </a:r>
          </a:p>
          <a:p>
            <a:pPr lvl="0" algn="just" hangingPunct="0"/>
            <a:r>
              <a:rPr lang="en-US" dirty="0" smtClean="0">
                <a:latin typeface="Times New Roman" panose="02020603050405020304" pitchFamily="18" charset="0"/>
                <a:cs typeface="Times New Roman" panose="02020603050405020304" pitchFamily="18" charset="0"/>
              </a:rPr>
              <a:t>Prescale Register is used to define the resolution of the timer. </a:t>
            </a:r>
          </a:p>
          <a:p>
            <a:pPr lvl="0" algn="just" hangingPunct="0"/>
            <a:r>
              <a:rPr lang="en-US" dirty="0" smtClean="0">
                <a:latin typeface="Times New Roman" panose="02020603050405020304" pitchFamily="18" charset="0"/>
                <a:cs typeface="Times New Roman" panose="02020603050405020304" pitchFamily="18" charset="0"/>
              </a:rPr>
              <a:t>If PR=0 then TC is incremented every 1 clock cycle of the peripheral clock. </a:t>
            </a:r>
          </a:p>
          <a:p>
            <a:pPr lvl="0" algn="just" hangingPunct="0"/>
            <a:r>
              <a:rPr lang="en-US" dirty="0" smtClean="0">
                <a:latin typeface="Times New Roman" panose="02020603050405020304" pitchFamily="18" charset="0"/>
                <a:cs typeface="Times New Roman" panose="02020603050405020304" pitchFamily="18" charset="0"/>
              </a:rPr>
              <a:t>If PR=1 then TC is incremented every 2 clock cycles of peripheral clock and so on. </a:t>
            </a:r>
          </a:p>
          <a:p>
            <a:pPr lvl="0" algn="just" hangingPunct="0"/>
            <a:r>
              <a:rPr lang="en-US" dirty="0" smtClean="0">
                <a:latin typeface="Times New Roman" panose="02020603050405020304" pitchFamily="18" charset="0"/>
                <a:cs typeface="Times New Roman" panose="02020603050405020304" pitchFamily="18" charset="0"/>
              </a:rPr>
              <a:t>Each Timer has four 32-bit Match Registers and four 32-bit Capture Registers </a:t>
            </a:r>
          </a:p>
          <a:p>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a:solidFill>
            <a:schemeClr val="bg1"/>
          </a:solidFill>
        </p:spPr>
        <p:txBody>
          <a:bodyPr>
            <a:normAutofit fontScale="90000"/>
          </a:bodyPr>
          <a:lstStyle/>
          <a:p>
            <a:r>
              <a:rPr lang="en-US" b="1" dirty="0" smtClean="0">
                <a:latin typeface="Times New Roman" panose="02020603050405020304" pitchFamily="18" charset="0"/>
                <a:cs typeface="Times New Roman" panose="02020603050405020304" pitchFamily="18" charset="0"/>
              </a:rPr>
              <a:t>Timer </a:t>
            </a:r>
            <a:r>
              <a:rPr lang="en-US" sz="3200" dirty="0" smtClean="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Cont….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8600" y="609600"/>
            <a:ext cx="8763000" cy="6248400"/>
          </a:xfrm>
          <a:solidFill>
            <a:schemeClr val="bg1"/>
          </a:solidFill>
        </p:spPr>
        <p:txBody>
          <a:bodyPr>
            <a:normAutofit fontScale="70000" lnSpcReduction="20000"/>
          </a:bodyPr>
          <a:lstStyle/>
          <a:p>
            <a:r>
              <a:rPr lang="en-US" b="1" dirty="0" smtClean="0">
                <a:latin typeface="Times New Roman" panose="02020603050405020304" pitchFamily="18" charset="0"/>
                <a:cs typeface="Times New Roman" panose="02020603050405020304" pitchFamily="18" charset="0"/>
              </a:rPr>
              <a:t>Match Register</a:t>
            </a:r>
            <a:r>
              <a:rPr lang="en-US" b="1" dirty="0">
                <a:latin typeface="Times New Roman" panose="02020603050405020304" pitchFamily="18" charset="0"/>
                <a:cs typeface="Times New Roman" panose="02020603050405020304" pitchFamily="18" charset="0"/>
                <a:sym typeface="Wingdings" pitchFamily="2" charset="2"/>
              </a:rPr>
              <a:t> </a:t>
            </a:r>
            <a:r>
              <a:rPr lang="en-US" b="1" dirty="0" smtClean="0">
                <a:latin typeface="Times New Roman" panose="02020603050405020304" pitchFamily="18" charset="0"/>
                <a:cs typeface="Times New Roman" panose="02020603050405020304" pitchFamily="18" charset="0"/>
                <a:sym typeface="Wingdings" pitchFamily="2" charset="2"/>
              </a:rPr>
              <a:t>(</a:t>
            </a:r>
            <a:r>
              <a:rPr lang="en" b="1" i="1"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T0MR0/T1MR)</a:t>
            </a:r>
            <a:endParaRPr lang="en-US" dirty="0" smtClean="0">
              <a:latin typeface="Times New Roman" panose="02020603050405020304" pitchFamily="18" charset="0"/>
              <a:cs typeface="Times New Roman" panose="02020603050405020304" pitchFamily="18" charset="0"/>
            </a:endParaRPr>
          </a:p>
          <a:p>
            <a:pPr algn="just" hangingPunct="0"/>
            <a:r>
              <a:rPr lang="en-US" dirty="0" smtClean="0">
                <a:latin typeface="Times New Roman" panose="02020603050405020304" pitchFamily="18" charset="0"/>
                <a:cs typeface="Times New Roman" panose="02020603050405020304" pitchFamily="18" charset="0"/>
              </a:rPr>
              <a:t>A Match Register is a Register which contains a specific value set by the user. When the Timer starts – every time after TC is incremented the value in TC is compared with match register. If it matches then it can Reset the Timer or can generate an interrupt as defined by the user. We are only concerned with match registers in this tutorial.</a:t>
            </a:r>
          </a:p>
          <a:p>
            <a:pPr algn="just"/>
            <a:r>
              <a:rPr lang="en-US" dirty="0" smtClean="0">
                <a:latin typeface="Times New Roman" panose="02020603050405020304" pitchFamily="18" charset="0"/>
                <a:cs typeface="Times New Roman" panose="02020603050405020304" pitchFamily="18" charset="0"/>
              </a:rPr>
              <a:t>Match Registers can be used to:</a:t>
            </a:r>
          </a:p>
          <a:p>
            <a:pPr lvl="0" algn="just" hangingPunct="0"/>
            <a:r>
              <a:rPr lang="en-US" dirty="0" smtClean="0">
                <a:latin typeface="Times New Roman" panose="02020603050405020304" pitchFamily="18" charset="0"/>
                <a:cs typeface="Times New Roman" panose="02020603050405020304" pitchFamily="18" charset="0"/>
              </a:rPr>
              <a:t>Stop Timer on Match(</a:t>
            </a:r>
            <a:r>
              <a:rPr lang="en-US" dirty="0" err="1" smtClean="0">
                <a:latin typeface="Times New Roman" panose="02020603050405020304" pitchFamily="18" charset="0"/>
                <a:cs typeface="Times New Roman" panose="02020603050405020304" pitchFamily="18" charset="0"/>
              </a:rPr>
              <a:t>i.e</a:t>
            </a:r>
            <a:r>
              <a:rPr lang="en-US" dirty="0" smtClean="0">
                <a:latin typeface="Times New Roman" panose="02020603050405020304" pitchFamily="18" charset="0"/>
                <a:cs typeface="Times New Roman" panose="02020603050405020304" pitchFamily="18" charset="0"/>
              </a:rPr>
              <a:t> when the value in count register is same as than in Match register) and trigger an optional interrupt.  </a:t>
            </a:r>
          </a:p>
          <a:p>
            <a:pPr lvl="0" algn="just" hangingPunct="0"/>
            <a:r>
              <a:rPr lang="en-US" dirty="0" smtClean="0">
                <a:latin typeface="Times New Roman" panose="02020603050405020304" pitchFamily="18" charset="0"/>
                <a:cs typeface="Times New Roman" panose="02020603050405020304" pitchFamily="18" charset="0"/>
              </a:rPr>
              <a:t>Reset Timer on Match and trigger an optional interrupt. </a:t>
            </a:r>
          </a:p>
          <a:p>
            <a:pPr lvl="0" algn="just" hangingPunct="0"/>
            <a:r>
              <a:rPr lang="en-US" dirty="0" smtClean="0">
                <a:latin typeface="Times New Roman" panose="02020603050405020304" pitchFamily="18" charset="0"/>
                <a:cs typeface="Times New Roman" panose="02020603050405020304" pitchFamily="18" charset="0"/>
              </a:rPr>
              <a:t>To count continuously and trigger an interrupt on match.</a:t>
            </a:r>
          </a:p>
          <a:p>
            <a:pPr algn="just"/>
            <a:r>
              <a:rPr lang="en-US" b="1" dirty="0" smtClean="0">
                <a:latin typeface="Times New Roman" panose="02020603050405020304" pitchFamily="18" charset="0"/>
                <a:cs typeface="Times New Roman" panose="02020603050405020304" pitchFamily="18" charset="0"/>
              </a:rPr>
              <a:t>Capture Registers:</a:t>
            </a:r>
            <a:endParaRPr lang="en-US" dirty="0" smtClean="0">
              <a:latin typeface="Times New Roman" panose="02020603050405020304" pitchFamily="18" charset="0"/>
              <a:cs typeface="Times New Roman" panose="02020603050405020304" pitchFamily="18" charset="0"/>
            </a:endParaRPr>
          </a:p>
          <a:p>
            <a:pPr algn="just" hangingPunct="0"/>
            <a:r>
              <a:rPr lang="en-US" dirty="0" smtClean="0">
                <a:latin typeface="Times New Roman" panose="02020603050405020304" pitchFamily="18" charset="0"/>
                <a:cs typeface="Times New Roman" panose="02020603050405020304" pitchFamily="18" charset="0"/>
              </a:rPr>
              <a:t>As the name suggests it is used to Capture Input signal. When a transition event occurs on a Capture pin , it can be used to copy the value of TC into any of the 4 Capture Register or to generate an Interrupt. Hence these can be also used to demodulated PWM signals. </a:t>
            </a:r>
          </a:p>
          <a:p>
            <a:pPr lvl="0" algn="just" hangingPunct="0"/>
            <a:r>
              <a:rPr lang="en" b="1" i="1"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Timer Match Control Register: </a:t>
            </a:r>
            <a:r>
              <a:rPr lang="en"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The </a:t>
            </a:r>
            <a:r>
              <a:rPr lang="en" dirty="0">
                <a:solidFill>
                  <a:schemeClr val="dk1"/>
                </a:solidFill>
                <a:latin typeface="Times New Roman" panose="02020603050405020304" pitchFamily="18" charset="0"/>
                <a:ea typeface="Times New Roman"/>
                <a:cs typeface="Times New Roman" panose="02020603050405020304" pitchFamily="18" charset="0"/>
                <a:sym typeface="Times New Roman"/>
              </a:rPr>
              <a:t>Match control register is used to specify the operation whenever a match occurs between the value stored in T0MR0 and T0TC register.</a:t>
            </a:r>
          </a:p>
          <a:p>
            <a:pPr algn="just" hangingPunct="0"/>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a:solidFill>
            <a:schemeClr val="bg1"/>
          </a:solidFill>
        </p:spPr>
        <p:txBody>
          <a:bodyPr>
            <a:noAutofit/>
          </a:bodyPr>
          <a:lstStyle/>
          <a:p>
            <a:r>
              <a:rPr lang="en-US" b="1" dirty="0" smtClean="0">
                <a:latin typeface="Times New Roman" panose="02020603050405020304" pitchFamily="18" charset="0"/>
                <a:cs typeface="Times New Roman" panose="02020603050405020304" pitchFamily="18" charset="0"/>
              </a:rPr>
              <a:t>Timer </a:t>
            </a:r>
            <a:r>
              <a:rPr lang="en-US" dirty="0" smtClean="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Cont….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533400"/>
            <a:ext cx="8991600" cy="6172200"/>
          </a:xfrm>
          <a:solidFill>
            <a:schemeClr val="bg1"/>
          </a:solidFill>
        </p:spPr>
        <p:txBody>
          <a:bodyPr>
            <a:normAutofit fontScale="40000" lnSpcReduction="20000"/>
          </a:bodyPr>
          <a:lstStyle/>
          <a:p>
            <a:pPr marL="0" indent="0" algn="just">
              <a:buNone/>
            </a:pPr>
            <a:r>
              <a:rPr lang="en-US" sz="7000" b="1" dirty="0" smtClean="0">
                <a:latin typeface="Times New Roman" panose="02020603050405020304" pitchFamily="18" charset="0"/>
                <a:cs typeface="Times New Roman" panose="02020603050405020304" pitchFamily="18" charset="0"/>
              </a:rPr>
              <a:t>Timer Registers:</a:t>
            </a:r>
            <a:endParaRPr lang="en-US" sz="7000" dirty="0" smtClean="0">
              <a:latin typeface="Times New Roman" panose="02020603050405020304" pitchFamily="18" charset="0"/>
              <a:cs typeface="Times New Roman" panose="02020603050405020304" pitchFamily="18" charset="0"/>
            </a:endParaRPr>
          </a:p>
          <a:p>
            <a:pPr algn="just">
              <a:lnSpc>
                <a:spcPct val="120000"/>
              </a:lnSpc>
            </a:pPr>
            <a:r>
              <a:rPr lang="en-US" sz="5000" b="1" dirty="0" smtClean="0">
                <a:latin typeface="Times New Roman" panose="02020603050405020304" pitchFamily="18" charset="0"/>
                <a:cs typeface="Times New Roman" panose="02020603050405020304" pitchFamily="18" charset="0"/>
              </a:rPr>
              <a:t>PR : Prescale Register (</a:t>
            </a:r>
            <a:r>
              <a:rPr lang="en" sz="5000" b="1" i="1"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T0PR/T1PR</a:t>
            </a:r>
            <a:r>
              <a:rPr lang="en-US" sz="5000" b="1" dirty="0" smtClean="0">
                <a:latin typeface="Times New Roman" panose="02020603050405020304" pitchFamily="18" charset="0"/>
                <a:cs typeface="Times New Roman" panose="02020603050405020304" pitchFamily="18" charset="0"/>
              </a:rPr>
              <a:t>)(32 bit) </a:t>
            </a:r>
            <a:r>
              <a:rPr lang="en-US" sz="5000" dirty="0" smtClean="0">
                <a:latin typeface="Times New Roman" panose="02020603050405020304" pitchFamily="18" charset="0"/>
                <a:cs typeface="Times New Roman" panose="02020603050405020304" pitchFamily="18" charset="0"/>
              </a:rPr>
              <a:t>–</a:t>
            </a:r>
            <a:r>
              <a:rPr lang="en-US" sz="5000" b="1" dirty="0" smtClean="0">
                <a:latin typeface="Times New Roman" panose="02020603050405020304" pitchFamily="18" charset="0"/>
                <a:cs typeface="Times New Roman" panose="02020603050405020304" pitchFamily="18" charset="0"/>
              </a:rPr>
              <a:t> </a:t>
            </a:r>
            <a:r>
              <a:rPr lang="en-US" sz="5000" dirty="0" smtClean="0">
                <a:latin typeface="Times New Roman" panose="02020603050405020304" pitchFamily="18" charset="0"/>
                <a:cs typeface="Times New Roman" panose="02020603050405020304" pitchFamily="18" charset="0"/>
              </a:rPr>
              <a:t>Stores the maximum value of Prescale counter</a:t>
            </a:r>
            <a:r>
              <a:rPr lang="en-US" sz="5000" b="1" dirty="0" smtClean="0">
                <a:latin typeface="Times New Roman" panose="02020603050405020304" pitchFamily="18" charset="0"/>
                <a:cs typeface="Times New Roman" panose="02020603050405020304" pitchFamily="18" charset="0"/>
              </a:rPr>
              <a:t> </a:t>
            </a:r>
            <a:r>
              <a:rPr lang="en-US" sz="5000" dirty="0" smtClean="0">
                <a:latin typeface="Times New Roman" panose="02020603050405020304" pitchFamily="18" charset="0"/>
                <a:cs typeface="Times New Roman" panose="02020603050405020304" pitchFamily="18" charset="0"/>
              </a:rPr>
              <a:t>after which it is reset. </a:t>
            </a:r>
          </a:p>
          <a:p>
            <a:pPr lvl="0" algn="just" hangingPunct="0">
              <a:lnSpc>
                <a:spcPct val="120000"/>
              </a:lnSpc>
            </a:pPr>
            <a:r>
              <a:rPr lang="en-US" sz="5000" b="1" dirty="0" smtClean="0">
                <a:latin typeface="Times New Roman" panose="02020603050405020304" pitchFamily="18" charset="0"/>
                <a:cs typeface="Times New Roman" panose="02020603050405020304" pitchFamily="18" charset="0"/>
              </a:rPr>
              <a:t>PC : Prescale Counter Register (</a:t>
            </a:r>
            <a:r>
              <a:rPr lang="en" sz="5000" b="1"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T0PC/T1PC</a:t>
            </a:r>
            <a:r>
              <a:rPr lang="en-US" sz="5000" b="1" dirty="0" smtClean="0">
                <a:latin typeface="Times New Roman" panose="02020603050405020304" pitchFamily="18" charset="0"/>
                <a:cs typeface="Times New Roman" panose="02020603050405020304" pitchFamily="18" charset="0"/>
              </a:rPr>
              <a:t>)(32 bit) </a:t>
            </a:r>
            <a:r>
              <a:rPr lang="en-US" sz="5000" dirty="0" smtClean="0">
                <a:latin typeface="Times New Roman" panose="02020603050405020304" pitchFamily="18" charset="0"/>
                <a:cs typeface="Times New Roman" panose="02020603050405020304" pitchFamily="18" charset="0"/>
              </a:rPr>
              <a:t>–The 32-bit Prescale Counter controls</a:t>
            </a:r>
            <a:r>
              <a:rPr lang="en-US" sz="5000" b="1" dirty="0" smtClean="0">
                <a:latin typeface="Times New Roman" panose="02020603050405020304" pitchFamily="18" charset="0"/>
                <a:cs typeface="Times New Roman" panose="02020603050405020304" pitchFamily="18" charset="0"/>
              </a:rPr>
              <a:t> </a:t>
            </a:r>
            <a:r>
              <a:rPr lang="en-US" sz="5000" dirty="0" smtClean="0">
                <a:latin typeface="Times New Roman" panose="02020603050405020304" pitchFamily="18" charset="0"/>
                <a:cs typeface="Times New Roman" panose="02020603050405020304" pitchFamily="18" charset="0"/>
              </a:rPr>
              <a:t>division of PCLK by some constant value before it is applied to the Timer Counter. This register increments on every PCLK(Peripheral clock). When it reaches the value stored in the Prescale Register, the Timer Counter is incremented and the Prescale Counter is reset on the next PCLK. If PR=0 then Timer Counter Increments on every 1 PCLK. If PR=9 then Timer Counter Increments on every 10th cycle of PCLK. </a:t>
            </a:r>
          </a:p>
          <a:p>
            <a:pPr lvl="0" algn="just" hangingPunct="0">
              <a:lnSpc>
                <a:spcPct val="120000"/>
              </a:lnSpc>
            </a:pPr>
            <a:r>
              <a:rPr lang="en-US" sz="5000" b="1" dirty="0" smtClean="0">
                <a:latin typeface="Times New Roman" panose="02020603050405020304" pitchFamily="18" charset="0"/>
                <a:cs typeface="Times New Roman" panose="02020603050405020304" pitchFamily="18" charset="0"/>
              </a:rPr>
              <a:t>TC : Timer Counter Register (32 bit) (</a:t>
            </a:r>
            <a:r>
              <a:rPr lang="en" sz="5000" b="1" i="1"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T0TC/T1TC</a:t>
            </a:r>
            <a:r>
              <a:rPr lang="en-US" sz="5000" b="1" dirty="0" smtClean="0">
                <a:latin typeface="Times New Roman" panose="02020603050405020304" pitchFamily="18" charset="0"/>
                <a:cs typeface="Times New Roman" panose="02020603050405020304" pitchFamily="18" charset="0"/>
              </a:rPr>
              <a:t>) </a:t>
            </a:r>
            <a:r>
              <a:rPr lang="en-US" sz="5000" dirty="0" smtClean="0">
                <a:latin typeface="Times New Roman" panose="02020603050405020304" pitchFamily="18" charset="0"/>
                <a:cs typeface="Times New Roman" panose="02020603050405020304" pitchFamily="18" charset="0"/>
              </a:rPr>
              <a:t>–</a:t>
            </a:r>
            <a:r>
              <a:rPr lang="en-US" sz="5000" b="1" dirty="0" smtClean="0">
                <a:latin typeface="Times New Roman" panose="02020603050405020304" pitchFamily="18" charset="0"/>
                <a:cs typeface="Times New Roman" panose="02020603050405020304" pitchFamily="18" charset="0"/>
              </a:rPr>
              <a:t> </a:t>
            </a:r>
            <a:r>
              <a:rPr lang="en-US" sz="5000" dirty="0" smtClean="0">
                <a:latin typeface="Times New Roman" panose="02020603050405020304" pitchFamily="18" charset="0"/>
                <a:cs typeface="Times New Roman" panose="02020603050405020304" pitchFamily="18" charset="0"/>
              </a:rPr>
              <a:t>This is the main counting register.</a:t>
            </a:r>
            <a:r>
              <a:rPr lang="en-US" sz="5000" b="1" dirty="0" smtClean="0">
                <a:latin typeface="Times New Roman" panose="02020603050405020304" pitchFamily="18" charset="0"/>
                <a:cs typeface="Times New Roman" panose="02020603050405020304" pitchFamily="18" charset="0"/>
              </a:rPr>
              <a:t> </a:t>
            </a:r>
            <a:r>
              <a:rPr lang="en-US" sz="5000" dirty="0" smtClean="0">
                <a:latin typeface="Times New Roman" panose="02020603050405020304" pitchFamily="18" charset="0"/>
                <a:cs typeface="Times New Roman" panose="02020603050405020304" pitchFamily="18" charset="0"/>
              </a:rPr>
              <a:t>Timer Counter increments when PC reaches its maximum value as specified by PR. If timer is not reset explicitly(directly) or by using an interrupt then it will act as a free running counter which resets back to zero when it reaches its maximum value which is 0xFFFFFFFF. </a:t>
            </a:r>
          </a:p>
          <a:p>
            <a:pPr lvl="0" algn="just" hangingPunct="0">
              <a:lnSpc>
                <a:spcPct val="120000"/>
              </a:lnSpc>
            </a:pPr>
            <a:r>
              <a:rPr lang="en-US" sz="5000" b="1" dirty="0" smtClean="0">
                <a:latin typeface="Times New Roman" panose="02020603050405020304" pitchFamily="18" charset="0"/>
                <a:cs typeface="Times New Roman" panose="02020603050405020304" pitchFamily="18" charset="0"/>
              </a:rPr>
              <a:t>TCR : Timer Control Register(</a:t>
            </a:r>
            <a:r>
              <a:rPr lang="en" sz="5000" b="1" i="1"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T0TCR/T1TCR</a:t>
            </a:r>
            <a:r>
              <a:rPr lang="en-US" sz="5000" b="1" dirty="0" smtClean="0">
                <a:latin typeface="Times New Roman" panose="02020603050405020304" pitchFamily="18" charset="0"/>
                <a:cs typeface="Times New Roman" panose="02020603050405020304" pitchFamily="18" charset="0"/>
              </a:rPr>
              <a:t>) </a:t>
            </a:r>
            <a:r>
              <a:rPr lang="en-US" sz="5000" dirty="0" smtClean="0">
                <a:latin typeface="Times New Roman" panose="02020603050405020304" pitchFamily="18" charset="0"/>
                <a:cs typeface="Times New Roman" panose="02020603050405020304" pitchFamily="18" charset="0"/>
              </a:rPr>
              <a:t>–</a:t>
            </a:r>
            <a:r>
              <a:rPr lang="en-US" sz="5000" b="1" dirty="0" smtClean="0">
                <a:latin typeface="Times New Roman" panose="02020603050405020304" pitchFamily="18" charset="0"/>
                <a:cs typeface="Times New Roman" panose="02020603050405020304" pitchFamily="18" charset="0"/>
              </a:rPr>
              <a:t> </a:t>
            </a:r>
            <a:r>
              <a:rPr lang="en-US" sz="5000" dirty="0" smtClean="0">
                <a:latin typeface="Times New Roman" panose="02020603050405020304" pitchFamily="18" charset="0"/>
                <a:cs typeface="Times New Roman" panose="02020603050405020304" pitchFamily="18" charset="0"/>
              </a:rPr>
              <a:t>This register is used to enable , disable and</a:t>
            </a:r>
            <a:r>
              <a:rPr lang="en-US" sz="5000" b="1" dirty="0" smtClean="0">
                <a:latin typeface="Times New Roman" panose="02020603050405020304" pitchFamily="18" charset="0"/>
                <a:cs typeface="Times New Roman" panose="02020603050405020304" pitchFamily="18" charset="0"/>
              </a:rPr>
              <a:t> </a:t>
            </a:r>
            <a:r>
              <a:rPr lang="en-US" sz="5000" dirty="0" smtClean="0">
                <a:latin typeface="Times New Roman" panose="02020603050405020304" pitchFamily="18" charset="0"/>
                <a:cs typeface="Times New Roman" panose="02020603050405020304" pitchFamily="18" charset="0"/>
              </a:rPr>
              <a:t>reset TC. When bit0 is 1 timer is enabled and when 0 it is disabled. When bit1 is set to 1 TC and PC are set to zero together in sync on the next positive edge of PCLK. Rest of the bits of TCR are reserved. </a:t>
            </a:r>
          </a:p>
          <a:p>
            <a:pPr algn="just"/>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Grp="1" noChangeAspect="1" noChangeArrowheads="1"/>
          </p:cNvPicPr>
          <p:nvPr>
            <p:ph idx="1"/>
          </p:nvPr>
        </p:nvPicPr>
        <p:blipFill>
          <a:blip r:embed="rId2" cstate="print"/>
          <a:srcRect/>
          <a:stretch>
            <a:fillRect/>
          </a:stretch>
        </p:blipFill>
        <p:spPr bwMode="auto">
          <a:xfrm>
            <a:off x="266700" y="1327761"/>
            <a:ext cx="8610600" cy="4343400"/>
          </a:xfrm>
          <a:prstGeom prst="rect">
            <a:avLst/>
          </a:prstGeom>
          <a:noFill/>
          <a:ln w="9525">
            <a:noFill/>
            <a:miter lim="800000"/>
            <a:headEnd/>
            <a:tailEnd/>
          </a:ln>
          <a:effectLst/>
        </p:spPr>
      </p:pic>
      <p:sp>
        <p:nvSpPr>
          <p:cNvPr id="3" name="Rectangle 2"/>
          <p:cNvSpPr/>
          <p:nvPr/>
        </p:nvSpPr>
        <p:spPr>
          <a:xfrm>
            <a:off x="3124200" y="0"/>
            <a:ext cx="3476273" cy="707886"/>
          </a:xfrm>
          <a:prstGeom prst="rect">
            <a:avLst/>
          </a:prstGeom>
          <a:solidFill>
            <a:schemeClr val="bg1"/>
          </a:solidFill>
        </p:spPr>
        <p:txBody>
          <a:bodyPr wrap="none">
            <a:spAutoFit/>
          </a:bodyPr>
          <a:lstStyle/>
          <a:p>
            <a:r>
              <a:rPr lang="en-US" sz="4000" b="1" dirty="0" smtClean="0">
                <a:latin typeface="Times New Roman" panose="02020603050405020304" pitchFamily="18" charset="0"/>
                <a:cs typeface="Times New Roman" panose="02020603050405020304" pitchFamily="18" charset="0"/>
              </a:rPr>
              <a:t>Timer </a:t>
            </a:r>
            <a:r>
              <a:rPr lang="en-US" sz="2800" dirty="0" smtClean="0">
                <a:latin typeface="Times New Roman" panose="02020603050405020304" pitchFamily="18" charset="0"/>
                <a:cs typeface="Times New Roman" panose="02020603050405020304" pitchFamily="18" charset="0"/>
              </a:rPr>
              <a:t> </a:t>
            </a:r>
            <a:r>
              <a:rPr lang="en-US" sz="4000" b="1" dirty="0" smtClean="0">
                <a:latin typeface="Times New Roman" panose="02020603050405020304" pitchFamily="18" charset="0"/>
                <a:cs typeface="Times New Roman" panose="02020603050405020304" pitchFamily="18" charset="0"/>
              </a:rPr>
              <a:t>Cont….</a:t>
            </a:r>
            <a:endParaRPr lang="en-US" sz="4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87362"/>
          </a:xfrm>
          <a:solidFill>
            <a:schemeClr val="bg1"/>
          </a:solidFill>
        </p:spPr>
        <p:txBody>
          <a:bodyPr>
            <a:normAutofit fontScale="90000"/>
          </a:bodyPr>
          <a:lstStyle/>
          <a:p>
            <a:r>
              <a:rPr lang="en-US" b="1" dirty="0" smtClean="0">
                <a:latin typeface="Times New Roman" panose="02020603050405020304" pitchFamily="18" charset="0"/>
                <a:cs typeface="Times New Roman" panose="02020603050405020304" pitchFamily="18" charset="0"/>
              </a:rPr>
              <a:t>Timer </a:t>
            </a:r>
            <a:r>
              <a:rPr lang="en-US" sz="3200" dirty="0" smtClean="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Cont….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52400" y="609600"/>
            <a:ext cx="8763000" cy="6019800"/>
          </a:xfrm>
          <a:solidFill>
            <a:schemeClr val="bg1"/>
          </a:solidFill>
        </p:spPr>
        <p:txBody>
          <a:bodyPr>
            <a:normAutofit fontScale="70000" lnSpcReduction="20000"/>
          </a:bodyPr>
          <a:lstStyle/>
          <a:p>
            <a:pPr lvl="0" algn="just" hangingPunct="0"/>
            <a:r>
              <a:rPr lang="en-US" b="1" dirty="0" smtClean="0">
                <a:latin typeface="Times New Roman" panose="02020603050405020304" pitchFamily="18" charset="0"/>
                <a:cs typeface="Times New Roman" panose="02020603050405020304" pitchFamily="18" charset="0"/>
              </a:rPr>
              <a:t>CTCR : Count Control register </a:t>
            </a:r>
            <a:r>
              <a:rPr lang="en-US" dirty="0" smtClean="0">
                <a:latin typeface="Times New Roman" panose="02020603050405020304" pitchFamily="18" charset="0"/>
                <a:cs typeface="Times New Roman" panose="02020603050405020304" pitchFamily="18" charset="0"/>
              </a:rPr>
              <a:t>–</a:t>
            </a:r>
            <a:r>
              <a:rPr lang="en-US" b="1"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Used to select Timer/Counter Mode. When</a:t>
            </a:r>
            <a:r>
              <a:rPr lang="en-US" b="1"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the value of the CTCR is set to 0×0 Timer Mode is selected. </a:t>
            </a:r>
          </a:p>
          <a:p>
            <a:pPr lvl="0" algn="just" hangingPunct="0"/>
            <a:r>
              <a:rPr lang="en-US" b="1" dirty="0" smtClean="0">
                <a:latin typeface="Times New Roman" panose="02020603050405020304" pitchFamily="18" charset="0"/>
                <a:cs typeface="Times New Roman" panose="02020603050405020304" pitchFamily="18" charset="0"/>
              </a:rPr>
              <a:t>MCR : Match Control register </a:t>
            </a:r>
            <a:r>
              <a:rPr lang="en-US" dirty="0" smtClean="0">
                <a:latin typeface="Times New Roman" panose="02020603050405020304" pitchFamily="18" charset="0"/>
                <a:cs typeface="Times New Roman" panose="02020603050405020304" pitchFamily="18" charset="0"/>
              </a:rPr>
              <a:t>–</a:t>
            </a:r>
            <a:r>
              <a:rPr lang="en-US" b="1"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This register is used to control which all</a:t>
            </a:r>
            <a:r>
              <a:rPr lang="en-US" b="1"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operations can be done when the value in MR matches the value in TC. Bits 0,1,2 are for MR0 , Bits 3,4,5 for MR1 and so on..  </a:t>
            </a:r>
          </a:p>
          <a:p>
            <a:pPr algn="just" hangingPunct="0"/>
            <a:r>
              <a:rPr lang="en-US" dirty="0" smtClean="0">
                <a:latin typeface="Times New Roman" panose="02020603050405020304" pitchFamily="18" charset="0"/>
                <a:cs typeface="Times New Roman" panose="02020603050405020304" pitchFamily="18" charset="0"/>
              </a:rPr>
              <a:t>For MR0: </a:t>
            </a:r>
          </a:p>
          <a:p>
            <a:pPr algn="just" hangingPunct="0"/>
            <a:r>
              <a:rPr lang="en-US" dirty="0" smtClean="0">
                <a:latin typeface="Times New Roman" panose="02020603050405020304" pitchFamily="18" charset="0"/>
                <a:cs typeface="Times New Roman" panose="02020603050405020304" pitchFamily="18" charset="0"/>
              </a:rPr>
              <a:t>Bit 0 : Interrupt on MR0 </a:t>
            </a:r>
            <a:r>
              <a:rPr lang="en-US" dirty="0" err="1" smtClean="0">
                <a:latin typeface="Times New Roman" panose="02020603050405020304" pitchFamily="18" charset="0"/>
                <a:cs typeface="Times New Roman" panose="02020603050405020304" pitchFamily="18" charset="0"/>
              </a:rPr>
              <a:t>i.e</a:t>
            </a:r>
            <a:r>
              <a:rPr lang="en-US" dirty="0" smtClean="0">
                <a:latin typeface="Times New Roman" panose="02020603050405020304" pitchFamily="18" charset="0"/>
                <a:cs typeface="Times New Roman" panose="02020603050405020304" pitchFamily="18" charset="0"/>
              </a:rPr>
              <a:t> trigger an interrupt when MR0 matches TC. Interrupts are enabled when set to 1 and disabled when set to 0. </a:t>
            </a:r>
          </a:p>
          <a:p>
            <a:pPr algn="just" hangingPunct="0"/>
            <a:r>
              <a:rPr lang="en-US" dirty="0" smtClean="0">
                <a:latin typeface="Times New Roman" panose="02020603050405020304" pitchFamily="18" charset="0"/>
                <a:cs typeface="Times New Roman" panose="02020603050405020304" pitchFamily="18" charset="0"/>
              </a:rPr>
              <a:t>Bit 1 : Reset on MR0. When set to 1 , TC will be reset when it matched MR0. Disabled when set to 0. </a:t>
            </a:r>
          </a:p>
          <a:p>
            <a:pPr algn="just" hangingPunct="0"/>
            <a:r>
              <a:rPr lang="en-US" dirty="0" smtClean="0">
                <a:latin typeface="Times New Roman" panose="02020603050405020304" pitchFamily="18" charset="0"/>
                <a:cs typeface="Times New Roman" panose="02020603050405020304" pitchFamily="18" charset="0"/>
              </a:rPr>
              <a:t>Bit 2 : Stop on MR0. When set to 1 , TC &amp; PC will stop when MR0 matches TC. Similarly bits 3-5 , 6-8 , 9-11 are for MR1 , MR2 , MR3 respectively. </a:t>
            </a:r>
          </a:p>
          <a:p>
            <a:pPr algn="just"/>
            <a:r>
              <a:rPr lang="en-US" b="1" dirty="0" smtClean="0">
                <a:latin typeface="Times New Roman" panose="02020603050405020304" pitchFamily="18" charset="0"/>
                <a:cs typeface="Times New Roman" panose="02020603050405020304" pitchFamily="18" charset="0"/>
              </a:rPr>
              <a:t>IR : Interrupt Register</a:t>
            </a:r>
            <a:r>
              <a:rPr lang="en-US" dirty="0" smtClean="0">
                <a:latin typeface="Times New Roman" panose="02020603050405020304" pitchFamily="18" charset="0"/>
                <a:cs typeface="Times New Roman" panose="02020603050405020304" pitchFamily="18" charset="0"/>
              </a:rPr>
              <a:t> – It contains the interrupt flags for 4 match and 4 capture interrupts. Bit0 to bit3 are for MR0 to MR3 interrupts respectively. And similarly the next 4 for CR0-3 interrupts. when an interrupt is raised the corresponding bit in IR will be set to 1 and 0 otherwise. Writing a 1 to the corresponding bit location will reset the interrupt – which is used to acknowledge the completion of the corresponding ISR execution.</a:t>
            </a:r>
          </a:p>
          <a:p>
            <a:pPr algn="just"/>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095"/>
            <a:ext cx="8229600" cy="487362"/>
          </a:xfrm>
          <a:solidFill>
            <a:schemeClr val="bg1"/>
          </a:solidFill>
        </p:spPr>
        <p:txBody>
          <a:bodyPr>
            <a:noAutofit/>
          </a:bodyPr>
          <a:lstStyle/>
          <a:p>
            <a:r>
              <a:rPr lang="en-US" sz="3600" b="1" dirty="0" smtClean="0"/>
              <a:t/>
            </a:r>
            <a:br>
              <a:rPr lang="en-US" sz="3600" b="1" dirty="0" smtClean="0"/>
            </a:br>
            <a:r>
              <a:rPr lang="en-US" b="1" dirty="0" smtClean="0">
                <a:latin typeface="Times New Roman" panose="02020603050405020304" pitchFamily="18" charset="0"/>
                <a:cs typeface="Times New Roman" panose="02020603050405020304" pitchFamily="18" charset="0"/>
              </a:rPr>
              <a:t>Timer </a:t>
            </a:r>
            <a:r>
              <a:rPr lang="en-US" dirty="0" smtClean="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Cont….</a:t>
            </a: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8600" y="762000"/>
            <a:ext cx="8915400" cy="5943600"/>
          </a:xfrm>
          <a:solidFill>
            <a:schemeClr val="bg1"/>
          </a:solidFill>
        </p:spPr>
        <p:txBody>
          <a:bodyPr>
            <a:normAutofit fontScale="92500"/>
          </a:bodyPr>
          <a:lstStyle/>
          <a:p>
            <a:pPr>
              <a:buNone/>
            </a:pPr>
            <a:r>
              <a:rPr lang="en-US" sz="3000" b="1" dirty="0" smtClean="0">
                <a:latin typeface="Times New Roman" panose="02020603050405020304" pitchFamily="18" charset="0"/>
                <a:cs typeface="Times New Roman" panose="02020603050405020304" pitchFamily="18" charset="0"/>
              </a:rPr>
              <a:t>Steps for configuring timers:</a:t>
            </a:r>
            <a:endParaRPr lang="en-US" sz="3000" dirty="0" smtClean="0">
              <a:latin typeface="Times New Roman" pitchFamily="18" charset="0"/>
              <a:cs typeface="Times New Roman" pitchFamily="18" charset="0"/>
            </a:endParaRPr>
          </a:p>
          <a:p>
            <a:pPr lvl="0" hangingPunct="0"/>
            <a:r>
              <a:rPr lang="en-US" sz="3000" dirty="0" smtClean="0">
                <a:latin typeface="Times New Roman" pitchFamily="18" charset="0"/>
                <a:cs typeface="Times New Roman" pitchFamily="18" charset="0"/>
              </a:rPr>
              <a:t>Set appropriate value in </a:t>
            </a:r>
            <a:r>
              <a:rPr lang="en-US" sz="3000" dirty="0" err="1" smtClean="0">
                <a:latin typeface="Times New Roman" pitchFamily="18" charset="0"/>
                <a:cs typeface="Times New Roman" pitchFamily="18" charset="0"/>
              </a:rPr>
              <a:t>TxCTCR</a:t>
            </a:r>
            <a:r>
              <a:rPr lang="en-US" sz="3000" dirty="0" smtClean="0">
                <a:latin typeface="Times New Roman" pitchFamily="18" charset="0"/>
                <a:cs typeface="Times New Roman" pitchFamily="18" charset="0"/>
              </a:rPr>
              <a:t>  </a:t>
            </a:r>
          </a:p>
          <a:p>
            <a:pPr lvl="0" hangingPunct="0"/>
            <a:r>
              <a:rPr lang="en-US" sz="3000" dirty="0" smtClean="0">
                <a:latin typeface="Times New Roman" pitchFamily="18" charset="0"/>
                <a:cs typeface="Times New Roman" pitchFamily="18" charset="0"/>
              </a:rPr>
              <a:t>Define the Prescale value in </a:t>
            </a:r>
            <a:r>
              <a:rPr lang="en-US" sz="3000" dirty="0" err="1" smtClean="0">
                <a:latin typeface="Times New Roman" pitchFamily="18" charset="0"/>
                <a:cs typeface="Times New Roman" pitchFamily="18" charset="0"/>
              </a:rPr>
              <a:t>TxPR</a:t>
            </a:r>
            <a:r>
              <a:rPr lang="en-US" sz="3000" dirty="0" smtClean="0">
                <a:latin typeface="Times New Roman" pitchFamily="18" charset="0"/>
                <a:cs typeface="Times New Roman" pitchFamily="18" charset="0"/>
              </a:rPr>
              <a:t> </a:t>
            </a:r>
          </a:p>
          <a:p>
            <a:pPr lvl="0" hangingPunct="0"/>
            <a:r>
              <a:rPr lang="en-US" sz="3000" dirty="0" smtClean="0">
                <a:latin typeface="Times New Roman" pitchFamily="18" charset="0"/>
                <a:cs typeface="Times New Roman" pitchFamily="18" charset="0"/>
              </a:rPr>
              <a:t>Set Value(s) in Match Register(s) if required </a:t>
            </a:r>
          </a:p>
          <a:p>
            <a:pPr lvl="0" hangingPunct="0"/>
            <a:r>
              <a:rPr lang="en-US" sz="3000" dirty="0" smtClean="0">
                <a:latin typeface="Times New Roman" pitchFamily="18" charset="0"/>
                <a:cs typeface="Times New Roman" pitchFamily="18" charset="0"/>
              </a:rPr>
              <a:t>Set appropriate value in </a:t>
            </a:r>
            <a:r>
              <a:rPr lang="en-US" sz="3000" dirty="0" err="1" smtClean="0">
                <a:latin typeface="Times New Roman" pitchFamily="18" charset="0"/>
                <a:cs typeface="Times New Roman" pitchFamily="18" charset="0"/>
              </a:rPr>
              <a:t>TxMCR</a:t>
            </a:r>
            <a:r>
              <a:rPr lang="en-US" sz="3000" dirty="0" smtClean="0">
                <a:latin typeface="Times New Roman" pitchFamily="18" charset="0"/>
                <a:cs typeface="Times New Roman" pitchFamily="18" charset="0"/>
              </a:rPr>
              <a:t> if using Match registers / Interrupts </a:t>
            </a:r>
          </a:p>
          <a:p>
            <a:pPr lvl="0" hangingPunct="0"/>
            <a:r>
              <a:rPr lang="en-US" sz="3000" dirty="0" smtClean="0">
                <a:latin typeface="Times New Roman" pitchFamily="18" charset="0"/>
                <a:cs typeface="Times New Roman" pitchFamily="18" charset="0"/>
              </a:rPr>
              <a:t>Reset Timer –Which resets PR and TC </a:t>
            </a:r>
          </a:p>
          <a:p>
            <a:pPr lvl="0" hangingPunct="0"/>
            <a:r>
              <a:rPr lang="en-US" sz="3000" dirty="0" smtClean="0">
                <a:latin typeface="Times New Roman" pitchFamily="18" charset="0"/>
                <a:cs typeface="Times New Roman" pitchFamily="18" charset="0"/>
              </a:rPr>
              <a:t>Set </a:t>
            </a:r>
            <a:r>
              <a:rPr lang="en-US" sz="3000" dirty="0" err="1" smtClean="0">
                <a:latin typeface="Times New Roman" pitchFamily="18" charset="0"/>
                <a:cs typeface="Times New Roman" pitchFamily="18" charset="0"/>
              </a:rPr>
              <a:t>TxTCR</a:t>
            </a:r>
            <a:r>
              <a:rPr lang="en-US" sz="3000" dirty="0" smtClean="0">
                <a:latin typeface="Times New Roman" pitchFamily="18" charset="0"/>
                <a:cs typeface="Times New Roman" pitchFamily="18" charset="0"/>
              </a:rPr>
              <a:t> to 0×01 to Enable the Timer when required </a:t>
            </a:r>
          </a:p>
          <a:p>
            <a:r>
              <a:rPr lang="en-US" sz="3000" dirty="0" smtClean="0">
                <a:latin typeface="Times New Roman" pitchFamily="18" charset="0"/>
                <a:cs typeface="Times New Roman" pitchFamily="18" charset="0"/>
              </a:rPr>
              <a:t> </a:t>
            </a:r>
            <a:r>
              <a:rPr lang="en" sz="3000" dirty="0" smtClean="0">
                <a:latin typeface="Times New Roman" pitchFamily="18" charset="0"/>
                <a:ea typeface="Times New Roman"/>
                <a:cs typeface="Times New Roman" pitchFamily="18" charset="0"/>
                <a:sym typeface="Times New Roman"/>
              </a:rPr>
              <a:t>Wait </a:t>
            </a:r>
            <a:r>
              <a:rPr lang="en" sz="3000" dirty="0">
                <a:latin typeface="Times New Roman" pitchFamily="18" charset="0"/>
                <a:ea typeface="Times New Roman"/>
                <a:cs typeface="Times New Roman" pitchFamily="18" charset="0"/>
                <a:sym typeface="Times New Roman"/>
              </a:rPr>
              <a:t>till the interrupt and then clear the flag by writing T0IR register</a:t>
            </a:r>
            <a:endParaRPr lang="en-US" sz="3000" dirty="0" smtClean="0">
              <a:latin typeface="Times New Roman" pitchFamily="18" charset="0"/>
              <a:cs typeface="Times New Roman" pitchFamily="18" charset="0"/>
            </a:endParaRPr>
          </a:p>
          <a:p>
            <a:pPr lvl="0" hangingPunct="0"/>
            <a:r>
              <a:rPr lang="en-US" sz="3000" dirty="0">
                <a:latin typeface="Times New Roman" pitchFamily="18" charset="0"/>
                <a:cs typeface="Times New Roman" pitchFamily="18" charset="0"/>
              </a:rPr>
              <a:t>Reset </a:t>
            </a:r>
            <a:r>
              <a:rPr lang="en-US" sz="3000" dirty="0" err="1">
                <a:latin typeface="Times New Roman" pitchFamily="18" charset="0"/>
                <a:cs typeface="Times New Roman" pitchFamily="18" charset="0"/>
              </a:rPr>
              <a:t>TxTCR</a:t>
            </a:r>
            <a:r>
              <a:rPr lang="en-US" sz="3000" dirty="0">
                <a:latin typeface="Times New Roman" pitchFamily="18" charset="0"/>
                <a:cs typeface="Times New Roman" pitchFamily="18" charset="0"/>
              </a:rPr>
              <a:t> to 0×00 to Disable the Timer when required </a:t>
            </a:r>
          </a:p>
          <a:p>
            <a:endParaRPr lang="en-US" sz="3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8229600" cy="350838"/>
          </a:xfrm>
          <a:solidFill>
            <a:schemeClr val="bg1"/>
          </a:solidFill>
        </p:spPr>
        <p:txBody>
          <a:bodyPr>
            <a:normAutofit fontScale="90000"/>
          </a:bodyPr>
          <a:lstStyle/>
          <a:p>
            <a:r>
              <a:rPr lang="en-US" b="1" dirty="0" smtClean="0">
                <a:solidFill>
                  <a:srgbClr val="FF0000"/>
                </a:solidFill>
                <a:latin typeface="Times New Roman" panose="02020603050405020304" pitchFamily="18" charset="0"/>
                <a:cs typeface="Times New Roman" panose="02020603050405020304" pitchFamily="18" charset="0"/>
              </a:rPr>
              <a:t/>
            </a:r>
            <a:br>
              <a:rPr lang="en-US" b="1" dirty="0" smtClean="0">
                <a:solidFill>
                  <a:srgbClr val="FF0000"/>
                </a:solidFill>
                <a:latin typeface="Times New Roman" panose="02020603050405020304" pitchFamily="18" charset="0"/>
                <a:cs typeface="Times New Roman" panose="02020603050405020304" pitchFamily="18" charset="0"/>
              </a:rPr>
            </a:br>
            <a:r>
              <a:rPr lang="en-US" b="1" dirty="0" smtClean="0">
                <a:latin typeface="Times New Roman" panose="02020603050405020304" pitchFamily="18" charset="0"/>
                <a:cs typeface="Times New Roman" panose="02020603050405020304" pitchFamily="18" charset="0"/>
              </a:rPr>
              <a:t>Prescale </a:t>
            </a:r>
            <a:r>
              <a:rPr lang="en-US" b="1" dirty="0">
                <a:latin typeface="Times New Roman" panose="02020603050405020304" pitchFamily="18" charset="0"/>
                <a:cs typeface="Times New Roman" panose="02020603050405020304" pitchFamily="18" charset="0"/>
              </a:rPr>
              <a:t>Register Value Calculation</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52400" y="762000"/>
            <a:ext cx="8839200" cy="6096000"/>
          </a:xfrm>
          <a:solidFill>
            <a:schemeClr val="bg1"/>
          </a:solidFill>
        </p:spPr>
        <p:txBody>
          <a:bodyPr>
            <a:normAutofit fontScale="77500" lnSpcReduction="20000"/>
          </a:bodyPr>
          <a:lstStyle/>
          <a:p>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delay or time required for 1 clock cycle at </a:t>
            </a:r>
            <a:r>
              <a:rPr lang="en-US" b="1" dirty="0" smtClean="0">
                <a:latin typeface="Times New Roman" panose="02020603050405020304" pitchFamily="18" charset="0"/>
                <a:cs typeface="Times New Roman" panose="02020603050405020304" pitchFamily="18" charset="0"/>
              </a:rPr>
              <a:t>PCLK=‘X</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MHz is given by :</a:t>
            </a:r>
          </a:p>
          <a:p>
            <a:r>
              <a:rPr lang="en-US" dirty="0">
                <a:latin typeface="Times New Roman" panose="02020603050405020304" pitchFamily="18" charset="0"/>
                <a:cs typeface="Times New Roman" panose="02020603050405020304" pitchFamily="18" charset="0"/>
              </a:rPr>
              <a:t>Delay = 1/(X*1000000) </a:t>
            </a:r>
            <a:r>
              <a:rPr lang="en-US" dirty="0" smtClean="0">
                <a:latin typeface="Times New Roman" panose="02020603050405020304" pitchFamily="18" charset="0"/>
                <a:cs typeface="Times New Roman" panose="02020603050405020304" pitchFamily="18" charset="0"/>
              </a:rPr>
              <a:t>Seconds</a:t>
            </a:r>
          </a:p>
          <a:p>
            <a:r>
              <a:rPr lang="en-US" dirty="0" smtClean="0">
                <a:latin typeface="Times New Roman" panose="02020603050405020304" pitchFamily="18" charset="0"/>
                <a:cs typeface="Times New Roman" panose="02020603050405020304" pitchFamily="18" charset="0"/>
              </a:rPr>
              <a:t>ASSUME PCLK = 60 MHz</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Hence in our case when PR=0 </a:t>
            </a:r>
            <a:r>
              <a:rPr lang="en-US" dirty="0" err="1">
                <a:latin typeface="Times New Roman" panose="02020603050405020304" pitchFamily="18" charset="0"/>
                <a:cs typeface="Times New Roman" panose="02020603050405020304" pitchFamily="18" charset="0"/>
              </a:rPr>
              <a:t>i.e</a:t>
            </a:r>
            <a:r>
              <a:rPr lang="en-US" dirty="0">
                <a:latin typeface="Times New Roman" panose="02020603050405020304" pitchFamily="18" charset="0"/>
                <a:cs typeface="Times New Roman" panose="02020603050405020304" pitchFamily="18" charset="0"/>
              </a:rPr>
              <a:t> TC increments at every PCLK the delay required for TC to increment by 1 is:</a:t>
            </a:r>
          </a:p>
          <a:p>
            <a:r>
              <a:rPr lang="en-US" dirty="0">
                <a:latin typeface="Times New Roman" panose="02020603050405020304" pitchFamily="18" charset="0"/>
                <a:cs typeface="Times New Roman" panose="02020603050405020304" pitchFamily="18" charset="0"/>
              </a:rPr>
              <a:t>Delay = (0+1)/(60*1000000) Seconds</a:t>
            </a:r>
          </a:p>
          <a:p>
            <a:r>
              <a:rPr lang="en-US" dirty="0">
                <a:latin typeface="Times New Roman" panose="02020603050405020304" pitchFamily="18" charset="0"/>
                <a:cs typeface="Times New Roman" panose="02020603050405020304" pitchFamily="18" charset="0"/>
              </a:rPr>
              <a:t>Similarly when we set </a:t>
            </a:r>
            <a:r>
              <a:rPr lang="en-US" b="1" dirty="0">
                <a:solidFill>
                  <a:srgbClr val="FF0000"/>
                </a:solidFill>
                <a:latin typeface="Times New Roman" panose="02020603050405020304" pitchFamily="18" charset="0"/>
                <a:cs typeface="Times New Roman" panose="02020603050405020304" pitchFamily="18" charset="0"/>
              </a:rPr>
              <a:t>PR = 59999 </a:t>
            </a:r>
            <a:r>
              <a:rPr lang="en-US" dirty="0">
                <a:latin typeface="Times New Roman" panose="02020603050405020304" pitchFamily="18" charset="0"/>
                <a:cs typeface="Times New Roman" panose="02020603050405020304" pitchFamily="18" charset="0"/>
              </a:rPr>
              <a:t>the delay in this case will be:</a:t>
            </a:r>
          </a:p>
          <a:p>
            <a:r>
              <a:rPr lang="en-US" dirty="0">
                <a:latin typeface="Times New Roman" panose="02020603050405020304" pitchFamily="18" charset="0"/>
                <a:cs typeface="Times New Roman" panose="02020603050405020304" pitchFamily="18" charset="0"/>
              </a:rPr>
              <a:t>Delay = (</a:t>
            </a:r>
            <a:r>
              <a:rPr lang="en-US" dirty="0" smtClean="0">
                <a:latin typeface="Times New Roman" panose="02020603050405020304" pitchFamily="18" charset="0"/>
                <a:cs typeface="Times New Roman" panose="02020603050405020304" pitchFamily="18" charset="0"/>
              </a:rPr>
              <a:t>59999+1</a:t>
            </a:r>
            <a:r>
              <a:rPr lang="en-US" dirty="0">
                <a:latin typeface="Times New Roman" panose="02020603050405020304" pitchFamily="18" charset="0"/>
                <a:cs typeface="Times New Roman" panose="02020603050405020304" pitchFamily="18" charset="0"/>
              </a:rPr>
              <a:t>)/(60*1000000) Seconds</a:t>
            </a:r>
          </a:p>
          <a:p>
            <a:r>
              <a:rPr lang="en-US" dirty="0">
                <a:latin typeface="Times New Roman" panose="02020603050405020304" pitchFamily="18" charset="0"/>
                <a:cs typeface="Times New Roman" panose="02020603050405020304" pitchFamily="18" charset="0"/>
              </a:rPr>
              <a:t>Delay = 1mS</a:t>
            </a:r>
          </a:p>
          <a:p>
            <a:r>
              <a:rPr lang="en-US" dirty="0" smtClean="0">
                <a:latin typeface="Times New Roman" panose="02020603050405020304" pitchFamily="18" charset="0"/>
                <a:cs typeface="Times New Roman" panose="02020603050405020304" pitchFamily="18" charset="0"/>
              </a:rPr>
              <a:t>which </a:t>
            </a:r>
            <a:r>
              <a:rPr lang="en-US" dirty="0">
                <a:latin typeface="Times New Roman" panose="02020603050405020304" pitchFamily="18" charset="0"/>
                <a:cs typeface="Times New Roman" panose="02020603050405020304" pitchFamily="18" charset="0"/>
              </a:rPr>
              <a:t>boils down to</a:t>
            </a:r>
            <a:r>
              <a:rPr lang="en-US" b="1" dirty="0">
                <a:latin typeface="Times New Roman" panose="02020603050405020304" pitchFamily="18" charset="0"/>
                <a:cs typeface="Times New Roman" panose="02020603050405020304" pitchFamily="18" charset="0"/>
              </a:rPr>
              <a:t> 1/1000 = 0.001</a:t>
            </a:r>
            <a:r>
              <a:rPr lang="en-US" dirty="0">
                <a:latin typeface="Times New Roman" panose="02020603050405020304" pitchFamily="18" charset="0"/>
                <a:cs typeface="Times New Roman" panose="02020603050405020304" pitchFamily="18" charset="0"/>
              </a:rPr>
              <a:t> Seconds which is nothing but </a:t>
            </a:r>
            <a:r>
              <a:rPr lang="en-US" b="1" dirty="0">
                <a:latin typeface="Times New Roman" panose="02020603050405020304" pitchFamily="18" charset="0"/>
                <a:cs typeface="Times New Roman" panose="02020603050405020304" pitchFamily="18" charset="0"/>
              </a:rPr>
              <a:t>1 </a:t>
            </a:r>
            <a:r>
              <a:rPr lang="en-US" b="1" dirty="0" err="1">
                <a:latin typeface="Times New Roman" panose="02020603050405020304" pitchFamily="18" charset="0"/>
                <a:cs typeface="Times New Roman" panose="02020603050405020304" pitchFamily="18" charset="0"/>
              </a:rPr>
              <a:t>Milli</a:t>
            </a:r>
            <a:r>
              <a:rPr lang="en-US" b="1" dirty="0">
                <a:latin typeface="Times New Roman" panose="02020603050405020304" pitchFamily="18" charset="0"/>
                <a:cs typeface="Times New Roman" panose="02020603050405020304" pitchFamily="18" charset="0"/>
              </a:rPr>
              <a:t>-Second </a:t>
            </a:r>
            <a:r>
              <a:rPr lang="en-US" b="1" dirty="0" err="1">
                <a:latin typeface="Times New Roman" panose="02020603050405020304" pitchFamily="18" charset="0"/>
                <a:cs typeface="Times New Roman" panose="02020603050405020304" pitchFamily="18" charset="0"/>
              </a:rPr>
              <a:t>i.e</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mS</a:t>
            </a:r>
            <a:r>
              <a:rPr lang="en-US" dirty="0" err="1">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Hence the delay required for TC to increment by 1 will be 1mS</a:t>
            </a:r>
            <a:r>
              <a:rPr lang="en-US" dirty="0" smtClean="0">
                <a:latin typeface="Times New Roman" panose="02020603050405020304" pitchFamily="18" charset="0"/>
                <a:cs typeface="Times New Roman" panose="02020603050405020304" pitchFamily="18" charset="0"/>
              </a:rPr>
              <a:t>.</a:t>
            </a:r>
          </a:p>
          <a:p>
            <a:r>
              <a:rPr lang="en-US" b="1" dirty="0" smtClean="0">
                <a:solidFill>
                  <a:srgbClr val="FF0000"/>
                </a:solidFill>
                <a:latin typeface="Times New Roman" panose="02020603050405020304" pitchFamily="18" charset="0"/>
                <a:cs typeface="Times New Roman" panose="02020603050405020304" pitchFamily="18" charset="0"/>
              </a:rPr>
              <a:t>For 1 microsecond PR= 59</a:t>
            </a:r>
          </a:p>
          <a:p>
            <a:r>
              <a:rPr lang="en-US" b="1" dirty="0" smtClean="0">
                <a:solidFill>
                  <a:srgbClr val="FF0000"/>
                </a:solidFill>
                <a:latin typeface="Times New Roman" panose="02020603050405020304" pitchFamily="18" charset="0"/>
                <a:cs typeface="Times New Roman" panose="02020603050405020304" pitchFamily="18" charset="0"/>
              </a:rPr>
              <a:t>For 1 second PR= 59999999</a:t>
            </a:r>
            <a:endParaRPr lang="en-US" b="1" dirty="0">
              <a:solidFill>
                <a:srgbClr val="FF0000"/>
              </a:solidFill>
              <a:latin typeface="Times New Roman" panose="02020603050405020304" pitchFamily="18" charset="0"/>
              <a:cs typeface="Times New Roman" panose="02020603050405020304" pitchFamily="18" charset="0"/>
            </a:endParaRPr>
          </a:p>
          <a:p>
            <a:endParaRPr lang="en-US" dirty="0" smtClean="0">
              <a:solidFill>
                <a:srgbClr val="7030A0"/>
              </a:solidFill>
            </a:endParaRPr>
          </a:p>
          <a:p>
            <a:endParaRPr lang="en-US" dirty="0"/>
          </a:p>
        </p:txBody>
      </p:sp>
    </p:spTree>
    <p:extLst>
      <p:ext uri="{BB962C8B-B14F-4D97-AF65-F5344CB8AC3E}">
        <p14:creationId xmlns:p14="http://schemas.microsoft.com/office/powerpoint/2010/main" val="301782678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5429" y="0"/>
            <a:ext cx="8534400" cy="1096962"/>
          </a:xfrm>
          <a:solidFill>
            <a:schemeClr val="bg1"/>
          </a:solidFill>
        </p:spPr>
        <p:txBody>
          <a:bodyPr>
            <a:noAutofit/>
          </a:bodyPr>
          <a:lstStyle/>
          <a:p>
            <a:r>
              <a:rPr lang="en-US" sz="3200" b="1" dirty="0" smtClean="0">
                <a:latin typeface="Times New Roman" panose="02020603050405020304" pitchFamily="18" charset="0"/>
                <a:cs typeface="Times New Roman" panose="02020603050405020304" pitchFamily="18" charset="0"/>
              </a:rPr>
              <a:t>Timer Programming Example</a:t>
            </a:r>
            <a:r>
              <a:rPr lang="en-US" sz="2800" b="1" dirty="0" smtClean="0">
                <a:latin typeface="Times New Roman" panose="02020603050405020304" pitchFamily="18" charset="0"/>
                <a:cs typeface="Times New Roman" panose="02020603050405020304" pitchFamily="18" charset="0"/>
              </a:rPr>
              <a:t/>
            </a:r>
            <a:br>
              <a:rPr lang="en-US" sz="2800" b="1" dirty="0" smtClean="0">
                <a:latin typeface="Times New Roman" panose="02020603050405020304" pitchFamily="18" charset="0"/>
                <a:cs typeface="Times New Roman" panose="02020603050405020304" pitchFamily="18" charset="0"/>
              </a:rPr>
            </a:br>
            <a:r>
              <a:rPr lang="en-US" sz="2800" b="1" dirty="0" smtClean="0">
                <a:latin typeface="Times New Roman" panose="02020603050405020304" pitchFamily="18" charset="0"/>
                <a:cs typeface="Times New Roman" panose="02020603050405020304" pitchFamily="18" charset="0"/>
              </a:rPr>
              <a:t>1   Microsecond delay using timer</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60829" y="1082448"/>
            <a:ext cx="8229600" cy="5775552"/>
          </a:xfrm>
          <a:solidFill>
            <a:schemeClr val="bg1"/>
          </a:solidFill>
        </p:spPr>
        <p:txBody>
          <a:bodyPr>
            <a:normAutofit fontScale="40000" lnSpcReduction="20000"/>
          </a:bodyPr>
          <a:lstStyle/>
          <a:p>
            <a:pPr marL="0" indent="0">
              <a:buNone/>
            </a:pPr>
            <a:r>
              <a:rPr lang="en-US" sz="5800" dirty="0">
                <a:latin typeface="Times New Roman" pitchFamily="18" charset="0"/>
                <a:cs typeface="Times New Roman" pitchFamily="18" charset="0"/>
              </a:rPr>
              <a:t>void </a:t>
            </a:r>
            <a:r>
              <a:rPr lang="en-US" sz="5800" dirty="0" err="1">
                <a:latin typeface="Times New Roman" pitchFamily="18" charset="0"/>
                <a:cs typeface="Times New Roman" pitchFamily="18" charset="0"/>
              </a:rPr>
              <a:t>DelayUS</a:t>
            </a:r>
            <a:r>
              <a:rPr lang="en-US" sz="5800" dirty="0">
                <a:latin typeface="Times New Roman" pitchFamily="18" charset="0"/>
                <a:cs typeface="Times New Roman" pitchFamily="18" charset="0"/>
              </a:rPr>
              <a:t>(unsigned </a:t>
            </a:r>
            <a:r>
              <a:rPr lang="en-US" sz="5800" dirty="0" err="1">
                <a:latin typeface="Times New Roman" pitchFamily="18" charset="0"/>
                <a:cs typeface="Times New Roman" pitchFamily="18" charset="0"/>
              </a:rPr>
              <a:t>int</a:t>
            </a:r>
            <a:r>
              <a:rPr lang="en-US" sz="5800" dirty="0">
                <a:latin typeface="Times New Roman" pitchFamily="18" charset="0"/>
                <a:cs typeface="Times New Roman" pitchFamily="18" charset="0"/>
              </a:rPr>
              <a:t> microseconds)</a:t>
            </a:r>
          </a:p>
          <a:p>
            <a:pPr marL="0" indent="0">
              <a:buNone/>
            </a:pPr>
            <a:r>
              <a:rPr lang="en-US" sz="5800" dirty="0">
                <a:latin typeface="Times New Roman" pitchFamily="18" charset="0"/>
                <a:cs typeface="Times New Roman" pitchFamily="18" charset="0"/>
              </a:rPr>
              <a:t>{</a:t>
            </a:r>
          </a:p>
          <a:p>
            <a:pPr marL="0" indent="0">
              <a:buNone/>
            </a:pPr>
            <a:r>
              <a:rPr lang="en-US" sz="5800" dirty="0">
                <a:latin typeface="Times New Roman" pitchFamily="18" charset="0"/>
                <a:cs typeface="Times New Roman" pitchFamily="18" charset="0"/>
              </a:rPr>
              <a:t>	T0IR = 0;</a:t>
            </a:r>
          </a:p>
          <a:p>
            <a:pPr marL="0" indent="0">
              <a:buNone/>
            </a:pPr>
            <a:r>
              <a:rPr lang="en-US" sz="5800" dirty="0">
                <a:latin typeface="Times New Roman" pitchFamily="18" charset="0"/>
                <a:cs typeface="Times New Roman" pitchFamily="18" charset="0"/>
              </a:rPr>
              <a:t>	T0TCR = 0;</a:t>
            </a:r>
          </a:p>
          <a:p>
            <a:pPr marL="0" indent="0">
              <a:buNone/>
            </a:pPr>
            <a:r>
              <a:rPr lang="fr-FR" sz="5800" dirty="0">
                <a:latin typeface="Times New Roman" pitchFamily="18" charset="0"/>
                <a:cs typeface="Times New Roman" pitchFamily="18" charset="0"/>
              </a:rPr>
              <a:t>	T0PR = </a:t>
            </a:r>
            <a:r>
              <a:rPr lang="en-US" sz="5800" b="1" dirty="0" smtClean="0">
                <a:solidFill>
                  <a:srgbClr val="FF0000"/>
                </a:solidFill>
                <a:latin typeface="Times New Roman" panose="02020603050405020304" pitchFamily="18" charset="0"/>
                <a:cs typeface="Times New Roman" panose="02020603050405020304" pitchFamily="18" charset="0"/>
              </a:rPr>
              <a:t>59</a:t>
            </a:r>
            <a:r>
              <a:rPr lang="fr-FR" sz="5800" b="1" dirty="0" smtClean="0">
                <a:solidFill>
                  <a:srgbClr val="FF0000"/>
                </a:solidFill>
                <a:latin typeface="Times New Roman" pitchFamily="18" charset="0"/>
                <a:cs typeface="Times New Roman" pitchFamily="18" charset="0"/>
              </a:rPr>
              <a:t>;</a:t>
            </a:r>
            <a:r>
              <a:rPr lang="fr-FR" sz="5800" dirty="0" smtClean="0">
                <a:latin typeface="Times New Roman" pitchFamily="18" charset="0"/>
                <a:cs typeface="Times New Roman" pitchFamily="18" charset="0"/>
              </a:rPr>
              <a:t>                 //for  </a:t>
            </a:r>
            <a:r>
              <a:rPr lang="fr-FR" sz="5800" dirty="0">
                <a:latin typeface="Times New Roman" pitchFamily="18" charset="0"/>
                <a:cs typeface="Times New Roman" pitchFamily="18" charset="0"/>
              </a:rPr>
              <a:t>= </a:t>
            </a:r>
            <a:r>
              <a:rPr lang="fr-FR" sz="5800" dirty="0" smtClean="0">
                <a:latin typeface="Times New Roman" pitchFamily="18" charset="0"/>
                <a:cs typeface="Times New Roman" pitchFamily="18" charset="0"/>
              </a:rPr>
              <a:t>1mS</a:t>
            </a:r>
            <a:endParaRPr lang="fr-FR" sz="5800" dirty="0">
              <a:latin typeface="Times New Roman" pitchFamily="18" charset="0"/>
              <a:cs typeface="Times New Roman" pitchFamily="18" charset="0"/>
            </a:endParaRPr>
          </a:p>
          <a:p>
            <a:pPr marL="0" indent="0">
              <a:buNone/>
            </a:pPr>
            <a:r>
              <a:rPr lang="en-US" sz="5800" dirty="0">
                <a:latin typeface="Times New Roman" pitchFamily="18" charset="0"/>
                <a:cs typeface="Times New Roman" pitchFamily="18" charset="0"/>
              </a:rPr>
              <a:t>	T0PC = 0;</a:t>
            </a:r>
          </a:p>
          <a:p>
            <a:pPr marL="0" indent="0">
              <a:buNone/>
            </a:pPr>
            <a:r>
              <a:rPr lang="en-US" sz="5800" dirty="0">
                <a:latin typeface="Times New Roman" pitchFamily="18" charset="0"/>
                <a:cs typeface="Times New Roman" pitchFamily="18" charset="0"/>
              </a:rPr>
              <a:t>	T0TC = 0;</a:t>
            </a:r>
          </a:p>
          <a:p>
            <a:pPr marL="0" indent="0">
              <a:buNone/>
            </a:pPr>
            <a:r>
              <a:rPr lang="en-US" sz="5800" dirty="0">
                <a:latin typeface="Times New Roman" pitchFamily="18" charset="0"/>
                <a:cs typeface="Times New Roman" pitchFamily="18" charset="0"/>
              </a:rPr>
              <a:t>	</a:t>
            </a:r>
          </a:p>
          <a:p>
            <a:pPr marL="0" indent="0">
              <a:buNone/>
            </a:pPr>
            <a:r>
              <a:rPr lang="en-US" sz="5800" dirty="0">
                <a:latin typeface="Times New Roman" pitchFamily="18" charset="0"/>
                <a:cs typeface="Times New Roman" pitchFamily="18" charset="0"/>
              </a:rPr>
              <a:t>	T0TCR = 0x01; //enable timer</a:t>
            </a:r>
          </a:p>
          <a:p>
            <a:pPr marL="0" indent="0">
              <a:buNone/>
            </a:pPr>
            <a:r>
              <a:rPr lang="en-US" sz="5800" dirty="0">
                <a:latin typeface="Times New Roman" pitchFamily="18" charset="0"/>
                <a:cs typeface="Times New Roman" pitchFamily="18" charset="0"/>
              </a:rPr>
              <a:t>	</a:t>
            </a:r>
          </a:p>
          <a:p>
            <a:pPr marL="0" indent="0">
              <a:buNone/>
            </a:pPr>
            <a:r>
              <a:rPr lang="en-IN" sz="5800" dirty="0">
                <a:latin typeface="Times New Roman" pitchFamily="18" charset="0"/>
                <a:cs typeface="Times New Roman" pitchFamily="18" charset="0"/>
              </a:rPr>
              <a:t>	//wait until timer counter reaches the desired delay</a:t>
            </a:r>
          </a:p>
          <a:p>
            <a:pPr marL="0" indent="0">
              <a:buNone/>
            </a:pPr>
            <a:r>
              <a:rPr lang="en-US" sz="5800" dirty="0">
                <a:latin typeface="Times New Roman" pitchFamily="18" charset="0"/>
                <a:cs typeface="Times New Roman" pitchFamily="18" charset="0"/>
              </a:rPr>
              <a:t>	while(T0TC &lt; </a:t>
            </a:r>
            <a:r>
              <a:rPr lang="en-US" sz="5800" dirty="0" smtClean="0">
                <a:latin typeface="Times New Roman" pitchFamily="18" charset="0"/>
                <a:cs typeface="Times New Roman" pitchFamily="18" charset="0"/>
              </a:rPr>
              <a:t>1 </a:t>
            </a:r>
            <a:r>
              <a:rPr lang="en-US" sz="5800" dirty="0" err="1" smtClean="0">
                <a:latin typeface="Times New Roman" pitchFamily="18" charset="0"/>
                <a:cs typeface="Times New Roman" pitchFamily="18" charset="0"/>
              </a:rPr>
              <a:t>ms</a:t>
            </a:r>
            <a:r>
              <a:rPr lang="en-US" sz="5800" dirty="0" smtClean="0">
                <a:latin typeface="Times New Roman" pitchFamily="18" charset="0"/>
                <a:cs typeface="Times New Roman" pitchFamily="18" charset="0"/>
              </a:rPr>
              <a:t>);</a:t>
            </a:r>
            <a:endParaRPr lang="en-US" sz="5800" dirty="0">
              <a:latin typeface="Times New Roman" pitchFamily="18" charset="0"/>
              <a:cs typeface="Times New Roman" pitchFamily="18" charset="0"/>
            </a:endParaRPr>
          </a:p>
          <a:p>
            <a:pPr marL="0" indent="0">
              <a:buNone/>
            </a:pPr>
            <a:r>
              <a:rPr lang="en-US" sz="5800" dirty="0">
                <a:latin typeface="Times New Roman" pitchFamily="18" charset="0"/>
                <a:cs typeface="Times New Roman" pitchFamily="18" charset="0"/>
              </a:rPr>
              <a:t>	</a:t>
            </a:r>
          </a:p>
          <a:p>
            <a:pPr marL="0" indent="0">
              <a:buNone/>
            </a:pPr>
            <a:r>
              <a:rPr lang="en-US" sz="5800" dirty="0">
                <a:latin typeface="Times New Roman" pitchFamily="18" charset="0"/>
                <a:cs typeface="Times New Roman" pitchFamily="18" charset="0"/>
              </a:rPr>
              <a:t>	T0TCR = 0x00; //disable timer</a:t>
            </a:r>
          </a:p>
          <a:p>
            <a:pPr marL="0" indent="0">
              <a:buNone/>
            </a:pPr>
            <a:r>
              <a:rPr lang="en-US" sz="5800" dirty="0">
                <a:latin typeface="Times New Roman" pitchFamily="18" charset="0"/>
                <a:cs typeface="Times New Roman" pitchFamily="18" charset="0"/>
              </a:rPr>
              <a:t>}</a:t>
            </a:r>
          </a:p>
          <a:p>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87362"/>
          </a:xfrm>
          <a:solidFill>
            <a:schemeClr val="bg1"/>
          </a:solidFill>
        </p:spPr>
        <p:txBody>
          <a:bodyPr>
            <a:normAutofit fontScale="90000"/>
          </a:bodyPr>
          <a:lstStyle/>
          <a:p>
            <a:r>
              <a:rPr lang="en-US" sz="3600" b="1" dirty="0">
                <a:latin typeface="Times New Roman" panose="02020603050405020304" pitchFamily="18" charset="0"/>
                <a:cs typeface="Times New Roman" panose="02020603050405020304" pitchFamily="18" charset="0"/>
              </a:rPr>
              <a:t>1   </a:t>
            </a:r>
            <a:r>
              <a:rPr lang="en-US" sz="3600" b="1" dirty="0" smtClean="0">
                <a:latin typeface="Times New Roman" panose="02020603050405020304" pitchFamily="18" charset="0"/>
                <a:cs typeface="Times New Roman" panose="02020603050405020304" pitchFamily="18" charset="0"/>
              </a:rPr>
              <a:t>Millisecond </a:t>
            </a:r>
            <a:r>
              <a:rPr lang="en-US" sz="3600" b="1" dirty="0">
                <a:latin typeface="Times New Roman" panose="02020603050405020304" pitchFamily="18" charset="0"/>
                <a:cs typeface="Times New Roman" panose="02020603050405020304" pitchFamily="18" charset="0"/>
              </a:rPr>
              <a:t>delay using timer</a:t>
            </a:r>
          </a:p>
        </p:txBody>
      </p:sp>
      <p:sp>
        <p:nvSpPr>
          <p:cNvPr id="3" name="Content Placeholder 2"/>
          <p:cNvSpPr>
            <a:spLocks noGrp="1"/>
          </p:cNvSpPr>
          <p:nvPr>
            <p:ph idx="1"/>
          </p:nvPr>
        </p:nvSpPr>
        <p:spPr>
          <a:xfrm>
            <a:off x="457200" y="487362"/>
            <a:ext cx="8229600" cy="6218238"/>
          </a:xfrm>
          <a:solidFill>
            <a:schemeClr val="bg1"/>
          </a:solidFill>
        </p:spPr>
        <p:txBody>
          <a:bodyPr>
            <a:normAutofit fontScale="85000" lnSpcReduction="20000"/>
          </a:bodyPr>
          <a:lstStyle/>
          <a:p>
            <a:pPr marL="0" indent="0">
              <a:buNone/>
            </a:pPr>
            <a:r>
              <a:rPr lang="en-US" dirty="0">
                <a:latin typeface="Times New Roman" pitchFamily="18" charset="0"/>
                <a:cs typeface="Times New Roman" pitchFamily="18" charset="0"/>
              </a:rPr>
              <a:t>void </a:t>
            </a:r>
            <a:r>
              <a:rPr lang="en-US" dirty="0" err="1">
                <a:latin typeface="Times New Roman" pitchFamily="18" charset="0"/>
                <a:cs typeface="Times New Roman" pitchFamily="18" charset="0"/>
              </a:rPr>
              <a:t>DelayMS</a:t>
            </a:r>
            <a:r>
              <a:rPr lang="en-US" dirty="0">
                <a:latin typeface="Times New Roman" pitchFamily="18" charset="0"/>
                <a:cs typeface="Times New Roman" pitchFamily="18" charset="0"/>
              </a:rPr>
              <a:t>(unsigned </a:t>
            </a:r>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milliseconds)</a:t>
            </a:r>
          </a:p>
          <a:p>
            <a:pPr marL="0" indent="0">
              <a:buNone/>
            </a:pPr>
            <a:r>
              <a:rPr lang="en-US" dirty="0">
                <a:latin typeface="Times New Roman" pitchFamily="18" charset="0"/>
                <a:cs typeface="Times New Roman" pitchFamily="18" charset="0"/>
              </a:rPr>
              <a:t>{</a:t>
            </a:r>
          </a:p>
          <a:p>
            <a:pPr marL="0" indent="0">
              <a:buNone/>
            </a:pPr>
            <a:r>
              <a:rPr lang="en-US" dirty="0">
                <a:latin typeface="Times New Roman" pitchFamily="18" charset="0"/>
                <a:cs typeface="Times New Roman" pitchFamily="18" charset="0"/>
              </a:rPr>
              <a:t>	T0IR = 0;</a:t>
            </a:r>
          </a:p>
          <a:p>
            <a:pPr marL="0" indent="0">
              <a:buNone/>
            </a:pPr>
            <a:r>
              <a:rPr lang="en-US" dirty="0">
                <a:latin typeface="Times New Roman" pitchFamily="18" charset="0"/>
                <a:cs typeface="Times New Roman" pitchFamily="18" charset="0"/>
              </a:rPr>
              <a:t>	T0TCR = 0;</a:t>
            </a:r>
          </a:p>
          <a:p>
            <a:pPr marL="0" indent="0">
              <a:buNone/>
            </a:pPr>
            <a:r>
              <a:rPr lang="fr-FR" dirty="0">
                <a:latin typeface="Times New Roman" pitchFamily="18" charset="0"/>
                <a:cs typeface="Times New Roman" pitchFamily="18" charset="0"/>
              </a:rPr>
              <a:t>	T0PR = </a:t>
            </a:r>
            <a:r>
              <a:rPr lang="fr-FR" dirty="0" smtClean="0">
                <a:latin typeface="Times New Roman" pitchFamily="18" charset="0"/>
                <a:cs typeface="Times New Roman" pitchFamily="18" charset="0"/>
              </a:rPr>
              <a:t>5999    For 1 </a:t>
            </a:r>
            <a:r>
              <a:rPr lang="fr-FR" dirty="0" err="1" smtClean="0">
                <a:latin typeface="Times New Roman" pitchFamily="18" charset="0"/>
                <a:cs typeface="Times New Roman" pitchFamily="18" charset="0"/>
              </a:rPr>
              <a:t>mS</a:t>
            </a:r>
            <a:r>
              <a:rPr lang="fr-FR" dirty="0" smtClean="0">
                <a:latin typeface="Times New Roman" pitchFamily="18" charset="0"/>
                <a:cs typeface="Times New Roman" pitchFamily="18" charset="0"/>
              </a:rPr>
              <a:t> </a:t>
            </a:r>
            <a:r>
              <a:rPr lang="fr-FR" dirty="0" err="1" smtClean="0">
                <a:latin typeface="Times New Roman" pitchFamily="18" charset="0"/>
                <a:cs typeface="Times New Roman" pitchFamily="18" charset="0"/>
              </a:rPr>
              <a:t>delay</a:t>
            </a:r>
            <a:endParaRPr lang="fr-FR" dirty="0">
              <a:latin typeface="Times New Roman" pitchFamily="18" charset="0"/>
              <a:cs typeface="Times New Roman" pitchFamily="18" charset="0"/>
            </a:endParaRPr>
          </a:p>
          <a:p>
            <a:pPr marL="0" indent="0">
              <a:buNone/>
            </a:pPr>
            <a:r>
              <a:rPr lang="en-US" dirty="0">
                <a:latin typeface="Times New Roman" pitchFamily="18" charset="0"/>
                <a:cs typeface="Times New Roman" pitchFamily="18" charset="0"/>
              </a:rPr>
              <a:t>	T0PC = 0;</a:t>
            </a:r>
          </a:p>
          <a:p>
            <a:pPr marL="0" indent="0">
              <a:buNone/>
            </a:pPr>
            <a:r>
              <a:rPr lang="en-US" dirty="0">
                <a:latin typeface="Times New Roman" pitchFamily="18" charset="0"/>
                <a:cs typeface="Times New Roman" pitchFamily="18" charset="0"/>
              </a:rPr>
              <a:t>	T0TC = 0;</a:t>
            </a:r>
          </a:p>
          <a:p>
            <a:pPr marL="0" indent="0">
              <a:buNone/>
            </a:pPr>
            <a:r>
              <a:rPr lang="en-US" dirty="0">
                <a:latin typeface="Times New Roman" pitchFamily="18" charset="0"/>
                <a:cs typeface="Times New Roman" pitchFamily="18" charset="0"/>
              </a:rPr>
              <a:t>	</a:t>
            </a:r>
          </a:p>
          <a:p>
            <a:pPr marL="0" indent="0">
              <a:buNone/>
            </a:pPr>
            <a:r>
              <a:rPr lang="en-US" dirty="0">
                <a:latin typeface="Times New Roman" pitchFamily="18" charset="0"/>
                <a:cs typeface="Times New Roman" pitchFamily="18" charset="0"/>
              </a:rPr>
              <a:t>	T0TCR = 0x01; //enable timer</a:t>
            </a:r>
          </a:p>
          <a:p>
            <a:pPr marL="0" indent="0">
              <a:buNone/>
            </a:pPr>
            <a:r>
              <a:rPr lang="en-US" dirty="0">
                <a:latin typeface="Times New Roman" pitchFamily="18" charset="0"/>
                <a:cs typeface="Times New Roman" pitchFamily="18" charset="0"/>
              </a:rPr>
              <a:t>	</a:t>
            </a:r>
          </a:p>
          <a:p>
            <a:pPr marL="0" indent="0">
              <a:buNone/>
            </a:pPr>
            <a:r>
              <a:rPr lang="en-IN" dirty="0">
                <a:latin typeface="Times New Roman" pitchFamily="18" charset="0"/>
                <a:cs typeface="Times New Roman" pitchFamily="18" charset="0"/>
              </a:rPr>
              <a:t>	//wait until timer counter reaches the desired delay</a:t>
            </a:r>
          </a:p>
          <a:p>
            <a:pPr marL="0" indent="0">
              <a:buNone/>
            </a:pPr>
            <a:r>
              <a:rPr lang="en-US" dirty="0">
                <a:latin typeface="Times New Roman" pitchFamily="18" charset="0"/>
                <a:cs typeface="Times New Roman" pitchFamily="18" charset="0"/>
              </a:rPr>
              <a:t>	while(T0TC &lt; milliseconds);</a:t>
            </a:r>
          </a:p>
          <a:p>
            <a:pPr marL="0" indent="0">
              <a:buNone/>
            </a:pPr>
            <a:r>
              <a:rPr lang="en-US" dirty="0">
                <a:latin typeface="Times New Roman" pitchFamily="18" charset="0"/>
                <a:cs typeface="Times New Roman" pitchFamily="18" charset="0"/>
              </a:rPr>
              <a:t>	</a:t>
            </a:r>
          </a:p>
          <a:p>
            <a:pPr marL="0" indent="0">
              <a:buNone/>
            </a:pPr>
            <a:r>
              <a:rPr lang="en-US" dirty="0">
                <a:latin typeface="Times New Roman" pitchFamily="18" charset="0"/>
                <a:cs typeface="Times New Roman" pitchFamily="18" charset="0"/>
              </a:rPr>
              <a:t>	T0TCR = 0x00; //disable timer</a:t>
            </a:r>
          </a:p>
          <a:p>
            <a:pPr marL="0" indent="0">
              <a:buNone/>
            </a:pPr>
            <a:r>
              <a:rPr lang="en-US" dirty="0"/>
              <a:t>}</a:t>
            </a:r>
          </a:p>
        </p:txBody>
      </p:sp>
    </p:spTree>
    <p:extLst>
      <p:ext uri="{BB962C8B-B14F-4D97-AF65-F5344CB8AC3E}">
        <p14:creationId xmlns:p14="http://schemas.microsoft.com/office/powerpoint/2010/main" val="83096856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762000"/>
            <a:ext cx="8229600" cy="6172200"/>
          </a:xfrm>
          <a:solidFill>
            <a:schemeClr val="bg1"/>
          </a:solidFill>
        </p:spPr>
        <p:txBody>
          <a:bodyPr>
            <a:normAutofit fontScale="77500" lnSpcReduction="20000"/>
          </a:bodyPr>
          <a:lstStyle/>
          <a:p>
            <a:pPr marL="0" indent="0">
              <a:buNone/>
            </a:pPr>
            <a:r>
              <a:rPr lang="en-US" dirty="0" smtClean="0">
                <a:latin typeface="Times New Roman" pitchFamily="18" charset="0"/>
                <a:cs typeface="Times New Roman" pitchFamily="18" charset="0"/>
              </a:rPr>
              <a:t>void </a:t>
            </a:r>
            <a:r>
              <a:rPr lang="en-US" dirty="0" err="1">
                <a:latin typeface="Times New Roman" pitchFamily="18" charset="0"/>
                <a:cs typeface="Times New Roman" pitchFamily="18" charset="0"/>
              </a:rPr>
              <a:t>DelayS</a:t>
            </a:r>
            <a:r>
              <a:rPr lang="en-US" dirty="0">
                <a:latin typeface="Times New Roman" pitchFamily="18" charset="0"/>
                <a:cs typeface="Times New Roman" pitchFamily="18" charset="0"/>
              </a:rPr>
              <a:t>(unsigned </a:t>
            </a:r>
            <a:r>
              <a:rPr lang="en-US" dirty="0" err="1">
                <a:latin typeface="Times New Roman" pitchFamily="18" charset="0"/>
                <a:cs typeface="Times New Roman" pitchFamily="18" charset="0"/>
              </a:rPr>
              <a:t>int</a:t>
            </a:r>
            <a:r>
              <a:rPr lang="en-US" dirty="0">
                <a:latin typeface="Times New Roman" pitchFamily="18" charset="0"/>
                <a:cs typeface="Times New Roman" pitchFamily="18" charset="0"/>
              </a:rPr>
              <a:t> seconds)</a:t>
            </a:r>
          </a:p>
          <a:p>
            <a:pPr marL="0" indent="0">
              <a:buNone/>
            </a:pPr>
            <a:r>
              <a:rPr lang="en-US" dirty="0">
                <a:latin typeface="Times New Roman" pitchFamily="18" charset="0"/>
                <a:cs typeface="Times New Roman" pitchFamily="18" charset="0"/>
              </a:rPr>
              <a:t>{</a:t>
            </a:r>
          </a:p>
          <a:p>
            <a:pPr marL="0" indent="0">
              <a:buNone/>
            </a:pPr>
            <a:r>
              <a:rPr lang="en-US" dirty="0">
                <a:latin typeface="Times New Roman" pitchFamily="18" charset="0"/>
                <a:cs typeface="Times New Roman" pitchFamily="18" charset="0"/>
              </a:rPr>
              <a:t>	T0IR = 0;</a:t>
            </a:r>
          </a:p>
          <a:p>
            <a:pPr marL="0" indent="0">
              <a:buNone/>
            </a:pPr>
            <a:r>
              <a:rPr lang="en-US" dirty="0">
                <a:latin typeface="Times New Roman" pitchFamily="18" charset="0"/>
                <a:cs typeface="Times New Roman" pitchFamily="18" charset="0"/>
              </a:rPr>
              <a:t>	T0TCR = 0;</a:t>
            </a:r>
          </a:p>
          <a:p>
            <a:pPr marL="0" indent="0">
              <a:buNone/>
            </a:pPr>
            <a:r>
              <a:rPr lang="fr-FR" dirty="0">
                <a:latin typeface="Times New Roman" pitchFamily="18" charset="0"/>
                <a:cs typeface="Times New Roman" pitchFamily="18" charset="0"/>
              </a:rPr>
              <a:t>	T0PR = </a:t>
            </a:r>
            <a:r>
              <a:rPr lang="fr-FR" dirty="0" smtClean="0">
                <a:latin typeface="Times New Roman" pitchFamily="18" charset="0"/>
                <a:cs typeface="Times New Roman" pitchFamily="18" charset="0"/>
              </a:rPr>
              <a:t>59999999 ;  for = </a:t>
            </a:r>
            <a:r>
              <a:rPr lang="fr-FR" dirty="0">
                <a:latin typeface="Times New Roman" pitchFamily="18" charset="0"/>
                <a:cs typeface="Times New Roman" pitchFamily="18" charset="0"/>
              </a:rPr>
              <a:t>1 </a:t>
            </a:r>
            <a:r>
              <a:rPr lang="fr-FR" dirty="0" smtClean="0">
                <a:latin typeface="Times New Roman" pitchFamily="18" charset="0"/>
                <a:cs typeface="Times New Roman" pitchFamily="18" charset="0"/>
              </a:rPr>
              <a:t>Second </a:t>
            </a:r>
            <a:r>
              <a:rPr lang="fr-FR" dirty="0" err="1" smtClean="0">
                <a:latin typeface="Times New Roman" pitchFamily="18" charset="0"/>
                <a:cs typeface="Times New Roman" pitchFamily="18" charset="0"/>
              </a:rPr>
              <a:t>delay</a:t>
            </a:r>
            <a:endParaRPr lang="fr-FR" dirty="0">
              <a:latin typeface="Times New Roman" pitchFamily="18" charset="0"/>
              <a:cs typeface="Times New Roman" pitchFamily="18" charset="0"/>
            </a:endParaRPr>
          </a:p>
          <a:p>
            <a:pPr marL="0" indent="0">
              <a:buNone/>
            </a:pPr>
            <a:r>
              <a:rPr lang="en-US" dirty="0">
                <a:latin typeface="Times New Roman" pitchFamily="18" charset="0"/>
                <a:cs typeface="Times New Roman" pitchFamily="18" charset="0"/>
              </a:rPr>
              <a:t>	T0PC = 0;</a:t>
            </a:r>
          </a:p>
          <a:p>
            <a:pPr marL="0" indent="0">
              <a:buNone/>
            </a:pPr>
            <a:r>
              <a:rPr lang="en-US" dirty="0">
                <a:latin typeface="Times New Roman" pitchFamily="18" charset="0"/>
                <a:cs typeface="Times New Roman" pitchFamily="18" charset="0"/>
              </a:rPr>
              <a:t>	T0TC = 0;</a:t>
            </a:r>
          </a:p>
          <a:p>
            <a:pPr marL="0" indent="0">
              <a:buNone/>
            </a:pPr>
            <a:r>
              <a:rPr lang="en-US" dirty="0">
                <a:latin typeface="Times New Roman" pitchFamily="18" charset="0"/>
                <a:cs typeface="Times New Roman" pitchFamily="18" charset="0"/>
              </a:rPr>
              <a:t>	</a:t>
            </a:r>
          </a:p>
          <a:p>
            <a:pPr marL="0" indent="0">
              <a:buNone/>
            </a:pPr>
            <a:r>
              <a:rPr lang="en-US" dirty="0">
                <a:latin typeface="Times New Roman" pitchFamily="18" charset="0"/>
                <a:cs typeface="Times New Roman" pitchFamily="18" charset="0"/>
              </a:rPr>
              <a:t>	T0TCR = 0x01; //enable timer</a:t>
            </a:r>
          </a:p>
          <a:p>
            <a:pPr marL="0" indent="0">
              <a:buNone/>
            </a:pPr>
            <a:r>
              <a:rPr lang="en-US" dirty="0">
                <a:latin typeface="Times New Roman" pitchFamily="18" charset="0"/>
                <a:cs typeface="Times New Roman" pitchFamily="18" charset="0"/>
              </a:rPr>
              <a:t>	</a:t>
            </a:r>
          </a:p>
          <a:p>
            <a:pPr marL="0" indent="0">
              <a:buNone/>
            </a:pPr>
            <a:r>
              <a:rPr lang="en-IN" dirty="0">
                <a:latin typeface="Times New Roman" pitchFamily="18" charset="0"/>
                <a:cs typeface="Times New Roman" pitchFamily="18" charset="0"/>
              </a:rPr>
              <a:t>	//wait until timer counter reaches the desired delay</a:t>
            </a:r>
          </a:p>
          <a:p>
            <a:pPr marL="0" indent="0">
              <a:buNone/>
            </a:pPr>
            <a:r>
              <a:rPr lang="en-US" dirty="0">
                <a:latin typeface="Times New Roman" pitchFamily="18" charset="0"/>
                <a:cs typeface="Times New Roman" pitchFamily="18" charset="0"/>
              </a:rPr>
              <a:t>	while(T0TC &lt; seconds);</a:t>
            </a:r>
          </a:p>
          <a:p>
            <a:pPr marL="0" indent="0">
              <a:buNone/>
            </a:pPr>
            <a:r>
              <a:rPr lang="en-US" dirty="0">
                <a:latin typeface="Times New Roman" pitchFamily="18" charset="0"/>
                <a:cs typeface="Times New Roman" pitchFamily="18" charset="0"/>
              </a:rPr>
              <a:t>	</a:t>
            </a:r>
          </a:p>
          <a:p>
            <a:pPr marL="0" indent="0">
              <a:buNone/>
            </a:pPr>
            <a:r>
              <a:rPr lang="en-US" dirty="0">
                <a:latin typeface="Times New Roman" pitchFamily="18" charset="0"/>
                <a:cs typeface="Times New Roman" pitchFamily="18" charset="0"/>
              </a:rPr>
              <a:t>	T0TCR = 0x00; //disable timer</a:t>
            </a:r>
          </a:p>
          <a:p>
            <a:pPr marL="0" indent="0">
              <a:buNone/>
            </a:pPr>
            <a:r>
              <a:rPr lang="en-US" dirty="0">
                <a:latin typeface="Times New Roman" pitchFamily="18" charset="0"/>
                <a:cs typeface="Times New Roman" pitchFamily="18" charset="0"/>
              </a:rPr>
              <a:t>}</a:t>
            </a:r>
          </a:p>
          <a:p>
            <a:endParaRPr lang="en-US" dirty="0"/>
          </a:p>
        </p:txBody>
      </p:sp>
      <p:sp>
        <p:nvSpPr>
          <p:cNvPr id="2" name="Title 1"/>
          <p:cNvSpPr>
            <a:spLocks noGrp="1"/>
          </p:cNvSpPr>
          <p:nvPr>
            <p:ph type="title"/>
          </p:nvPr>
        </p:nvSpPr>
        <p:spPr>
          <a:xfrm>
            <a:off x="457200" y="0"/>
            <a:ext cx="8229600" cy="487362"/>
          </a:xfrm>
          <a:solidFill>
            <a:schemeClr val="bg1"/>
          </a:solidFill>
        </p:spPr>
        <p:txBody>
          <a:bodyPr>
            <a:normAutofit fontScale="90000"/>
          </a:bodyPr>
          <a:lstStyle/>
          <a:p>
            <a:r>
              <a:rPr lang="en-US" sz="3600" b="1" dirty="0">
                <a:latin typeface="Times New Roman" panose="02020603050405020304" pitchFamily="18" charset="0"/>
                <a:cs typeface="Times New Roman" panose="02020603050405020304" pitchFamily="18" charset="0"/>
              </a:rPr>
              <a:t>1   </a:t>
            </a:r>
            <a:r>
              <a:rPr lang="en-US" sz="3600" b="1" dirty="0" smtClean="0">
                <a:latin typeface="Times New Roman" panose="02020603050405020304" pitchFamily="18" charset="0"/>
                <a:cs typeface="Times New Roman" panose="02020603050405020304" pitchFamily="18" charset="0"/>
              </a:rPr>
              <a:t>Second </a:t>
            </a:r>
            <a:r>
              <a:rPr lang="en-US" sz="3600" b="1" dirty="0">
                <a:latin typeface="Times New Roman" panose="02020603050405020304" pitchFamily="18" charset="0"/>
                <a:cs typeface="Times New Roman" panose="02020603050405020304" pitchFamily="18" charset="0"/>
              </a:rPr>
              <a:t>delay using timer</a:t>
            </a:r>
          </a:p>
        </p:txBody>
      </p:sp>
    </p:spTree>
    <p:extLst>
      <p:ext uri="{BB962C8B-B14F-4D97-AF65-F5344CB8AC3E}">
        <p14:creationId xmlns:p14="http://schemas.microsoft.com/office/powerpoint/2010/main" val="281360194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11162"/>
          </a:xfrm>
          <a:solidFill>
            <a:schemeClr val="bg1"/>
          </a:solidFill>
        </p:spPr>
        <p:txBody>
          <a:bodyPr>
            <a:noAutofit/>
          </a:bodyPr>
          <a:lstStyle/>
          <a:p>
            <a:r>
              <a:rPr lang="en-US" sz="3100" b="1" dirty="0" smtClean="0">
                <a:latin typeface="Times New Roman" panose="02020603050405020304" pitchFamily="18" charset="0"/>
                <a:cs typeface="Times New Roman" panose="02020603050405020304" pitchFamily="18" charset="0"/>
              </a:rPr>
              <a:t>Interfacing LEDs to ARM 7 Controller- (LPC2148 ):</a:t>
            </a:r>
            <a:endParaRPr lang="en-US" sz="31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8600" y="609600"/>
            <a:ext cx="8686800" cy="5257800"/>
          </a:xfrm>
          <a:solidFill>
            <a:schemeClr val="bg1"/>
          </a:solidFill>
        </p:spPr>
        <p:txBody>
          <a:bodyPr>
            <a:normAutofit fontScale="92500" lnSpcReduction="20000"/>
          </a:bodyPr>
          <a:lstStyle/>
          <a:p>
            <a:pPr marL="0" indent="0" algn="just">
              <a:buNone/>
            </a:pPr>
            <a:endParaRPr lang="en-US" dirty="0" smtClean="0"/>
          </a:p>
          <a:p>
            <a:pPr algn="just" hangingPunct="0"/>
            <a:r>
              <a:rPr lang="en-US" dirty="0" smtClean="0">
                <a:latin typeface="Times New Roman" panose="02020603050405020304" pitchFamily="18" charset="0"/>
                <a:cs typeface="Times New Roman" panose="02020603050405020304" pitchFamily="18" charset="0"/>
              </a:rPr>
              <a:t>Light Emitting Diodes (LEDs) are popularly used display components used to indicate the ON and OFF state of a system. These are also used to realize various counters like binary counters experimentally. These LEDs can be easily interfaced with the Port pins of any Microcontroller by using current limiting resistors of the order of 220 Ohms.</a:t>
            </a:r>
          </a:p>
          <a:p>
            <a:pPr algn="just">
              <a:buNone/>
            </a:pPr>
            <a:endParaRPr lang="en-US" dirty="0" smtClean="0">
              <a:latin typeface="Times New Roman" panose="02020603050405020304" pitchFamily="18" charset="0"/>
              <a:cs typeface="Times New Roman" panose="02020603050405020304" pitchFamily="18" charset="0"/>
            </a:endParaRPr>
          </a:p>
          <a:p>
            <a:pPr algn="just" hangingPunct="0"/>
            <a:r>
              <a:rPr lang="en-US" dirty="0" smtClean="0">
                <a:latin typeface="Times New Roman" panose="02020603050405020304" pitchFamily="18" charset="0"/>
                <a:cs typeface="Times New Roman" panose="02020603050405020304" pitchFamily="18" charset="0"/>
              </a:rPr>
              <a:t>The diagram below shows the interfacing of LED array to the Port1 pins of LPC2148 ARM 7 microcontroller</a:t>
            </a:r>
          </a:p>
          <a:p>
            <a:pPr algn="just"/>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1914"/>
            <a:ext cx="9144000" cy="639762"/>
          </a:xfrm>
          <a:solidFill>
            <a:schemeClr val="bg1"/>
          </a:solidFill>
        </p:spPr>
        <p:txBody>
          <a:bodyPr>
            <a:noAutofit/>
          </a:bodyPr>
          <a:lstStyle/>
          <a:p>
            <a:r>
              <a:rPr lang="en-US" sz="3100" b="1" dirty="0">
                <a:solidFill>
                  <a:prstClr val="black"/>
                </a:solidFill>
                <a:latin typeface="Times New Roman" panose="02020603050405020304" pitchFamily="18" charset="0"/>
                <a:cs typeface="Times New Roman" panose="02020603050405020304" pitchFamily="18" charset="0"/>
              </a:rPr>
              <a:t>Interfacing LEDs to ARM 7 </a:t>
            </a:r>
            <a:r>
              <a:rPr lang="en-US" sz="3100" b="1" dirty="0" smtClean="0">
                <a:solidFill>
                  <a:prstClr val="black"/>
                </a:solidFill>
                <a:latin typeface="Times New Roman" panose="02020603050405020304" pitchFamily="18" charset="0"/>
                <a:cs typeface="Times New Roman" panose="02020603050405020304" pitchFamily="18" charset="0"/>
              </a:rPr>
              <a:t>Controller (LPC2148)</a:t>
            </a:r>
            <a:endParaRPr lang="en-US" sz="2800" dirty="0"/>
          </a:p>
        </p:txBody>
      </p:sp>
      <p:pic>
        <p:nvPicPr>
          <p:cNvPr id="4" name="Content Placeholder 3"/>
          <p:cNvPicPr>
            <a:picLocks noGrp="1"/>
          </p:cNvPicPr>
          <p:nvPr>
            <p:ph idx="1"/>
          </p:nvPr>
        </p:nvPicPr>
        <p:blipFill>
          <a:blip r:embed="rId2" cstate="print"/>
          <a:srcRect/>
          <a:stretch>
            <a:fillRect/>
          </a:stretch>
        </p:blipFill>
        <p:spPr bwMode="auto">
          <a:xfrm>
            <a:off x="838200" y="838200"/>
            <a:ext cx="7315200" cy="6019799"/>
          </a:xfrm>
          <a:prstGeom prst="rect">
            <a:avLst/>
          </a:prstGeom>
          <a:noFill/>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63562"/>
          </a:xfrm>
          <a:solidFill>
            <a:schemeClr val="bg1"/>
          </a:solidFill>
        </p:spPr>
        <p:txBody>
          <a:bodyPr>
            <a:normAutofit fontScale="90000"/>
          </a:bodyPr>
          <a:lstStyle/>
          <a:p>
            <a:r>
              <a:rPr lang="en-US" b="1" dirty="0" smtClean="0"/>
              <a:t/>
            </a:r>
            <a:br>
              <a:rPr lang="en-US" b="1" dirty="0" smtClean="0"/>
            </a:br>
            <a:r>
              <a:rPr lang="en-US" b="1" dirty="0">
                <a:latin typeface="Times New Roman" panose="02020603050405020304" pitchFamily="18" charset="0"/>
                <a:cs typeface="Times New Roman" panose="02020603050405020304" pitchFamily="18" charset="0"/>
              </a:rPr>
              <a:t>Program</a:t>
            </a:r>
            <a:r>
              <a:rPr lang="en-US" b="1" dirty="0"/>
              <a:t> to Blink </a:t>
            </a:r>
            <a:r>
              <a:rPr lang="en-US" b="1" dirty="0" smtClean="0"/>
              <a:t>LED</a:t>
            </a:r>
            <a:r>
              <a:rPr lang="en-US" dirty="0" smtClean="0"/>
              <a:t/>
            </a:r>
            <a:br>
              <a:rPr lang="en-US" dirty="0" smtClean="0"/>
            </a:br>
            <a:endParaRPr lang="en-US" dirty="0"/>
          </a:p>
        </p:txBody>
      </p:sp>
      <p:sp>
        <p:nvSpPr>
          <p:cNvPr id="3" name="Content Placeholder 2"/>
          <p:cNvSpPr>
            <a:spLocks noGrp="1"/>
          </p:cNvSpPr>
          <p:nvPr>
            <p:ph idx="1"/>
          </p:nvPr>
        </p:nvSpPr>
        <p:spPr>
          <a:xfrm>
            <a:off x="0" y="762001"/>
            <a:ext cx="9144000" cy="5867399"/>
          </a:xfrm>
          <a:solidFill>
            <a:schemeClr val="bg1"/>
          </a:solidFill>
        </p:spPr>
        <p:txBody>
          <a:bodyPr>
            <a:normAutofit fontScale="92500" lnSpcReduction="20000"/>
          </a:bodyPr>
          <a:lstStyle/>
          <a:p>
            <a:pPr marL="0" indent="0" algn="just" hangingPunct="0">
              <a:buNone/>
            </a:pPr>
            <a:r>
              <a:rPr lang="en-US" sz="3000" dirty="0" smtClean="0">
                <a:latin typeface="Times New Roman" panose="02020603050405020304" pitchFamily="18" charset="0"/>
                <a:cs typeface="Times New Roman" panose="02020603050405020304" pitchFamily="18" charset="0"/>
              </a:rPr>
              <a:t>This program blinks the LEDs continuously with a small delay. The LEDs are connected to the Port1 pins P1.24 to P1.31 and the these pins are configured as General Purpose output pins.</a:t>
            </a:r>
          </a:p>
          <a:p>
            <a:pPr marL="0" indent="0" algn="just" hangingPunct="0">
              <a:buNone/>
            </a:pPr>
            <a:endParaRPr lang="en-US" sz="3000" dirty="0" smtClean="0">
              <a:latin typeface="Times New Roman" panose="02020603050405020304" pitchFamily="18" charset="0"/>
              <a:cs typeface="Times New Roman" panose="02020603050405020304" pitchFamily="18" charset="0"/>
            </a:endParaRPr>
          </a:p>
          <a:p>
            <a:pPr marL="0" indent="0" algn="just">
              <a:buNone/>
            </a:pPr>
            <a:r>
              <a:rPr lang="en-US" sz="3000" b="1" dirty="0" smtClean="0">
                <a:latin typeface="Times New Roman" panose="02020603050405020304" pitchFamily="18" charset="0"/>
                <a:cs typeface="Times New Roman" panose="02020603050405020304" pitchFamily="18" charset="0"/>
              </a:rPr>
              <a:t>Algorithm</a:t>
            </a:r>
            <a:endParaRPr lang="en-US" sz="3000" dirty="0" smtClean="0">
              <a:latin typeface="Times New Roman" panose="02020603050405020304" pitchFamily="18" charset="0"/>
              <a:cs typeface="Times New Roman" panose="02020603050405020304" pitchFamily="18" charset="0"/>
            </a:endParaRPr>
          </a:p>
          <a:p>
            <a:pPr marL="0" lvl="0" indent="0" algn="just" hangingPunct="0">
              <a:buNone/>
            </a:pPr>
            <a:r>
              <a:rPr lang="en-US" sz="3000" dirty="0" smtClean="0">
                <a:latin typeface="Times New Roman" panose="02020603050405020304" pitchFamily="18" charset="0"/>
                <a:cs typeface="Times New Roman" panose="02020603050405020304" pitchFamily="18" charset="0"/>
              </a:rPr>
              <a:t>1)  Start </a:t>
            </a:r>
          </a:p>
          <a:p>
            <a:pPr marL="0" lvl="0" indent="0" algn="just" hangingPunct="0">
              <a:buNone/>
            </a:pPr>
            <a:r>
              <a:rPr lang="en-US" sz="3000" dirty="0" smtClean="0">
                <a:latin typeface="Times New Roman" panose="02020603050405020304" pitchFamily="18" charset="0"/>
                <a:cs typeface="Times New Roman" panose="02020603050405020304" pitchFamily="18" charset="0"/>
              </a:rPr>
              <a:t>2)  Make PINSEL2</a:t>
            </a:r>
            <a:r>
              <a:rPr lang="en-US" sz="3000" b="1" dirty="0" smtClean="0">
                <a:latin typeface="Times New Roman" panose="02020603050405020304" pitchFamily="18" charset="0"/>
                <a:cs typeface="Times New Roman" panose="02020603050405020304" pitchFamily="18" charset="0"/>
              </a:rPr>
              <a:t>= </a:t>
            </a:r>
            <a:r>
              <a:rPr lang="en-US" sz="3000" dirty="0" smtClean="0">
                <a:latin typeface="Times New Roman" panose="02020603050405020304" pitchFamily="18" charset="0"/>
                <a:cs typeface="Times New Roman" panose="02020603050405020304" pitchFamily="18" charset="0"/>
              </a:rPr>
              <a:t>0X00000000</a:t>
            </a:r>
            <a:r>
              <a:rPr lang="en-US" sz="3000" b="1" dirty="0" smtClean="0">
                <a:latin typeface="Times New Roman" panose="02020603050405020304" pitchFamily="18" charset="0"/>
                <a:cs typeface="Times New Roman" panose="02020603050405020304" pitchFamily="18" charset="0"/>
              </a:rPr>
              <a:t> </a:t>
            </a:r>
            <a:endParaRPr lang="en-US" sz="3000" dirty="0" smtClean="0">
              <a:latin typeface="Times New Roman" panose="02020603050405020304" pitchFamily="18" charset="0"/>
              <a:cs typeface="Times New Roman" panose="02020603050405020304" pitchFamily="18" charset="0"/>
            </a:endParaRPr>
          </a:p>
          <a:p>
            <a:pPr marL="0" lvl="0" indent="0" algn="just" hangingPunct="0">
              <a:buNone/>
            </a:pPr>
            <a:r>
              <a:rPr lang="en-US" sz="3000" dirty="0" smtClean="0">
                <a:latin typeface="Times New Roman" panose="02020603050405020304" pitchFamily="18" charset="0"/>
                <a:cs typeface="Times New Roman" panose="02020603050405020304" pitchFamily="18" charset="0"/>
              </a:rPr>
              <a:t>3)  IO1DIR = 0XFF000000 to make each pin of port as output </a:t>
            </a:r>
          </a:p>
          <a:p>
            <a:pPr marL="0" indent="0" algn="just">
              <a:buNone/>
            </a:pPr>
            <a:r>
              <a:rPr lang="en-US" sz="3000" dirty="0" smtClean="0">
                <a:latin typeface="Times New Roman" panose="02020603050405020304" pitchFamily="18" charset="0"/>
                <a:cs typeface="Times New Roman" panose="02020603050405020304" pitchFamily="18" charset="0"/>
              </a:rPr>
              <a:t>4)  IO1SET=0XFF000000 Pins P1.24 to P1.31 goes to high state </a:t>
            </a:r>
          </a:p>
          <a:p>
            <a:pPr marL="0" indent="0" algn="just">
              <a:buNone/>
            </a:pPr>
            <a:r>
              <a:rPr lang="en-US" sz="3000" dirty="0" smtClean="0">
                <a:latin typeface="Times New Roman" panose="02020603050405020304" pitchFamily="18" charset="0"/>
                <a:cs typeface="Times New Roman" panose="02020603050405020304" pitchFamily="18" charset="0"/>
              </a:rPr>
              <a:t> 5) IO1CLR=0XFF000000; Pins P1.24 to  P1.31 goes to low state </a:t>
            </a:r>
          </a:p>
          <a:p>
            <a:pPr marL="0" indent="0" algn="just">
              <a:buNone/>
            </a:pPr>
            <a:r>
              <a:rPr lang="en-US" sz="3000" dirty="0" smtClean="0">
                <a:latin typeface="Times New Roman" panose="02020603050405020304" pitchFamily="18" charset="0"/>
                <a:cs typeface="Times New Roman" panose="02020603050405020304" pitchFamily="18" charset="0"/>
              </a:rPr>
              <a:t> 6) Repeat the steps 5 and 6</a:t>
            </a:r>
          </a:p>
          <a:p>
            <a:pPr hangingPunct="0"/>
            <a:endParaRPr lang="en-US" dirty="0" smtClean="0"/>
          </a:p>
          <a:p>
            <a:endParaRPr 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a:solidFill>
            <a:schemeClr val="bg1"/>
          </a:solidFill>
        </p:spPr>
        <p:txBody>
          <a:bodyPr>
            <a:noAutofit/>
          </a:bodyPr>
          <a:lstStyle/>
          <a:p>
            <a:r>
              <a:rPr lang="en-US" b="1" dirty="0" smtClean="0">
                <a:solidFill>
                  <a:srgbClr val="FF0000"/>
                </a:solidFill>
                <a:effectLst>
                  <a:outerShdw blurRad="38100" dist="38100" dir="2700000" algn="tl">
                    <a:srgbClr val="000000">
                      <a:alpha val="43137"/>
                    </a:srgbClr>
                  </a:outerShdw>
                </a:effectLst>
              </a:rPr>
              <a:t/>
            </a:r>
            <a:br>
              <a:rPr lang="en-US" b="1" dirty="0" smtClean="0">
                <a:solidFill>
                  <a:srgbClr val="FF0000"/>
                </a:solidFill>
                <a:effectLst>
                  <a:outerShdw blurRad="38100" dist="38100" dir="2700000" algn="tl">
                    <a:srgbClr val="000000">
                      <a:alpha val="43137"/>
                    </a:srgbClr>
                  </a:outerShdw>
                </a:effectLst>
              </a:rPr>
            </a:br>
            <a:r>
              <a:rPr lang="en-US" sz="36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Program to Blink LED</a:t>
            </a:r>
            <a:r>
              <a:rPr lang="en-US" sz="4000" b="1" dirty="0" smtClean="0">
                <a:solidFill>
                  <a:srgbClr val="FF0000"/>
                </a:solidFill>
                <a:effectLst>
                  <a:outerShdw blurRad="38100" dist="38100" dir="2700000" algn="tl">
                    <a:srgbClr val="000000">
                      <a:alpha val="43137"/>
                    </a:srgbClr>
                  </a:outerShdw>
                </a:effectLst>
              </a:rPr>
              <a:t/>
            </a:r>
            <a:br>
              <a:rPr lang="en-US" sz="4000" b="1" dirty="0" smtClean="0">
                <a:solidFill>
                  <a:srgbClr val="FF0000"/>
                </a:solidFill>
                <a:effectLst>
                  <a:outerShdw blurRad="38100" dist="38100" dir="2700000" algn="tl">
                    <a:srgbClr val="000000">
                      <a:alpha val="43137"/>
                    </a:srgbClr>
                  </a:outerShdw>
                </a:effectLst>
              </a:rPr>
            </a:br>
            <a:endParaRPr lang="en-US" b="1" dirty="0">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228600" y="533400"/>
            <a:ext cx="8686800" cy="6324600"/>
          </a:xfrm>
          <a:solidFill>
            <a:schemeClr val="bg1"/>
          </a:solidFill>
        </p:spPr>
        <p:txBody>
          <a:bodyPr>
            <a:noAutofit/>
          </a:bodyPr>
          <a:lstStyle/>
          <a:p>
            <a:pPr marL="0" indent="0">
              <a:buNone/>
            </a:pPr>
            <a:r>
              <a:rPr lang="en-US" sz="2400" dirty="0" smtClean="0">
                <a:latin typeface="Times New Roman" pitchFamily="18" charset="0"/>
                <a:cs typeface="Times New Roman" pitchFamily="18" charset="0"/>
              </a:rPr>
              <a:t>#include&lt;lpc2148.H&gt;	//LPC2148 Header</a:t>
            </a:r>
          </a:p>
          <a:p>
            <a:pPr marL="0" indent="0">
              <a:buNone/>
            </a:pPr>
            <a:r>
              <a:rPr lang="en-US" sz="2400" dirty="0" smtClean="0">
                <a:latin typeface="Times New Roman" pitchFamily="18" charset="0"/>
                <a:cs typeface="Times New Roman" pitchFamily="18" charset="0"/>
              </a:rPr>
              <a:t>void main()</a:t>
            </a:r>
          </a:p>
          <a:p>
            <a:pPr marL="0" indent="0">
              <a:buNone/>
            </a:pPr>
            <a:r>
              <a:rPr lang="en-US" sz="2400" dirty="0" smtClean="0">
                <a:latin typeface="Times New Roman" pitchFamily="18" charset="0"/>
                <a:cs typeface="Times New Roman" pitchFamily="18" charset="0"/>
              </a:rPr>
              <a:t>{</a:t>
            </a:r>
          </a:p>
          <a:p>
            <a:pPr marL="0" indent="0">
              <a:buNone/>
            </a:pPr>
            <a:r>
              <a:rPr lang="en-US" sz="2400" dirty="0" smtClean="0">
                <a:latin typeface="Times New Roman" pitchFamily="18" charset="0"/>
                <a:cs typeface="Times New Roman" pitchFamily="18" charset="0"/>
              </a:rPr>
              <a:t>PINSEL2 = 0X00000000;	//  Set  P1.24 TO P1.31 as GPIO</a:t>
            </a:r>
          </a:p>
          <a:p>
            <a:pPr marL="0" indent="0">
              <a:buNone/>
            </a:pPr>
            <a:r>
              <a:rPr lang="en-US" sz="2400" dirty="0" smtClean="0">
                <a:latin typeface="Times New Roman" pitchFamily="18" charset="0"/>
                <a:cs typeface="Times New Roman" pitchFamily="18" charset="0"/>
              </a:rPr>
              <a:t>IO1DIR = 0XFF000000;	//Port pins P1.24 to P 1.31  Configured as Output port.</a:t>
            </a:r>
          </a:p>
          <a:p>
            <a:pPr marL="0" indent="0">
              <a:buNone/>
            </a:pPr>
            <a:r>
              <a:rPr lang="en-US" sz="2400" dirty="0" smtClean="0">
                <a:latin typeface="Times New Roman" pitchFamily="18" charset="0"/>
                <a:cs typeface="Times New Roman" pitchFamily="18" charset="0"/>
              </a:rPr>
              <a:t>while(1)		                 //Infinite loop</a:t>
            </a:r>
          </a:p>
          <a:p>
            <a:pPr marL="0" indent="0">
              <a:buNone/>
            </a:pPr>
            <a:r>
              <a:rPr lang="en-US" sz="2400" dirty="0" smtClean="0">
                <a:latin typeface="Times New Roman" pitchFamily="18" charset="0"/>
                <a:cs typeface="Times New Roman" pitchFamily="18" charset="0"/>
              </a:rPr>
              <a:t>     {</a:t>
            </a:r>
          </a:p>
          <a:p>
            <a:pPr marL="0" indent="0">
              <a:buNone/>
            </a:pPr>
            <a:r>
              <a:rPr lang="en-US" sz="2400" dirty="0" smtClean="0">
                <a:latin typeface="Times New Roman" pitchFamily="18" charset="0"/>
                <a:cs typeface="Times New Roman" pitchFamily="18" charset="0"/>
              </a:rPr>
              <a:t>     IO1SET=0XFF000000;	// Pins P1.24 to P1.31 goes to high state</a:t>
            </a:r>
          </a:p>
          <a:p>
            <a:pPr marL="0" indent="0">
              <a:buNone/>
            </a:pPr>
            <a:r>
              <a:rPr lang="en-US" sz="2400" dirty="0" smtClean="0">
                <a:latin typeface="Times New Roman" pitchFamily="18" charset="0"/>
                <a:cs typeface="Times New Roman" pitchFamily="18" charset="0"/>
              </a:rPr>
              <a:t>      delay();</a:t>
            </a:r>
          </a:p>
          <a:p>
            <a:pPr marL="0" indent="0">
              <a:buNone/>
            </a:pPr>
            <a:r>
              <a:rPr lang="en-US" sz="2400" dirty="0" smtClean="0">
                <a:latin typeface="Times New Roman" pitchFamily="18" charset="0"/>
                <a:cs typeface="Times New Roman" pitchFamily="18" charset="0"/>
              </a:rPr>
              <a:t>       IO1CLR=0XFF000000;	// Pins P1.24 to  P1.31 goes to low state</a:t>
            </a:r>
          </a:p>
          <a:p>
            <a:pPr marL="0" indent="0">
              <a:buNone/>
            </a:pPr>
            <a:r>
              <a:rPr lang="en-US" sz="2400" dirty="0" smtClean="0">
                <a:latin typeface="Times New Roman" pitchFamily="18" charset="0"/>
                <a:cs typeface="Times New Roman" pitchFamily="18" charset="0"/>
              </a:rPr>
              <a:t>       delay()  ;</a:t>
            </a:r>
          </a:p>
          <a:p>
            <a:pPr marL="0" indent="0">
              <a:buNone/>
            </a:pPr>
            <a:r>
              <a:rPr lang="en-US" sz="2400" dirty="0" smtClean="0">
                <a:latin typeface="Times New Roman" pitchFamily="18" charset="0"/>
                <a:cs typeface="Times New Roman" pitchFamily="18" charset="0"/>
              </a:rPr>
              <a:t>      }</a:t>
            </a:r>
          </a:p>
          <a:p>
            <a:pPr marL="0" indent="0">
              <a:buNone/>
            </a:pPr>
            <a:r>
              <a:rPr lang="en-US" sz="2400" dirty="0" smtClean="0">
                <a:latin typeface="Times New Roman" pitchFamily="18" charset="0"/>
                <a:cs typeface="Times New Roman" pitchFamily="18" charset="0"/>
              </a:rPr>
              <a:t>  }</a:t>
            </a:r>
            <a:endParaRPr lang="en-US" sz="1900" dirty="0"/>
          </a:p>
          <a:p>
            <a:pPr marL="0" indent="0">
              <a:buNone/>
            </a:pPr>
            <a:endParaRPr lang="en-US" sz="1900"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381000"/>
          </a:xfrm>
          <a:solidFill>
            <a:schemeClr val="bg1"/>
          </a:solidFill>
        </p:spPr>
        <p:txBody>
          <a:bodyPr>
            <a:normAutofit fontScale="90000"/>
          </a:bodyPr>
          <a:lstStyle/>
          <a:p>
            <a:r>
              <a:rPr lang="en-US" b="1" dirty="0" smtClean="0"/>
              <a:t/>
            </a:r>
            <a:br>
              <a:rPr lang="en-US" b="1" dirty="0" smtClean="0"/>
            </a:br>
            <a:r>
              <a:rPr lang="en-US" sz="4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Program to Blink LED  Cont..</a:t>
            </a:r>
            <a:r>
              <a:rPr lang="en-US" sz="4000" b="1" dirty="0" smtClean="0"/>
              <a:t/>
            </a:r>
            <a:br>
              <a:rPr lang="en-US" sz="4000" b="1" dirty="0" smtClean="0"/>
            </a:br>
            <a:endParaRPr lang="en-US" b="1" dirty="0"/>
          </a:p>
        </p:txBody>
      </p:sp>
      <p:sp>
        <p:nvSpPr>
          <p:cNvPr id="3" name="Content Placeholder 2"/>
          <p:cNvSpPr>
            <a:spLocks noGrp="1"/>
          </p:cNvSpPr>
          <p:nvPr>
            <p:ph idx="1"/>
          </p:nvPr>
        </p:nvSpPr>
        <p:spPr>
          <a:xfrm>
            <a:off x="228600" y="762000"/>
            <a:ext cx="8686800" cy="6096000"/>
          </a:xfrm>
          <a:solidFill>
            <a:schemeClr val="bg1"/>
          </a:solidFill>
        </p:spPr>
        <p:txBody>
          <a:bodyPr>
            <a:noAutofit/>
          </a:bodyPr>
          <a:lstStyle/>
          <a:p>
            <a:pPr marL="0" indent="0">
              <a:buNone/>
            </a:pPr>
            <a:endParaRPr lang="en-US" sz="1900" dirty="0" smtClean="0"/>
          </a:p>
          <a:p>
            <a:pPr marL="0" indent="0">
              <a:buNone/>
            </a:pPr>
            <a:r>
              <a:rPr lang="en-US" sz="2800" dirty="0" smtClean="0">
                <a:latin typeface="Times New Roman" pitchFamily="18" charset="0"/>
                <a:cs typeface="Times New Roman" pitchFamily="18" charset="0"/>
              </a:rPr>
              <a:t>void </a:t>
            </a:r>
            <a:r>
              <a:rPr lang="en-US" sz="2800" dirty="0">
                <a:latin typeface="Times New Roman" pitchFamily="18" charset="0"/>
                <a:cs typeface="Times New Roman" pitchFamily="18" charset="0"/>
              </a:rPr>
              <a:t>delay()</a:t>
            </a:r>
          </a:p>
          <a:p>
            <a:pPr marL="0" indent="0">
              <a:buNone/>
            </a:pPr>
            <a:r>
              <a:rPr lang="en-US" sz="2800" dirty="0" smtClean="0">
                <a:latin typeface="Times New Roman" pitchFamily="18" charset="0"/>
                <a:cs typeface="Times New Roman" pitchFamily="18" charset="0"/>
              </a:rPr>
              <a:t>{</a:t>
            </a:r>
          </a:p>
          <a:p>
            <a:pPr marL="0" indent="0">
              <a:buNone/>
            </a:pPr>
            <a:r>
              <a:rPr lang="en-US" sz="2800" dirty="0" err="1" smtClean="0">
                <a:latin typeface="Times New Roman" pitchFamily="18" charset="0"/>
                <a:cs typeface="Times New Roman" pitchFamily="18" charset="0"/>
              </a:rPr>
              <a:t>Int</a:t>
            </a:r>
            <a:r>
              <a:rPr lang="en-US" sz="2800" dirty="0" smtClean="0">
                <a:latin typeface="Times New Roman" pitchFamily="18" charset="0"/>
                <a:cs typeface="Times New Roman" pitchFamily="18" charset="0"/>
              </a:rPr>
              <a:t> i, </a:t>
            </a:r>
            <a:r>
              <a:rPr lang="en-US" sz="2800" dirty="0" err="1" smtClean="0">
                <a:latin typeface="Times New Roman" pitchFamily="18" charset="0"/>
                <a:cs typeface="Times New Roman" pitchFamily="18" charset="0"/>
              </a:rPr>
              <a:t>int</a:t>
            </a:r>
            <a:r>
              <a:rPr lang="en-US" sz="2800" dirty="0" smtClean="0">
                <a:latin typeface="Times New Roman" pitchFamily="18" charset="0"/>
                <a:cs typeface="Times New Roman" pitchFamily="18" charset="0"/>
              </a:rPr>
              <a:t> j;</a:t>
            </a:r>
            <a:endParaRPr lang="en-US" sz="2800" dirty="0">
              <a:latin typeface="Times New Roman" pitchFamily="18" charset="0"/>
              <a:cs typeface="Times New Roman" pitchFamily="18" charset="0"/>
            </a:endParaRPr>
          </a:p>
          <a:p>
            <a:pPr marL="0" indent="0">
              <a:buNone/>
            </a:pPr>
            <a:r>
              <a:rPr lang="en-US" sz="2800" dirty="0" smtClean="0">
                <a:latin typeface="Times New Roman" pitchFamily="18" charset="0"/>
                <a:cs typeface="Times New Roman" pitchFamily="18" charset="0"/>
              </a:rPr>
              <a:t>for( </a:t>
            </a:r>
            <a:r>
              <a:rPr lang="en-US" sz="2800" dirty="0">
                <a:latin typeface="Times New Roman" pitchFamily="18" charset="0"/>
                <a:cs typeface="Times New Roman" pitchFamily="18" charset="0"/>
              </a:rPr>
              <a:t>i=0x00;i&lt;=0xff;i++)</a:t>
            </a:r>
          </a:p>
          <a:p>
            <a:pPr marL="0" indent="0">
              <a:buNone/>
            </a:pPr>
            <a:r>
              <a:rPr lang="en-US" sz="2800" dirty="0" smtClean="0">
                <a:latin typeface="Times New Roman" pitchFamily="18" charset="0"/>
                <a:cs typeface="Times New Roman" pitchFamily="18" charset="0"/>
              </a:rPr>
              <a:t>for(j=0x00;j</a:t>
            </a:r>
            <a:r>
              <a:rPr lang="en-US" sz="2800" dirty="0">
                <a:latin typeface="Times New Roman" pitchFamily="18" charset="0"/>
                <a:cs typeface="Times New Roman" pitchFamily="18" charset="0"/>
              </a:rPr>
              <a:t>&lt;=0xFf;j++) ;	// Delay program</a:t>
            </a:r>
          </a:p>
          <a:p>
            <a:pPr marL="0" indent="0">
              <a:buNone/>
            </a:pPr>
            <a:r>
              <a:rPr lang="en-US" sz="2800" dirty="0">
                <a:latin typeface="Times New Roman" pitchFamily="18" charset="0"/>
                <a:cs typeface="Times New Roman" pitchFamily="18" charset="0"/>
              </a:rPr>
              <a:t>}</a:t>
            </a:r>
          </a:p>
          <a:p>
            <a:pPr marL="0" indent="0">
              <a:buNone/>
            </a:pP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195896647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1414" y="3222631"/>
            <a:ext cx="8741700" cy="2678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48743" name="Shape 213"/>
          <p:cNvSpPr txBox="1"/>
          <p:nvPr/>
        </p:nvSpPr>
        <p:spPr>
          <a:xfrm>
            <a:off x="152400" y="990600"/>
            <a:ext cx="8534400" cy="1981200"/>
          </a:xfrm>
          <a:prstGeom prst="rect">
            <a:avLst/>
          </a:prstGeom>
          <a:solidFill>
            <a:schemeClr val="bg1"/>
          </a:solidFill>
          <a:ln>
            <a:noFill/>
          </a:ln>
        </p:spPr>
        <p:txBody>
          <a:bodyPr wrap="square" lIns="91425" tIns="91425" rIns="91425" bIns="91425" anchor="t" anchorCtr="0">
            <a:noAutofit/>
          </a:bodyPr>
          <a:lstStyle/>
          <a:p>
            <a:pPr marL="0" lvl="0" indent="-69850">
              <a:spcBef>
                <a:spcPts val="0"/>
              </a:spcBef>
              <a:buClr>
                <a:schemeClr val="dk1"/>
              </a:buClr>
              <a:buSzPts val="1100"/>
              <a:buFont typeface="Arial"/>
              <a:buNone/>
            </a:pPr>
            <a:r>
              <a:rPr lang="en" sz="2400" b="1" dirty="0">
                <a:solidFill>
                  <a:schemeClr val="dk1"/>
                </a:solidFill>
                <a:latin typeface="Times New Roman"/>
                <a:ea typeface="Times New Roman"/>
                <a:cs typeface="Times New Roman"/>
                <a:sym typeface="Times New Roman"/>
              </a:rPr>
              <a:t>Liquid Crystal Display(LCD):</a:t>
            </a:r>
          </a:p>
          <a:p>
            <a:pPr marL="457200" lvl="0" indent="-381000" rtl="0">
              <a:spcBef>
                <a:spcPts val="0"/>
              </a:spcBef>
              <a:spcAft>
                <a:spcPts val="0"/>
              </a:spcAft>
              <a:buSzPts val="2400"/>
              <a:buFont typeface="Times New Roman"/>
              <a:buChar char="●"/>
            </a:pPr>
            <a:r>
              <a:rPr lang="en" sz="2400" dirty="0">
                <a:latin typeface="Times New Roman"/>
                <a:ea typeface="Times New Roman"/>
                <a:cs typeface="Times New Roman"/>
                <a:sym typeface="Times New Roman"/>
              </a:rPr>
              <a:t>Liquid Crystal Display(LCDs) provide a cost effective way to put a text output unit for a microcontroller.</a:t>
            </a:r>
          </a:p>
          <a:p>
            <a:pPr marL="457200" lvl="0" indent="-381000" rtl="0">
              <a:spcBef>
                <a:spcPts val="0"/>
              </a:spcBef>
              <a:buSzPts val="2400"/>
              <a:buFont typeface="Times New Roman"/>
              <a:buChar char="●"/>
            </a:pPr>
            <a:r>
              <a:rPr lang="en" sz="2400" dirty="0">
                <a:solidFill>
                  <a:schemeClr val="dk1"/>
                </a:solidFill>
                <a:latin typeface="Times New Roman"/>
                <a:ea typeface="Times New Roman"/>
                <a:cs typeface="Times New Roman"/>
                <a:sym typeface="Times New Roman"/>
              </a:rPr>
              <a:t>Most of the 16x2 LCDs use a </a:t>
            </a:r>
            <a:r>
              <a:rPr lang="en" sz="2400" b="1" dirty="0">
                <a:solidFill>
                  <a:schemeClr val="dk1"/>
                </a:solidFill>
                <a:latin typeface="Times New Roman"/>
                <a:ea typeface="Times New Roman"/>
                <a:cs typeface="Times New Roman"/>
                <a:sym typeface="Times New Roman"/>
              </a:rPr>
              <a:t>Hitachi HD44780</a:t>
            </a:r>
            <a:r>
              <a:rPr lang="en" sz="2400" dirty="0">
                <a:solidFill>
                  <a:schemeClr val="dk1"/>
                </a:solidFill>
                <a:latin typeface="Times New Roman"/>
                <a:ea typeface="Times New Roman"/>
                <a:cs typeface="Times New Roman"/>
                <a:sym typeface="Times New Roman"/>
              </a:rPr>
              <a:t> or a compatible controller. </a:t>
            </a:r>
          </a:p>
          <a:p>
            <a:pPr marL="0" lvl="0" indent="0" rtl="0">
              <a:spcBef>
                <a:spcPts val="0"/>
              </a:spcBef>
              <a:buNone/>
            </a:pPr>
            <a:endParaRPr sz="2400" dirty="0">
              <a:solidFill>
                <a:schemeClr val="dk1"/>
              </a:solidFill>
              <a:latin typeface="Times New Roman"/>
              <a:ea typeface="Times New Roman"/>
              <a:cs typeface="Times New Roman"/>
              <a:sym typeface="Times New Roman"/>
            </a:endParaRPr>
          </a:p>
        </p:txBody>
      </p:sp>
      <p:sp>
        <p:nvSpPr>
          <p:cNvPr id="2" name="Rectangle 1"/>
          <p:cNvSpPr/>
          <p:nvPr/>
        </p:nvSpPr>
        <p:spPr>
          <a:xfrm>
            <a:off x="1295400" y="116447"/>
            <a:ext cx="6553200" cy="646331"/>
          </a:xfrm>
          <a:prstGeom prst="rect">
            <a:avLst/>
          </a:prstGeom>
        </p:spPr>
        <p:txBody>
          <a:bodyPr wrap="square">
            <a:spAutoFit/>
          </a:bodyPr>
          <a:lstStyle/>
          <a:p>
            <a:r>
              <a:rPr lang="en-US" sz="3600" b="1" dirty="0">
                <a:latin typeface="Times New Roman" panose="02020603050405020304" pitchFamily="18" charset="0"/>
                <a:cs typeface="Times New Roman" panose="02020603050405020304" pitchFamily="18" charset="0"/>
              </a:rPr>
              <a:t>Liquid Crystal Display(LCD):</a:t>
            </a:r>
          </a:p>
        </p:txBody>
      </p:sp>
    </p:spTree>
    <p:extLst>
      <p:ext uri="{BB962C8B-B14F-4D97-AF65-F5344CB8AC3E}">
        <p14:creationId xmlns:p14="http://schemas.microsoft.com/office/powerpoint/2010/main" val="334552105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a:solidFill>
            <a:schemeClr val="bg1"/>
          </a:solidFill>
        </p:spPr>
        <p:txBody>
          <a:bodyPr>
            <a:noAutofit/>
          </a:bodyPr>
          <a:lstStyle/>
          <a:p>
            <a:r>
              <a:rPr lang="en-US" sz="2800" b="1" dirty="0" smtClean="0">
                <a:latin typeface="Times New Roman" panose="02020603050405020304" pitchFamily="18" charset="0"/>
                <a:cs typeface="Times New Roman" panose="02020603050405020304" pitchFamily="18" charset="0"/>
              </a:rPr>
              <a:t>Interfacing LCD to ARM 7 Controller (LPC2148)</a:t>
            </a:r>
            <a:endParaRPr lang="en-US" sz="2800" dirty="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460005275"/>
              </p:ext>
            </p:extLst>
          </p:nvPr>
        </p:nvGraphicFramePr>
        <p:xfrm>
          <a:off x="990599" y="685799"/>
          <a:ext cx="6858001" cy="5989923"/>
        </p:xfrm>
        <a:graphic>
          <a:graphicData uri="http://schemas.openxmlformats.org/drawingml/2006/table">
            <a:tbl>
              <a:tblPr/>
              <a:tblGrid>
                <a:gridCol w="1539917">
                  <a:extLst>
                    <a:ext uri="{9D8B030D-6E8A-4147-A177-3AD203B41FA5}">
                      <a16:colId xmlns="" xmlns:a16="http://schemas.microsoft.com/office/drawing/2014/main" val="20000"/>
                    </a:ext>
                  </a:extLst>
                </a:gridCol>
                <a:gridCol w="3151457">
                  <a:extLst>
                    <a:ext uri="{9D8B030D-6E8A-4147-A177-3AD203B41FA5}">
                      <a16:colId xmlns="" xmlns:a16="http://schemas.microsoft.com/office/drawing/2014/main" val="20001"/>
                    </a:ext>
                  </a:extLst>
                </a:gridCol>
                <a:gridCol w="2166627">
                  <a:extLst>
                    <a:ext uri="{9D8B030D-6E8A-4147-A177-3AD203B41FA5}">
                      <a16:colId xmlns="" xmlns:a16="http://schemas.microsoft.com/office/drawing/2014/main" val="20002"/>
                    </a:ext>
                  </a:extLst>
                </a:gridCol>
              </a:tblGrid>
              <a:tr h="374308">
                <a:tc>
                  <a:txBody>
                    <a:bodyPr/>
                    <a:lstStyle/>
                    <a:p>
                      <a:pPr marL="63500" marR="0">
                        <a:lnSpc>
                          <a:spcPct val="115000"/>
                        </a:lnSpc>
                        <a:spcBef>
                          <a:spcPts val="0"/>
                        </a:spcBef>
                        <a:spcAft>
                          <a:spcPts val="0"/>
                        </a:spcAft>
                      </a:pPr>
                      <a:r>
                        <a:rPr lang="en-US" sz="2400" b="1" dirty="0">
                          <a:latin typeface="Times New Roman"/>
                          <a:ea typeface="Times New Roman"/>
                          <a:cs typeface="Times New Roman"/>
                        </a:rPr>
                        <a:t>Sr. No.</a:t>
                      </a:r>
                      <a:endParaRPr lang="en-US" sz="1800" dirty="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tc>
                  <a:txBody>
                    <a:bodyPr/>
                    <a:lstStyle/>
                    <a:p>
                      <a:pPr marL="63500" marR="0">
                        <a:lnSpc>
                          <a:spcPct val="115000"/>
                        </a:lnSpc>
                        <a:spcBef>
                          <a:spcPts val="0"/>
                        </a:spcBef>
                        <a:spcAft>
                          <a:spcPts val="0"/>
                        </a:spcAft>
                      </a:pPr>
                      <a:r>
                        <a:rPr lang="en-US" sz="2400" b="1" dirty="0">
                          <a:latin typeface="Times New Roman"/>
                          <a:ea typeface="Times New Roman"/>
                          <a:cs typeface="Times New Roman"/>
                        </a:rPr>
                        <a:t>Signal (LPC21xx)</a:t>
                      </a:r>
                      <a:endParaRPr lang="en-US" sz="1800" dirty="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tc>
                  <a:txBody>
                    <a:bodyPr/>
                    <a:lstStyle/>
                    <a:p>
                      <a:pPr marL="50800" marR="0">
                        <a:lnSpc>
                          <a:spcPct val="115000"/>
                        </a:lnSpc>
                        <a:spcBef>
                          <a:spcPts val="0"/>
                        </a:spcBef>
                        <a:spcAft>
                          <a:spcPts val="0"/>
                        </a:spcAft>
                      </a:pPr>
                      <a:r>
                        <a:rPr lang="en-US" sz="2400" b="1" dirty="0">
                          <a:latin typeface="Times New Roman"/>
                          <a:ea typeface="Times New Roman"/>
                          <a:cs typeface="Times New Roman"/>
                        </a:rPr>
                        <a:t>Description</a:t>
                      </a:r>
                      <a:endParaRPr lang="en-US" sz="1800" dirty="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 xmlns:a16="http://schemas.microsoft.com/office/drawing/2014/main" val="10000"/>
                  </a:ext>
                </a:extLst>
              </a:tr>
              <a:tr h="267363">
                <a:tc>
                  <a:txBody>
                    <a:bodyPr/>
                    <a:lstStyle/>
                    <a:p>
                      <a:pPr marL="0" marR="0">
                        <a:lnSpc>
                          <a:spcPct val="115000"/>
                        </a:lnSpc>
                        <a:spcBef>
                          <a:spcPts val="0"/>
                        </a:spcBef>
                        <a:spcAft>
                          <a:spcPts val="0"/>
                        </a:spcAft>
                      </a:pPr>
                      <a:endParaRPr lang="en-US" sz="1000" dirty="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endParaRPr lang="en-US" sz="1000" dirty="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endParaRPr lang="en-US" sz="1000" dirty="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r h="294487">
                <a:tc>
                  <a:txBody>
                    <a:bodyPr/>
                    <a:lstStyle/>
                    <a:p>
                      <a:pPr marL="63500" marR="0">
                        <a:lnSpc>
                          <a:spcPts val="1515"/>
                        </a:lnSpc>
                        <a:spcBef>
                          <a:spcPts val="0"/>
                        </a:spcBef>
                        <a:spcAft>
                          <a:spcPts val="0"/>
                        </a:spcAft>
                      </a:pPr>
                      <a:r>
                        <a:rPr lang="en-US" sz="2000" dirty="0">
                          <a:latin typeface="Times New Roman"/>
                          <a:ea typeface="Times New Roman"/>
                          <a:cs typeface="Times New Roman"/>
                        </a:rPr>
                        <a:t>1</a:t>
                      </a:r>
                      <a:endParaRPr lang="en-US" sz="1600" dirty="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tc>
                  <a:txBody>
                    <a:bodyPr/>
                    <a:lstStyle/>
                    <a:p>
                      <a:pPr marL="63500" marR="0">
                        <a:lnSpc>
                          <a:spcPts val="1515"/>
                        </a:lnSpc>
                        <a:spcBef>
                          <a:spcPts val="0"/>
                        </a:spcBef>
                        <a:spcAft>
                          <a:spcPts val="0"/>
                        </a:spcAft>
                      </a:pPr>
                      <a:r>
                        <a:rPr lang="en-US" sz="2000" dirty="0">
                          <a:latin typeface="Times New Roman"/>
                          <a:ea typeface="Times New Roman"/>
                          <a:cs typeface="Times New Roman"/>
                        </a:rPr>
                        <a:t>Pin 16 (P1.16)</a:t>
                      </a:r>
                      <a:endParaRPr lang="en-US" sz="1600" dirty="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tc>
                  <a:txBody>
                    <a:bodyPr/>
                    <a:lstStyle/>
                    <a:p>
                      <a:pPr marL="50800" marR="0">
                        <a:lnSpc>
                          <a:spcPts val="1515"/>
                        </a:lnSpc>
                        <a:spcBef>
                          <a:spcPts val="0"/>
                        </a:spcBef>
                        <a:spcAft>
                          <a:spcPts val="0"/>
                        </a:spcAft>
                      </a:pPr>
                      <a:r>
                        <a:rPr lang="en-US" sz="2000">
                          <a:latin typeface="Times New Roman"/>
                          <a:ea typeface="Times New Roman"/>
                          <a:cs typeface="Times New Roman"/>
                        </a:rPr>
                        <a:t>Data 0</a:t>
                      </a:r>
                      <a:endParaRPr lang="en-US" sz="160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 xmlns:a16="http://schemas.microsoft.com/office/drawing/2014/main" val="10002"/>
                  </a:ext>
                </a:extLst>
              </a:tr>
              <a:tr h="187155">
                <a:tc>
                  <a:txBody>
                    <a:bodyPr/>
                    <a:lstStyle/>
                    <a:p>
                      <a:pPr marL="0" marR="0">
                        <a:lnSpc>
                          <a:spcPct val="115000"/>
                        </a:lnSpc>
                        <a:spcBef>
                          <a:spcPts val="0"/>
                        </a:spcBef>
                        <a:spcAft>
                          <a:spcPts val="0"/>
                        </a:spcAft>
                      </a:pPr>
                      <a:endParaRPr lang="en-US" sz="10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endParaRPr lang="en-US" sz="1000" dirty="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endParaRPr lang="en-US" sz="10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0003"/>
                  </a:ext>
                </a:extLst>
              </a:tr>
              <a:tr h="294487">
                <a:tc>
                  <a:txBody>
                    <a:bodyPr/>
                    <a:lstStyle/>
                    <a:p>
                      <a:pPr marL="63500" marR="0">
                        <a:lnSpc>
                          <a:spcPts val="1515"/>
                        </a:lnSpc>
                        <a:spcBef>
                          <a:spcPts val="0"/>
                        </a:spcBef>
                        <a:spcAft>
                          <a:spcPts val="0"/>
                        </a:spcAft>
                      </a:pPr>
                      <a:r>
                        <a:rPr lang="en-US" sz="2000">
                          <a:latin typeface="Times New Roman"/>
                          <a:ea typeface="Times New Roman"/>
                          <a:cs typeface="Times New Roman"/>
                        </a:rPr>
                        <a:t>2</a:t>
                      </a:r>
                      <a:endParaRPr lang="en-US" sz="160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tc>
                  <a:txBody>
                    <a:bodyPr/>
                    <a:lstStyle/>
                    <a:p>
                      <a:pPr marL="63500" marR="0">
                        <a:lnSpc>
                          <a:spcPts val="1515"/>
                        </a:lnSpc>
                        <a:spcBef>
                          <a:spcPts val="0"/>
                        </a:spcBef>
                        <a:spcAft>
                          <a:spcPts val="0"/>
                        </a:spcAft>
                      </a:pPr>
                      <a:r>
                        <a:rPr lang="en-US" sz="2000" dirty="0">
                          <a:latin typeface="Times New Roman"/>
                          <a:ea typeface="Times New Roman"/>
                          <a:cs typeface="Times New Roman"/>
                        </a:rPr>
                        <a:t>Pin 12 (P1.17)</a:t>
                      </a:r>
                      <a:endParaRPr lang="en-US" sz="1600" dirty="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tc>
                  <a:txBody>
                    <a:bodyPr/>
                    <a:lstStyle/>
                    <a:p>
                      <a:pPr marL="50800" marR="0">
                        <a:lnSpc>
                          <a:spcPts val="1515"/>
                        </a:lnSpc>
                        <a:spcBef>
                          <a:spcPts val="0"/>
                        </a:spcBef>
                        <a:spcAft>
                          <a:spcPts val="0"/>
                        </a:spcAft>
                      </a:pPr>
                      <a:r>
                        <a:rPr lang="en-US" sz="2000">
                          <a:latin typeface="Times New Roman"/>
                          <a:ea typeface="Times New Roman"/>
                          <a:cs typeface="Times New Roman"/>
                        </a:rPr>
                        <a:t>Data 1</a:t>
                      </a:r>
                      <a:endParaRPr lang="en-US" sz="160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 xmlns:a16="http://schemas.microsoft.com/office/drawing/2014/main" val="10004"/>
                  </a:ext>
                </a:extLst>
              </a:tr>
              <a:tr h="187155">
                <a:tc>
                  <a:txBody>
                    <a:bodyPr/>
                    <a:lstStyle/>
                    <a:p>
                      <a:pPr marL="0" marR="0">
                        <a:lnSpc>
                          <a:spcPct val="115000"/>
                        </a:lnSpc>
                        <a:spcBef>
                          <a:spcPts val="0"/>
                        </a:spcBef>
                        <a:spcAft>
                          <a:spcPts val="0"/>
                        </a:spcAft>
                      </a:pPr>
                      <a:endParaRPr lang="en-US" sz="10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endParaRPr lang="en-US" sz="1000" dirty="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endParaRPr lang="en-US" sz="10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0005"/>
                  </a:ext>
                </a:extLst>
              </a:tr>
              <a:tr h="294487">
                <a:tc>
                  <a:txBody>
                    <a:bodyPr/>
                    <a:lstStyle/>
                    <a:p>
                      <a:pPr marL="63500" marR="0">
                        <a:lnSpc>
                          <a:spcPts val="1515"/>
                        </a:lnSpc>
                        <a:spcBef>
                          <a:spcPts val="0"/>
                        </a:spcBef>
                        <a:spcAft>
                          <a:spcPts val="0"/>
                        </a:spcAft>
                      </a:pPr>
                      <a:r>
                        <a:rPr lang="en-US" sz="2000">
                          <a:latin typeface="Times New Roman"/>
                          <a:ea typeface="Times New Roman"/>
                          <a:cs typeface="Times New Roman"/>
                        </a:rPr>
                        <a:t>3</a:t>
                      </a:r>
                      <a:endParaRPr lang="en-US" sz="160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tc>
                  <a:txBody>
                    <a:bodyPr/>
                    <a:lstStyle/>
                    <a:p>
                      <a:pPr marL="63500" marR="0">
                        <a:lnSpc>
                          <a:spcPts val="1515"/>
                        </a:lnSpc>
                        <a:spcBef>
                          <a:spcPts val="0"/>
                        </a:spcBef>
                        <a:spcAft>
                          <a:spcPts val="0"/>
                        </a:spcAft>
                      </a:pPr>
                      <a:r>
                        <a:rPr lang="en-US" sz="2000" dirty="0">
                          <a:latin typeface="Times New Roman"/>
                          <a:ea typeface="Times New Roman"/>
                          <a:cs typeface="Times New Roman"/>
                        </a:rPr>
                        <a:t>Pin 8 (P1.18)</a:t>
                      </a:r>
                      <a:endParaRPr lang="en-US" sz="1600" dirty="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tc>
                  <a:txBody>
                    <a:bodyPr/>
                    <a:lstStyle/>
                    <a:p>
                      <a:pPr marL="50800" marR="0">
                        <a:lnSpc>
                          <a:spcPts val="1515"/>
                        </a:lnSpc>
                        <a:spcBef>
                          <a:spcPts val="0"/>
                        </a:spcBef>
                        <a:spcAft>
                          <a:spcPts val="0"/>
                        </a:spcAft>
                      </a:pPr>
                      <a:r>
                        <a:rPr lang="en-US" sz="2000" dirty="0">
                          <a:latin typeface="Times New Roman"/>
                          <a:ea typeface="Times New Roman"/>
                          <a:cs typeface="Times New Roman"/>
                        </a:rPr>
                        <a:t>Data 2</a:t>
                      </a:r>
                      <a:endParaRPr lang="en-US" sz="1600" dirty="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 xmlns:a16="http://schemas.microsoft.com/office/drawing/2014/main" val="10006"/>
                  </a:ext>
                </a:extLst>
              </a:tr>
              <a:tr h="187155">
                <a:tc>
                  <a:txBody>
                    <a:bodyPr/>
                    <a:lstStyle/>
                    <a:p>
                      <a:pPr marL="0" marR="0">
                        <a:lnSpc>
                          <a:spcPct val="115000"/>
                        </a:lnSpc>
                        <a:spcBef>
                          <a:spcPts val="0"/>
                        </a:spcBef>
                        <a:spcAft>
                          <a:spcPts val="0"/>
                        </a:spcAft>
                      </a:pPr>
                      <a:endParaRPr lang="en-US" sz="10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endParaRPr lang="en-US" sz="10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endParaRPr lang="en-US" sz="1000" dirty="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0007"/>
                  </a:ext>
                </a:extLst>
              </a:tr>
              <a:tr h="294487">
                <a:tc>
                  <a:txBody>
                    <a:bodyPr/>
                    <a:lstStyle/>
                    <a:p>
                      <a:pPr marL="63500" marR="0">
                        <a:lnSpc>
                          <a:spcPts val="1515"/>
                        </a:lnSpc>
                        <a:spcBef>
                          <a:spcPts val="0"/>
                        </a:spcBef>
                        <a:spcAft>
                          <a:spcPts val="0"/>
                        </a:spcAft>
                      </a:pPr>
                      <a:r>
                        <a:rPr lang="en-US" sz="2000">
                          <a:latin typeface="Times New Roman"/>
                          <a:ea typeface="Times New Roman"/>
                          <a:cs typeface="Times New Roman"/>
                        </a:rPr>
                        <a:t>4</a:t>
                      </a:r>
                      <a:endParaRPr lang="en-US" sz="160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tc>
                  <a:txBody>
                    <a:bodyPr/>
                    <a:lstStyle/>
                    <a:p>
                      <a:pPr marL="63500" marR="0">
                        <a:lnSpc>
                          <a:spcPts val="1515"/>
                        </a:lnSpc>
                        <a:spcBef>
                          <a:spcPts val="0"/>
                        </a:spcBef>
                        <a:spcAft>
                          <a:spcPts val="0"/>
                        </a:spcAft>
                      </a:pPr>
                      <a:r>
                        <a:rPr lang="en-US" sz="2000">
                          <a:latin typeface="Times New Roman"/>
                          <a:ea typeface="Times New Roman"/>
                          <a:cs typeface="Times New Roman"/>
                        </a:rPr>
                        <a:t>Pin 4 (P1.19)</a:t>
                      </a:r>
                      <a:endParaRPr lang="en-US" sz="160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tc>
                  <a:txBody>
                    <a:bodyPr/>
                    <a:lstStyle/>
                    <a:p>
                      <a:pPr marL="50800" marR="0">
                        <a:lnSpc>
                          <a:spcPts val="1515"/>
                        </a:lnSpc>
                        <a:spcBef>
                          <a:spcPts val="0"/>
                        </a:spcBef>
                        <a:spcAft>
                          <a:spcPts val="0"/>
                        </a:spcAft>
                      </a:pPr>
                      <a:r>
                        <a:rPr lang="en-US" sz="2000" dirty="0">
                          <a:latin typeface="Times New Roman"/>
                          <a:ea typeface="Times New Roman"/>
                          <a:cs typeface="Times New Roman"/>
                        </a:rPr>
                        <a:t>Data 3</a:t>
                      </a:r>
                      <a:endParaRPr lang="en-US" sz="1600" dirty="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 xmlns:a16="http://schemas.microsoft.com/office/drawing/2014/main" val="10008"/>
                  </a:ext>
                </a:extLst>
              </a:tr>
              <a:tr h="187155">
                <a:tc>
                  <a:txBody>
                    <a:bodyPr/>
                    <a:lstStyle/>
                    <a:p>
                      <a:pPr marL="0" marR="0">
                        <a:lnSpc>
                          <a:spcPct val="115000"/>
                        </a:lnSpc>
                        <a:spcBef>
                          <a:spcPts val="0"/>
                        </a:spcBef>
                        <a:spcAft>
                          <a:spcPts val="0"/>
                        </a:spcAft>
                      </a:pPr>
                      <a:endParaRPr lang="en-US" sz="10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endParaRPr lang="en-US" sz="10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endParaRPr lang="en-US" sz="1000" dirty="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0009"/>
                  </a:ext>
                </a:extLst>
              </a:tr>
              <a:tr h="296424">
                <a:tc>
                  <a:txBody>
                    <a:bodyPr/>
                    <a:lstStyle/>
                    <a:p>
                      <a:pPr marL="63500" marR="0">
                        <a:lnSpc>
                          <a:spcPts val="1530"/>
                        </a:lnSpc>
                        <a:spcBef>
                          <a:spcPts val="0"/>
                        </a:spcBef>
                        <a:spcAft>
                          <a:spcPts val="0"/>
                        </a:spcAft>
                      </a:pPr>
                      <a:r>
                        <a:rPr lang="en-US" sz="2000">
                          <a:latin typeface="Times New Roman"/>
                          <a:ea typeface="Times New Roman"/>
                          <a:cs typeface="Times New Roman"/>
                        </a:rPr>
                        <a:t>5</a:t>
                      </a:r>
                      <a:endParaRPr lang="en-US" sz="160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tc>
                  <a:txBody>
                    <a:bodyPr/>
                    <a:lstStyle/>
                    <a:p>
                      <a:pPr marL="63500" marR="0">
                        <a:lnSpc>
                          <a:spcPts val="1530"/>
                        </a:lnSpc>
                        <a:spcBef>
                          <a:spcPts val="0"/>
                        </a:spcBef>
                        <a:spcAft>
                          <a:spcPts val="0"/>
                        </a:spcAft>
                      </a:pPr>
                      <a:r>
                        <a:rPr lang="en-US" sz="2000">
                          <a:latin typeface="Times New Roman"/>
                          <a:ea typeface="Times New Roman"/>
                          <a:cs typeface="Times New Roman"/>
                        </a:rPr>
                        <a:t>Pin 48 (P1.20)</a:t>
                      </a:r>
                      <a:endParaRPr lang="en-US" sz="160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tc>
                  <a:txBody>
                    <a:bodyPr/>
                    <a:lstStyle/>
                    <a:p>
                      <a:pPr marL="50800" marR="0">
                        <a:lnSpc>
                          <a:spcPts val="1530"/>
                        </a:lnSpc>
                        <a:spcBef>
                          <a:spcPts val="0"/>
                        </a:spcBef>
                        <a:spcAft>
                          <a:spcPts val="0"/>
                        </a:spcAft>
                      </a:pPr>
                      <a:r>
                        <a:rPr lang="en-US" sz="2000" dirty="0">
                          <a:latin typeface="Times New Roman"/>
                          <a:ea typeface="Times New Roman"/>
                          <a:cs typeface="Times New Roman"/>
                        </a:rPr>
                        <a:t>Data 4</a:t>
                      </a:r>
                      <a:endParaRPr lang="en-US" sz="1600" dirty="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 xmlns:a16="http://schemas.microsoft.com/office/drawing/2014/main" val="10010"/>
                  </a:ext>
                </a:extLst>
              </a:tr>
              <a:tr h="187155">
                <a:tc>
                  <a:txBody>
                    <a:bodyPr/>
                    <a:lstStyle/>
                    <a:p>
                      <a:pPr marL="0" marR="0">
                        <a:lnSpc>
                          <a:spcPct val="115000"/>
                        </a:lnSpc>
                        <a:spcBef>
                          <a:spcPts val="0"/>
                        </a:spcBef>
                        <a:spcAft>
                          <a:spcPts val="0"/>
                        </a:spcAft>
                      </a:pPr>
                      <a:endParaRPr lang="en-US" sz="10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endParaRPr lang="en-US" sz="10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endParaRPr lang="en-US" sz="1000" dirty="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0011"/>
                  </a:ext>
                </a:extLst>
              </a:tr>
              <a:tr h="294487">
                <a:tc>
                  <a:txBody>
                    <a:bodyPr/>
                    <a:lstStyle/>
                    <a:p>
                      <a:pPr marL="63500" marR="0">
                        <a:lnSpc>
                          <a:spcPts val="1515"/>
                        </a:lnSpc>
                        <a:spcBef>
                          <a:spcPts val="0"/>
                        </a:spcBef>
                        <a:spcAft>
                          <a:spcPts val="0"/>
                        </a:spcAft>
                      </a:pPr>
                      <a:r>
                        <a:rPr lang="en-US" sz="2000">
                          <a:latin typeface="Times New Roman"/>
                          <a:ea typeface="Times New Roman"/>
                          <a:cs typeface="Times New Roman"/>
                        </a:rPr>
                        <a:t>6</a:t>
                      </a:r>
                      <a:endParaRPr lang="en-US" sz="160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tc>
                  <a:txBody>
                    <a:bodyPr/>
                    <a:lstStyle/>
                    <a:p>
                      <a:pPr marL="63500" marR="0">
                        <a:lnSpc>
                          <a:spcPts val="1515"/>
                        </a:lnSpc>
                        <a:spcBef>
                          <a:spcPts val="0"/>
                        </a:spcBef>
                        <a:spcAft>
                          <a:spcPts val="0"/>
                        </a:spcAft>
                      </a:pPr>
                      <a:r>
                        <a:rPr lang="en-US" sz="2000">
                          <a:latin typeface="Times New Roman"/>
                          <a:ea typeface="Times New Roman"/>
                          <a:cs typeface="Times New Roman"/>
                        </a:rPr>
                        <a:t>Pin 44 (P1.21)</a:t>
                      </a:r>
                      <a:endParaRPr lang="en-US" sz="160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tc>
                  <a:txBody>
                    <a:bodyPr/>
                    <a:lstStyle/>
                    <a:p>
                      <a:pPr marL="50800" marR="0">
                        <a:lnSpc>
                          <a:spcPts val="1515"/>
                        </a:lnSpc>
                        <a:spcBef>
                          <a:spcPts val="0"/>
                        </a:spcBef>
                        <a:spcAft>
                          <a:spcPts val="0"/>
                        </a:spcAft>
                      </a:pPr>
                      <a:r>
                        <a:rPr lang="en-US" sz="2000" dirty="0">
                          <a:latin typeface="Times New Roman"/>
                          <a:ea typeface="Times New Roman"/>
                          <a:cs typeface="Times New Roman"/>
                        </a:rPr>
                        <a:t>Data 5</a:t>
                      </a:r>
                      <a:endParaRPr lang="en-US" sz="1600" dirty="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 xmlns:a16="http://schemas.microsoft.com/office/drawing/2014/main" val="10012"/>
                  </a:ext>
                </a:extLst>
              </a:tr>
              <a:tr h="187155">
                <a:tc>
                  <a:txBody>
                    <a:bodyPr/>
                    <a:lstStyle/>
                    <a:p>
                      <a:pPr marL="0" marR="0">
                        <a:lnSpc>
                          <a:spcPct val="115000"/>
                        </a:lnSpc>
                        <a:spcBef>
                          <a:spcPts val="0"/>
                        </a:spcBef>
                        <a:spcAft>
                          <a:spcPts val="0"/>
                        </a:spcAft>
                      </a:pPr>
                      <a:endParaRPr lang="en-US" sz="10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endParaRPr lang="en-US" sz="10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endParaRPr lang="en-US" sz="1000" dirty="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0013"/>
                  </a:ext>
                </a:extLst>
              </a:tr>
              <a:tr h="294487">
                <a:tc>
                  <a:txBody>
                    <a:bodyPr/>
                    <a:lstStyle/>
                    <a:p>
                      <a:pPr marL="63500" marR="0">
                        <a:lnSpc>
                          <a:spcPts val="1515"/>
                        </a:lnSpc>
                        <a:spcBef>
                          <a:spcPts val="0"/>
                        </a:spcBef>
                        <a:spcAft>
                          <a:spcPts val="0"/>
                        </a:spcAft>
                      </a:pPr>
                      <a:r>
                        <a:rPr lang="en-US" sz="2000">
                          <a:latin typeface="Times New Roman"/>
                          <a:ea typeface="Times New Roman"/>
                          <a:cs typeface="Times New Roman"/>
                        </a:rPr>
                        <a:t>7</a:t>
                      </a:r>
                      <a:endParaRPr lang="en-US" sz="160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tc>
                  <a:txBody>
                    <a:bodyPr/>
                    <a:lstStyle/>
                    <a:p>
                      <a:pPr marL="63500" marR="0">
                        <a:lnSpc>
                          <a:spcPts val="1515"/>
                        </a:lnSpc>
                        <a:spcBef>
                          <a:spcPts val="0"/>
                        </a:spcBef>
                        <a:spcAft>
                          <a:spcPts val="0"/>
                        </a:spcAft>
                      </a:pPr>
                      <a:r>
                        <a:rPr lang="en-US" sz="2000">
                          <a:latin typeface="Times New Roman"/>
                          <a:ea typeface="Times New Roman"/>
                          <a:cs typeface="Times New Roman"/>
                        </a:rPr>
                        <a:t>Pin 40 (P1.22)</a:t>
                      </a:r>
                      <a:endParaRPr lang="en-US" sz="160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tc>
                  <a:txBody>
                    <a:bodyPr/>
                    <a:lstStyle/>
                    <a:p>
                      <a:pPr marL="50800" marR="0">
                        <a:lnSpc>
                          <a:spcPts val="1515"/>
                        </a:lnSpc>
                        <a:spcBef>
                          <a:spcPts val="0"/>
                        </a:spcBef>
                        <a:spcAft>
                          <a:spcPts val="0"/>
                        </a:spcAft>
                      </a:pPr>
                      <a:r>
                        <a:rPr lang="en-US" sz="2000" dirty="0">
                          <a:latin typeface="Times New Roman"/>
                          <a:ea typeface="Times New Roman"/>
                          <a:cs typeface="Times New Roman"/>
                        </a:rPr>
                        <a:t>Data 6</a:t>
                      </a:r>
                      <a:endParaRPr lang="en-US" sz="1600" dirty="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 xmlns:a16="http://schemas.microsoft.com/office/drawing/2014/main" val="10014"/>
                  </a:ext>
                </a:extLst>
              </a:tr>
              <a:tr h="187155">
                <a:tc>
                  <a:txBody>
                    <a:bodyPr/>
                    <a:lstStyle/>
                    <a:p>
                      <a:pPr marL="0" marR="0">
                        <a:lnSpc>
                          <a:spcPct val="115000"/>
                        </a:lnSpc>
                        <a:spcBef>
                          <a:spcPts val="0"/>
                        </a:spcBef>
                        <a:spcAft>
                          <a:spcPts val="0"/>
                        </a:spcAft>
                      </a:pPr>
                      <a:endParaRPr lang="en-US" sz="10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endParaRPr lang="en-US" sz="10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endParaRPr lang="en-US" sz="1000" dirty="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0015"/>
                  </a:ext>
                </a:extLst>
              </a:tr>
              <a:tr h="294487">
                <a:tc>
                  <a:txBody>
                    <a:bodyPr/>
                    <a:lstStyle/>
                    <a:p>
                      <a:pPr marL="63500" marR="0">
                        <a:lnSpc>
                          <a:spcPts val="1515"/>
                        </a:lnSpc>
                        <a:spcBef>
                          <a:spcPts val="0"/>
                        </a:spcBef>
                        <a:spcAft>
                          <a:spcPts val="0"/>
                        </a:spcAft>
                      </a:pPr>
                      <a:r>
                        <a:rPr lang="en-US" sz="2000">
                          <a:latin typeface="Times New Roman"/>
                          <a:ea typeface="Times New Roman"/>
                          <a:cs typeface="Times New Roman"/>
                        </a:rPr>
                        <a:t>8</a:t>
                      </a:r>
                      <a:endParaRPr lang="en-US" sz="160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tc>
                  <a:txBody>
                    <a:bodyPr/>
                    <a:lstStyle/>
                    <a:p>
                      <a:pPr marL="63500" marR="0">
                        <a:lnSpc>
                          <a:spcPts val="1515"/>
                        </a:lnSpc>
                        <a:spcBef>
                          <a:spcPts val="0"/>
                        </a:spcBef>
                        <a:spcAft>
                          <a:spcPts val="0"/>
                        </a:spcAft>
                      </a:pPr>
                      <a:r>
                        <a:rPr lang="en-US" sz="2000">
                          <a:latin typeface="Times New Roman"/>
                          <a:ea typeface="Times New Roman"/>
                          <a:cs typeface="Times New Roman"/>
                        </a:rPr>
                        <a:t>Pin 36 (P1.23)</a:t>
                      </a:r>
                      <a:endParaRPr lang="en-US" sz="160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tc>
                  <a:txBody>
                    <a:bodyPr/>
                    <a:lstStyle/>
                    <a:p>
                      <a:pPr marL="50800" marR="0">
                        <a:lnSpc>
                          <a:spcPts val="1515"/>
                        </a:lnSpc>
                        <a:spcBef>
                          <a:spcPts val="0"/>
                        </a:spcBef>
                        <a:spcAft>
                          <a:spcPts val="0"/>
                        </a:spcAft>
                      </a:pPr>
                      <a:r>
                        <a:rPr lang="en-US" sz="2000" dirty="0">
                          <a:latin typeface="Times New Roman"/>
                          <a:ea typeface="Times New Roman"/>
                          <a:cs typeface="Times New Roman"/>
                        </a:rPr>
                        <a:t>Data 7</a:t>
                      </a:r>
                      <a:endParaRPr lang="en-US" sz="1600" dirty="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 xmlns:a16="http://schemas.microsoft.com/office/drawing/2014/main" val="10016"/>
                  </a:ext>
                </a:extLst>
              </a:tr>
              <a:tr h="187155">
                <a:tc>
                  <a:txBody>
                    <a:bodyPr/>
                    <a:lstStyle/>
                    <a:p>
                      <a:pPr marL="0" marR="0">
                        <a:lnSpc>
                          <a:spcPct val="115000"/>
                        </a:lnSpc>
                        <a:spcBef>
                          <a:spcPts val="0"/>
                        </a:spcBef>
                        <a:spcAft>
                          <a:spcPts val="0"/>
                        </a:spcAft>
                      </a:pPr>
                      <a:endParaRPr lang="en-US" sz="10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endParaRPr lang="en-US" sz="10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endParaRPr lang="en-US" sz="1000" dirty="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0017"/>
                  </a:ext>
                </a:extLst>
              </a:tr>
              <a:tr h="294487">
                <a:tc>
                  <a:txBody>
                    <a:bodyPr/>
                    <a:lstStyle/>
                    <a:p>
                      <a:pPr marL="63500" marR="0">
                        <a:lnSpc>
                          <a:spcPts val="1515"/>
                        </a:lnSpc>
                        <a:spcBef>
                          <a:spcPts val="0"/>
                        </a:spcBef>
                        <a:spcAft>
                          <a:spcPts val="0"/>
                        </a:spcAft>
                      </a:pPr>
                      <a:r>
                        <a:rPr lang="en-US" sz="2000">
                          <a:latin typeface="Times New Roman"/>
                          <a:ea typeface="Times New Roman"/>
                          <a:cs typeface="Times New Roman"/>
                        </a:rPr>
                        <a:t>9</a:t>
                      </a:r>
                      <a:endParaRPr lang="en-US" sz="160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tc>
                  <a:txBody>
                    <a:bodyPr/>
                    <a:lstStyle/>
                    <a:p>
                      <a:pPr marL="63500" marR="0">
                        <a:lnSpc>
                          <a:spcPts val="1515"/>
                        </a:lnSpc>
                        <a:spcBef>
                          <a:spcPts val="0"/>
                        </a:spcBef>
                        <a:spcAft>
                          <a:spcPts val="0"/>
                        </a:spcAft>
                      </a:pPr>
                      <a:r>
                        <a:rPr lang="en-US" sz="2000">
                          <a:latin typeface="Times New Roman"/>
                          <a:ea typeface="Times New Roman"/>
                          <a:cs typeface="Times New Roman"/>
                        </a:rPr>
                        <a:t>Pin 13 (P0.28)</a:t>
                      </a:r>
                      <a:endParaRPr lang="en-US" sz="160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tc>
                  <a:txBody>
                    <a:bodyPr/>
                    <a:lstStyle/>
                    <a:p>
                      <a:pPr marL="50800" marR="0">
                        <a:lnSpc>
                          <a:spcPts val="1515"/>
                        </a:lnSpc>
                        <a:spcBef>
                          <a:spcPts val="0"/>
                        </a:spcBef>
                        <a:spcAft>
                          <a:spcPts val="0"/>
                        </a:spcAft>
                      </a:pPr>
                      <a:r>
                        <a:rPr lang="en-US" sz="2000" dirty="0">
                          <a:latin typeface="Times New Roman"/>
                          <a:ea typeface="Times New Roman"/>
                          <a:cs typeface="Times New Roman"/>
                        </a:rPr>
                        <a:t>EN</a:t>
                      </a:r>
                      <a:endParaRPr lang="en-US" sz="1600" dirty="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 xmlns:a16="http://schemas.microsoft.com/office/drawing/2014/main" val="10018"/>
                  </a:ext>
                </a:extLst>
              </a:tr>
              <a:tr h="187155">
                <a:tc>
                  <a:txBody>
                    <a:bodyPr/>
                    <a:lstStyle/>
                    <a:p>
                      <a:pPr marL="0" marR="0">
                        <a:lnSpc>
                          <a:spcPct val="115000"/>
                        </a:lnSpc>
                        <a:spcBef>
                          <a:spcPts val="0"/>
                        </a:spcBef>
                        <a:spcAft>
                          <a:spcPts val="0"/>
                        </a:spcAft>
                      </a:pPr>
                      <a:endParaRPr lang="en-US" sz="10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endParaRPr lang="en-US" sz="10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endParaRPr lang="en-US" sz="1000" dirty="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0019"/>
                  </a:ext>
                </a:extLst>
              </a:tr>
              <a:tr h="296424">
                <a:tc>
                  <a:txBody>
                    <a:bodyPr/>
                    <a:lstStyle/>
                    <a:p>
                      <a:pPr marL="63500" marR="0">
                        <a:lnSpc>
                          <a:spcPts val="1530"/>
                        </a:lnSpc>
                        <a:spcBef>
                          <a:spcPts val="0"/>
                        </a:spcBef>
                        <a:spcAft>
                          <a:spcPts val="0"/>
                        </a:spcAft>
                      </a:pPr>
                      <a:r>
                        <a:rPr lang="en-US" sz="2000">
                          <a:latin typeface="Times New Roman"/>
                          <a:ea typeface="Times New Roman"/>
                          <a:cs typeface="Times New Roman"/>
                        </a:rPr>
                        <a:t>10</a:t>
                      </a:r>
                      <a:endParaRPr lang="en-US" sz="160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tc>
                  <a:txBody>
                    <a:bodyPr/>
                    <a:lstStyle/>
                    <a:p>
                      <a:pPr marL="63500" marR="0">
                        <a:lnSpc>
                          <a:spcPts val="1530"/>
                        </a:lnSpc>
                        <a:spcBef>
                          <a:spcPts val="0"/>
                        </a:spcBef>
                        <a:spcAft>
                          <a:spcPts val="0"/>
                        </a:spcAft>
                      </a:pPr>
                      <a:r>
                        <a:rPr lang="en-US" sz="2000">
                          <a:latin typeface="Times New Roman"/>
                          <a:ea typeface="Times New Roman"/>
                          <a:cs typeface="Times New Roman"/>
                        </a:rPr>
                        <a:t>Pin 14 (P0.29)</a:t>
                      </a:r>
                      <a:endParaRPr lang="en-US" sz="160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tc>
                  <a:txBody>
                    <a:bodyPr/>
                    <a:lstStyle/>
                    <a:p>
                      <a:pPr marL="50800" marR="0">
                        <a:lnSpc>
                          <a:spcPts val="1530"/>
                        </a:lnSpc>
                        <a:spcBef>
                          <a:spcPts val="0"/>
                        </a:spcBef>
                        <a:spcAft>
                          <a:spcPts val="0"/>
                        </a:spcAft>
                      </a:pPr>
                      <a:r>
                        <a:rPr lang="en-US" sz="2000" dirty="0">
                          <a:latin typeface="Times New Roman"/>
                          <a:ea typeface="Times New Roman"/>
                          <a:cs typeface="Times New Roman"/>
                        </a:rPr>
                        <a:t>RS</a:t>
                      </a:r>
                      <a:endParaRPr lang="en-US" sz="1600" dirty="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 xmlns:a16="http://schemas.microsoft.com/office/drawing/2014/main" val="10020"/>
                  </a:ext>
                </a:extLst>
              </a:tr>
              <a:tr h="187155">
                <a:tc>
                  <a:txBody>
                    <a:bodyPr/>
                    <a:lstStyle/>
                    <a:p>
                      <a:pPr marL="0" marR="0">
                        <a:lnSpc>
                          <a:spcPct val="115000"/>
                        </a:lnSpc>
                        <a:spcBef>
                          <a:spcPts val="0"/>
                        </a:spcBef>
                        <a:spcAft>
                          <a:spcPts val="0"/>
                        </a:spcAft>
                      </a:pPr>
                      <a:endParaRPr lang="en-US" sz="10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endParaRPr lang="en-US" sz="10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endParaRPr lang="en-US" sz="1000" dirty="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0021"/>
                  </a:ext>
                </a:extLst>
              </a:tr>
              <a:tr h="294487">
                <a:tc>
                  <a:txBody>
                    <a:bodyPr/>
                    <a:lstStyle/>
                    <a:p>
                      <a:pPr marL="63500" marR="0">
                        <a:lnSpc>
                          <a:spcPts val="1515"/>
                        </a:lnSpc>
                        <a:spcBef>
                          <a:spcPts val="0"/>
                        </a:spcBef>
                        <a:spcAft>
                          <a:spcPts val="0"/>
                        </a:spcAft>
                      </a:pPr>
                      <a:r>
                        <a:rPr lang="en-US" sz="2000">
                          <a:latin typeface="Times New Roman"/>
                          <a:ea typeface="Times New Roman"/>
                          <a:cs typeface="Times New Roman"/>
                        </a:rPr>
                        <a:t>11</a:t>
                      </a:r>
                      <a:endParaRPr lang="en-US" sz="160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tc>
                  <a:txBody>
                    <a:bodyPr/>
                    <a:lstStyle/>
                    <a:p>
                      <a:pPr marL="63500" marR="0">
                        <a:lnSpc>
                          <a:spcPts val="1515"/>
                        </a:lnSpc>
                        <a:spcBef>
                          <a:spcPts val="0"/>
                        </a:spcBef>
                        <a:spcAft>
                          <a:spcPts val="0"/>
                        </a:spcAft>
                      </a:pPr>
                      <a:r>
                        <a:rPr lang="en-US" sz="2000">
                          <a:latin typeface="Times New Roman"/>
                          <a:ea typeface="Times New Roman"/>
                          <a:cs typeface="Times New Roman"/>
                        </a:rPr>
                        <a:t>GND</a:t>
                      </a:r>
                      <a:endParaRPr lang="en-US" sz="160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tc>
                  <a:txBody>
                    <a:bodyPr/>
                    <a:lstStyle/>
                    <a:p>
                      <a:pPr marL="50800" marR="0">
                        <a:lnSpc>
                          <a:spcPts val="1515"/>
                        </a:lnSpc>
                        <a:spcBef>
                          <a:spcPts val="0"/>
                        </a:spcBef>
                        <a:spcAft>
                          <a:spcPts val="0"/>
                        </a:spcAft>
                      </a:pPr>
                      <a:r>
                        <a:rPr lang="en-US" sz="2000" dirty="0">
                          <a:latin typeface="Times New Roman"/>
                          <a:ea typeface="Times New Roman"/>
                          <a:cs typeface="Times New Roman"/>
                        </a:rPr>
                        <a:t>WR</a:t>
                      </a:r>
                      <a:endParaRPr lang="en-US" sz="1600" dirty="0">
                        <a:latin typeface="Calibri"/>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 xmlns:a16="http://schemas.microsoft.com/office/drawing/2014/main" val="10022"/>
                  </a:ext>
                </a:extLst>
              </a:tr>
              <a:tr h="187155">
                <a:tc>
                  <a:txBody>
                    <a:bodyPr/>
                    <a:lstStyle/>
                    <a:p>
                      <a:pPr marL="0" marR="0">
                        <a:lnSpc>
                          <a:spcPct val="115000"/>
                        </a:lnSpc>
                        <a:spcBef>
                          <a:spcPts val="0"/>
                        </a:spcBef>
                        <a:spcAft>
                          <a:spcPts val="0"/>
                        </a:spcAft>
                      </a:pPr>
                      <a:endParaRPr lang="en-US" sz="7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endParaRPr lang="en-US" sz="70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tc>
                  <a:txBody>
                    <a:bodyPr/>
                    <a:lstStyle/>
                    <a:p>
                      <a:pPr marL="0" marR="0">
                        <a:lnSpc>
                          <a:spcPct val="115000"/>
                        </a:lnSpc>
                        <a:spcBef>
                          <a:spcPts val="0"/>
                        </a:spcBef>
                        <a:spcAft>
                          <a:spcPts val="0"/>
                        </a:spcAft>
                      </a:pPr>
                      <a:endParaRPr lang="en-US" sz="700" dirty="0">
                        <a:latin typeface="Times New Roman"/>
                        <a:ea typeface="Times New Roman"/>
                        <a:cs typeface="Times New Roman"/>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 xmlns:a16="http://schemas.microsoft.com/office/drawing/2014/main" val="10023"/>
                  </a:ext>
                </a:extLst>
              </a:tr>
            </a:tbl>
          </a:graphicData>
        </a:graphic>
      </p:graphicFrame>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6" name="Rectangle 3"/>
          <p:cNvSpPr/>
          <p:nvPr/>
        </p:nvSpPr>
        <p:spPr>
          <a:xfrm>
            <a:off x="2278200" y="0"/>
            <a:ext cx="4685481" cy="584775"/>
          </a:xfrm>
          <a:prstGeom prst="rect">
            <a:avLst/>
          </a:prstGeom>
          <a:solidFill>
            <a:schemeClr val="bg1"/>
          </a:solidFill>
        </p:spPr>
        <p:txBody>
          <a:bodyPr wrap="square">
            <a:spAutoFit/>
          </a:bodyPr>
          <a:lstStyle/>
          <a:p>
            <a:r>
              <a:rPr lang="en-IN" sz="3200" b="1" dirty="0">
                <a:latin typeface="Times New Roman" pitchFamily="18" charset="0"/>
                <a:cs typeface="Times New Roman" pitchFamily="18" charset="0"/>
              </a:rPr>
              <a:t>LCD pin configuration</a:t>
            </a:r>
          </a:p>
        </p:txBody>
      </p:sp>
      <p:pic>
        <p:nvPicPr>
          <p:cNvPr id="4099"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813375"/>
            <a:ext cx="8763000" cy="612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892667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78" name="Picture 2"/>
          <p:cNvPicPr>
            <a:picLocks noChangeAspect="1" noChangeArrowheads="1"/>
          </p:cNvPicPr>
          <p:nvPr/>
        </p:nvPicPr>
        <p:blipFill>
          <a:blip r:embed="rId2"/>
          <a:srcRect/>
          <a:stretch>
            <a:fillRect/>
          </a:stretch>
        </p:blipFill>
        <p:spPr bwMode="auto">
          <a:xfrm>
            <a:off x="1566484" y="685800"/>
            <a:ext cx="6510716" cy="6064776"/>
          </a:xfrm>
          <a:prstGeom prst="rect">
            <a:avLst/>
          </a:prstGeom>
          <a:noFill/>
          <a:ln>
            <a:noFill/>
          </a:ln>
          <a:effectLst/>
        </p:spPr>
      </p:pic>
      <p:sp>
        <p:nvSpPr>
          <p:cNvPr id="1048747" name="Rectangle 3"/>
          <p:cNvSpPr/>
          <p:nvPr/>
        </p:nvSpPr>
        <p:spPr>
          <a:xfrm>
            <a:off x="3257088" y="0"/>
            <a:ext cx="3129508" cy="584775"/>
          </a:xfrm>
          <a:prstGeom prst="rect">
            <a:avLst/>
          </a:prstGeom>
          <a:solidFill>
            <a:schemeClr val="bg1"/>
          </a:solidFill>
        </p:spPr>
        <p:txBody>
          <a:bodyPr wrap="square">
            <a:spAutoFit/>
          </a:bodyPr>
          <a:lstStyle/>
          <a:p>
            <a:r>
              <a:rPr lang="en-IN" sz="3200" b="1" dirty="0" smtClean="0">
                <a:latin typeface="Times New Roman" pitchFamily="18" charset="0"/>
                <a:cs typeface="Times New Roman" pitchFamily="18" charset="0"/>
              </a:rPr>
              <a:t>LCD Command</a:t>
            </a:r>
            <a:endParaRPr lang="en-IN" sz="3200" b="1" dirty="0">
              <a:latin typeface="Times New Roman" pitchFamily="18" charset="0"/>
              <a:cs typeface="Times New Roman" pitchFamily="18" charset="0"/>
            </a:endParaRPr>
          </a:p>
        </p:txBody>
      </p:sp>
    </p:spTree>
    <p:extLst>
      <p:ext uri="{BB962C8B-B14F-4D97-AF65-F5344CB8AC3E}">
        <p14:creationId xmlns:p14="http://schemas.microsoft.com/office/powerpoint/2010/main" val="391720095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1048748" name="Shape 220"/>
          <p:cNvSpPr txBox="1"/>
          <p:nvPr/>
        </p:nvSpPr>
        <p:spPr>
          <a:xfrm>
            <a:off x="2852825" y="-76200"/>
            <a:ext cx="3000000" cy="569200"/>
          </a:xfrm>
          <a:prstGeom prst="rect">
            <a:avLst/>
          </a:prstGeom>
          <a:solidFill>
            <a:schemeClr val="bg1"/>
          </a:solidFill>
          <a:ln>
            <a:noFill/>
          </a:ln>
        </p:spPr>
        <p:txBody>
          <a:bodyPr wrap="square" lIns="91425" tIns="91425" rIns="91425" bIns="91425" anchor="t" anchorCtr="0">
            <a:noAutofit/>
          </a:bodyPr>
          <a:lstStyle/>
          <a:p>
            <a:pPr marL="0" lvl="0" indent="0" rtl="0">
              <a:spcBef>
                <a:spcPts val="0"/>
              </a:spcBef>
              <a:buNone/>
            </a:pPr>
            <a:r>
              <a:rPr lang="en" sz="2400" b="1" dirty="0">
                <a:latin typeface="Times New Roman"/>
                <a:ea typeface="Times New Roman"/>
                <a:cs typeface="Times New Roman"/>
                <a:sym typeface="Times New Roman"/>
              </a:rPr>
              <a:t>LCD command codes</a:t>
            </a:r>
          </a:p>
        </p:txBody>
      </p:sp>
      <p:pic>
        <p:nvPicPr>
          <p:cNvPr id="512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77938" y="620712"/>
            <a:ext cx="6588125" cy="6465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0429858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a:solidFill>
            <a:schemeClr val="bg1"/>
          </a:solidFill>
        </p:spPr>
        <p:txBody>
          <a:bodyPr>
            <a:noAutofit/>
          </a:bodyPr>
          <a:lstStyle/>
          <a:p>
            <a:r>
              <a:rPr lang="en-US" sz="3600" dirty="0" smtClean="0"/>
              <a:t/>
            </a:r>
            <a:br>
              <a:rPr lang="en-US" sz="3600" dirty="0" smtClean="0"/>
            </a:br>
            <a:r>
              <a:rPr lang="en-US" sz="3200" b="1" dirty="0" smtClean="0">
                <a:latin typeface="Times New Roman" panose="02020603050405020304" pitchFamily="18" charset="0"/>
                <a:cs typeface="Times New Roman" panose="02020603050405020304" pitchFamily="18" charset="0"/>
              </a:rPr>
              <a:t>Interfacing Diagram of LCD With LPC2148</a:t>
            </a:r>
            <a:br>
              <a:rPr lang="en-US" sz="3200" b="1" dirty="0" smtClean="0">
                <a:latin typeface="Times New Roman" panose="02020603050405020304" pitchFamily="18" charset="0"/>
                <a:cs typeface="Times New Roman" panose="02020603050405020304" pitchFamily="18" charset="0"/>
              </a:rPr>
            </a:br>
            <a:endParaRPr lang="en-US" sz="3200" b="1" dirty="0">
              <a:latin typeface="Times New Roman" panose="02020603050405020304" pitchFamily="18" charset="0"/>
              <a:cs typeface="Times New Roman" panose="02020603050405020304" pitchFamily="18" charset="0"/>
            </a:endParaRPr>
          </a:p>
        </p:txBody>
      </p:sp>
      <p:pic>
        <p:nvPicPr>
          <p:cNvPr id="11266" name="Picture 2"/>
          <p:cNvPicPr>
            <a:picLocks noGrp="1" noChangeAspect="1" noChangeArrowheads="1"/>
          </p:cNvPicPr>
          <p:nvPr>
            <p:ph idx="1"/>
          </p:nvPr>
        </p:nvPicPr>
        <p:blipFill>
          <a:blip r:embed="rId2" cstate="print"/>
          <a:srcRect/>
          <a:stretch>
            <a:fillRect/>
          </a:stretch>
        </p:blipFill>
        <p:spPr bwMode="auto">
          <a:xfrm>
            <a:off x="685801" y="762000"/>
            <a:ext cx="8001000" cy="5867400"/>
          </a:xfrm>
          <a:prstGeom prst="rect">
            <a:avLst/>
          </a:prstGeom>
          <a:noFill/>
          <a:ln w="9525">
            <a:noFill/>
            <a:miter lim="800000"/>
            <a:headEnd/>
            <a:tailEnd/>
          </a:ln>
          <a:effectLst/>
        </p:spPr>
      </p:pic>
      <p:sp>
        <p:nvSpPr>
          <p:cNvPr id="6" name="TextBox 5"/>
          <p:cNvSpPr txBox="1"/>
          <p:nvPr/>
        </p:nvSpPr>
        <p:spPr>
          <a:xfrm>
            <a:off x="2590800" y="3962400"/>
            <a:ext cx="533400" cy="430887"/>
          </a:xfrm>
          <a:prstGeom prst="rect">
            <a:avLst/>
          </a:prstGeom>
          <a:noFill/>
        </p:spPr>
        <p:txBody>
          <a:bodyPr wrap="square" rtlCol="0">
            <a:spAutoFit/>
          </a:bodyPr>
          <a:lstStyle/>
          <a:p>
            <a:r>
              <a:rPr lang="en-US" sz="1100" b="1" dirty="0" smtClean="0"/>
              <a:t>P0.29</a:t>
            </a:r>
          </a:p>
          <a:p>
            <a:r>
              <a:rPr lang="en-US" sz="1100" b="1" dirty="0" smtClean="0"/>
              <a:t>P0.30</a:t>
            </a:r>
            <a:endParaRPr lang="en-US" sz="1100" b="1"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87362"/>
          </a:xfrm>
          <a:solidFill>
            <a:schemeClr val="bg1"/>
          </a:solidFill>
        </p:spPr>
        <p:txBody>
          <a:bodyPr>
            <a:normAutofit fontScale="90000"/>
          </a:bodyPr>
          <a:lstStyle/>
          <a:p>
            <a:r>
              <a:rPr lang="en-US" dirty="0" smtClean="0"/>
              <a:t/>
            </a:r>
            <a:br>
              <a:rPr lang="en-US" dirty="0" smtClean="0"/>
            </a:br>
            <a:r>
              <a:rPr lang="en-US" sz="3600" b="1" dirty="0" smtClean="0">
                <a:latin typeface="Times New Roman" panose="02020603050405020304" pitchFamily="18" charset="0"/>
                <a:cs typeface="Times New Roman" panose="02020603050405020304" pitchFamily="18" charset="0"/>
              </a:rPr>
              <a:t>Algorithm to display message on  LCD :</a:t>
            </a:r>
            <a:br>
              <a:rPr lang="en-US" sz="3600" b="1" dirty="0" smtClean="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52400" y="685800"/>
            <a:ext cx="8991600" cy="5791200"/>
          </a:xfrm>
          <a:solidFill>
            <a:schemeClr val="bg1"/>
          </a:solidFill>
        </p:spPr>
        <p:txBody>
          <a:bodyPr>
            <a:normAutofit fontScale="92500"/>
          </a:bodyPr>
          <a:lstStyle/>
          <a:p>
            <a:pPr marL="514350" indent="-514350" algn="just">
              <a:buFont typeface="+mj-lt"/>
              <a:buAutoNum type="arabicPeriod"/>
            </a:pPr>
            <a:r>
              <a:rPr lang="en-US" sz="3000" dirty="0" smtClean="0">
                <a:latin typeface="Times New Roman" panose="02020603050405020304" pitchFamily="18" charset="0"/>
                <a:cs typeface="Times New Roman" panose="02020603050405020304" pitchFamily="18" charset="0"/>
              </a:rPr>
              <a:t>Start</a:t>
            </a:r>
          </a:p>
          <a:p>
            <a:pPr marL="514350" indent="-514350" algn="just">
              <a:buFont typeface="+mj-lt"/>
              <a:buAutoNum type="arabicPeriod"/>
            </a:pPr>
            <a:r>
              <a:rPr lang="en-US" sz="3000" dirty="0" smtClean="0">
                <a:latin typeface="Times New Roman" panose="02020603050405020304" pitchFamily="18" charset="0"/>
                <a:cs typeface="Times New Roman" panose="02020603050405020304" pitchFamily="18" charset="0"/>
              </a:rPr>
              <a:t>Declare Functions &amp; variables</a:t>
            </a:r>
          </a:p>
          <a:p>
            <a:pPr marL="514350" lvl="0" indent="-514350" algn="just" hangingPunct="0">
              <a:buFont typeface="+mj-lt"/>
              <a:buAutoNum type="arabicPeriod"/>
            </a:pPr>
            <a:r>
              <a:rPr lang="en-US" sz="3000" dirty="0" smtClean="0">
                <a:latin typeface="Times New Roman" panose="02020603050405020304" pitchFamily="18" charset="0"/>
                <a:cs typeface="Times New Roman" panose="02020603050405020304" pitchFamily="18" charset="0"/>
              </a:rPr>
              <a:t>Select the pins as per the schematic diagram with IODIR1and IODIR0 register. </a:t>
            </a:r>
          </a:p>
          <a:p>
            <a:pPr marL="514350" lvl="0" indent="-514350" algn="just" hangingPunct="0">
              <a:buFont typeface="+mj-lt"/>
              <a:buAutoNum type="arabicPeriod"/>
            </a:pPr>
            <a:r>
              <a:rPr lang="en-US" sz="3000" dirty="0" smtClean="0">
                <a:latin typeface="Times New Roman" panose="02020603050405020304" pitchFamily="18" charset="0"/>
                <a:cs typeface="Times New Roman" panose="02020603050405020304" pitchFamily="18" charset="0"/>
              </a:rPr>
              <a:t>Send the command with lcdcmd subroutine .Here, in lcdcmd subroutine command is sent through IOSET1 register and      select the RS pin =0. </a:t>
            </a:r>
          </a:p>
          <a:p>
            <a:pPr marL="514350" lvl="0" indent="-514350" algn="just" hangingPunct="0">
              <a:buFont typeface="+mj-lt"/>
              <a:buAutoNum type="arabicPeriod"/>
            </a:pPr>
            <a:r>
              <a:rPr lang="en-US" sz="3000" dirty="0" smtClean="0">
                <a:latin typeface="Times New Roman" panose="02020603050405020304" pitchFamily="18" charset="0"/>
                <a:cs typeface="Times New Roman" panose="02020603050405020304" pitchFamily="18" charset="0"/>
              </a:rPr>
              <a:t>Give delay and clear the register with IOCLR1 register. </a:t>
            </a:r>
          </a:p>
          <a:p>
            <a:pPr marL="514350" lvl="0" indent="-514350" algn="just" hangingPunct="0">
              <a:buFont typeface="+mj-lt"/>
              <a:buAutoNum type="arabicPeriod"/>
            </a:pPr>
            <a:r>
              <a:rPr lang="en-US" sz="3000" dirty="0" smtClean="0">
                <a:latin typeface="Times New Roman" panose="02020603050405020304" pitchFamily="18" charset="0"/>
                <a:cs typeface="Times New Roman" panose="02020603050405020304" pitchFamily="18" charset="0"/>
              </a:rPr>
              <a:t>Send the data with lcddata subroutine .Here, in lcddata subroutine data is sent through IOSET1 register and select the pin RS=1 </a:t>
            </a:r>
          </a:p>
          <a:p>
            <a:pPr marL="514350" indent="-514350" algn="just" hangingPunct="0">
              <a:buFont typeface="+mj-lt"/>
              <a:buAutoNum type="arabicPeriod"/>
            </a:pPr>
            <a:r>
              <a:rPr lang="en-US" sz="3000" dirty="0" smtClean="0">
                <a:latin typeface="Times New Roman" panose="02020603050405020304" pitchFamily="18" charset="0"/>
                <a:cs typeface="Times New Roman" panose="02020603050405020304" pitchFamily="18" charset="0"/>
              </a:rPr>
              <a:t>Give delay and clear the register </a:t>
            </a:r>
            <a:r>
              <a:rPr lang="en-US" sz="3000" dirty="0">
                <a:latin typeface="Times New Roman" panose="02020603050405020304" pitchFamily="18" charset="0"/>
                <a:cs typeface="Times New Roman" panose="02020603050405020304" pitchFamily="18" charset="0"/>
              </a:rPr>
              <a:t>with IOCLR1 register. </a:t>
            </a:r>
          </a:p>
          <a:p>
            <a:pPr marL="514350" lvl="0" indent="-514350" algn="just" hangingPunct="0">
              <a:buFont typeface="+mj-lt"/>
              <a:buAutoNum type="arabicPeriod"/>
            </a:pPr>
            <a:endParaRPr lang="en-US" dirty="0" smtClean="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8229600" cy="478283"/>
          </a:xfrm>
          <a:solidFill>
            <a:schemeClr val="bg1"/>
          </a:solidFill>
        </p:spPr>
        <p:txBody>
          <a:bodyPr>
            <a:noAutofit/>
          </a:bodyPr>
          <a:lstStyle/>
          <a:p>
            <a:r>
              <a:rPr lang="en-US" sz="3600" b="1"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Program to display message on LCD</a:t>
            </a:r>
            <a:endParaRPr lang="en-US" sz="3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8600" y="572180"/>
            <a:ext cx="4419600" cy="6285820"/>
          </a:xfrm>
          <a:solidFill>
            <a:schemeClr val="bg1"/>
          </a:solidFill>
        </p:spPr>
        <p:txBody>
          <a:bodyPr>
            <a:noAutofit/>
          </a:bodyPr>
          <a:lstStyle/>
          <a:p>
            <a:pPr marL="0" indent="0">
              <a:buNone/>
            </a:pPr>
            <a:r>
              <a:rPr lang="en-US" sz="1900" dirty="0" smtClean="0">
                <a:latin typeface="Times New Roman" panose="02020603050405020304" pitchFamily="18" charset="0"/>
                <a:cs typeface="Times New Roman" panose="02020603050405020304" pitchFamily="18" charset="0"/>
              </a:rPr>
              <a:t>#include &lt;LPC21xx.H&gt;</a:t>
            </a:r>
          </a:p>
          <a:p>
            <a:pPr marL="0" indent="0">
              <a:buNone/>
            </a:pPr>
            <a:r>
              <a:rPr lang="en-US" sz="1900" dirty="0" smtClean="0">
                <a:latin typeface="Times New Roman" panose="02020603050405020304" pitchFamily="18" charset="0"/>
                <a:cs typeface="Times New Roman" panose="02020603050405020304" pitchFamily="18" charset="0"/>
              </a:rPr>
              <a:t>#include&lt;</a:t>
            </a:r>
            <a:r>
              <a:rPr lang="en-US" sz="1900" dirty="0" err="1" smtClean="0">
                <a:latin typeface="Times New Roman" panose="02020603050405020304" pitchFamily="18" charset="0"/>
                <a:cs typeface="Times New Roman" panose="02020603050405020304" pitchFamily="18" charset="0"/>
              </a:rPr>
              <a:t>board.h</a:t>
            </a:r>
            <a:r>
              <a:rPr lang="en-US" sz="1900" dirty="0" smtClean="0">
                <a:latin typeface="Times New Roman" panose="02020603050405020304" pitchFamily="18" charset="0"/>
                <a:cs typeface="Times New Roman" panose="02020603050405020304" pitchFamily="18" charset="0"/>
              </a:rPr>
              <a:t>&gt;</a:t>
            </a:r>
          </a:p>
          <a:p>
            <a:pPr marL="0" indent="0" hangingPunct="0">
              <a:buNone/>
            </a:pPr>
            <a:r>
              <a:rPr lang="en-US" sz="1900" dirty="0" smtClean="0">
                <a:latin typeface="Times New Roman" panose="02020603050405020304" pitchFamily="18" charset="0"/>
                <a:cs typeface="Times New Roman" panose="02020603050405020304" pitchFamily="18" charset="0"/>
              </a:rPr>
              <a:t>void </a:t>
            </a:r>
            <a:r>
              <a:rPr lang="en-US" sz="1900" dirty="0" err="1" smtClean="0">
                <a:latin typeface="Times New Roman" panose="02020603050405020304" pitchFamily="18" charset="0"/>
                <a:cs typeface="Times New Roman" panose="02020603050405020304" pitchFamily="18" charset="0"/>
              </a:rPr>
              <a:t>lcdcmd</a:t>
            </a:r>
            <a:r>
              <a:rPr lang="en-US" sz="1900" dirty="0" smtClean="0">
                <a:latin typeface="Times New Roman" panose="02020603050405020304" pitchFamily="18" charset="0"/>
                <a:cs typeface="Times New Roman" panose="02020603050405020304" pitchFamily="18" charset="0"/>
              </a:rPr>
              <a:t>(unsigned </a:t>
            </a:r>
            <a:r>
              <a:rPr lang="en-US" sz="1900" dirty="0" err="1" smtClean="0">
                <a:latin typeface="Times New Roman" panose="02020603050405020304" pitchFamily="18" charset="0"/>
                <a:cs typeface="Times New Roman" panose="02020603050405020304" pitchFamily="18" charset="0"/>
              </a:rPr>
              <a:t>int</a:t>
            </a:r>
            <a:r>
              <a:rPr lang="en-US" sz="1900" dirty="0" smtClean="0">
                <a:latin typeface="Times New Roman" panose="02020603050405020304" pitchFamily="18" charset="0"/>
                <a:cs typeface="Times New Roman" panose="02020603050405020304" pitchFamily="18" charset="0"/>
              </a:rPr>
              <a:t>);</a:t>
            </a:r>
          </a:p>
          <a:p>
            <a:pPr marL="0" indent="0" hangingPunct="0">
              <a:buNone/>
            </a:pPr>
            <a:r>
              <a:rPr lang="en-US" sz="1900" dirty="0" smtClean="0">
                <a:latin typeface="Times New Roman" panose="02020603050405020304" pitchFamily="18" charset="0"/>
                <a:cs typeface="Times New Roman" panose="02020603050405020304" pitchFamily="18" charset="0"/>
              </a:rPr>
              <a:t> void </a:t>
            </a:r>
            <a:r>
              <a:rPr lang="en-US" sz="1900" dirty="0" err="1" smtClean="0">
                <a:latin typeface="Times New Roman" panose="02020603050405020304" pitchFamily="18" charset="0"/>
                <a:cs typeface="Times New Roman" panose="02020603050405020304" pitchFamily="18" charset="0"/>
              </a:rPr>
              <a:t>lcddata</a:t>
            </a:r>
            <a:r>
              <a:rPr lang="en-US" sz="1900" dirty="0" smtClean="0">
                <a:latin typeface="Times New Roman" panose="02020603050405020304" pitchFamily="18" charset="0"/>
                <a:cs typeface="Times New Roman" panose="02020603050405020304" pitchFamily="18" charset="0"/>
              </a:rPr>
              <a:t>(unsigned </a:t>
            </a:r>
            <a:r>
              <a:rPr lang="en-US" sz="1900" dirty="0" err="1" smtClean="0">
                <a:latin typeface="Times New Roman" panose="02020603050405020304" pitchFamily="18" charset="0"/>
                <a:cs typeface="Times New Roman" panose="02020603050405020304" pitchFamily="18" charset="0"/>
              </a:rPr>
              <a:t>int</a:t>
            </a:r>
            <a:r>
              <a:rPr lang="en-US" sz="1900" dirty="0" smtClean="0">
                <a:latin typeface="Times New Roman" panose="02020603050405020304" pitchFamily="18" charset="0"/>
                <a:cs typeface="Times New Roman" panose="02020603050405020304" pitchFamily="18" charset="0"/>
              </a:rPr>
              <a:t>); </a:t>
            </a:r>
          </a:p>
          <a:p>
            <a:pPr marL="0" indent="0" hangingPunct="0">
              <a:buNone/>
            </a:pPr>
            <a:r>
              <a:rPr lang="en-US" sz="1900" dirty="0" smtClean="0">
                <a:latin typeface="Times New Roman" panose="02020603050405020304" pitchFamily="18" charset="0"/>
                <a:cs typeface="Times New Roman" panose="02020603050405020304" pitchFamily="18" charset="0"/>
              </a:rPr>
              <a:t>void </a:t>
            </a:r>
            <a:r>
              <a:rPr lang="en-US" sz="1900" dirty="0" err="1" smtClean="0">
                <a:latin typeface="Times New Roman" panose="02020603050405020304" pitchFamily="18" charset="0"/>
                <a:cs typeface="Times New Roman" panose="02020603050405020304" pitchFamily="18" charset="0"/>
              </a:rPr>
              <a:t>delay_lcd</a:t>
            </a:r>
            <a:r>
              <a:rPr lang="en-US" sz="1900" dirty="0" smtClean="0">
                <a:latin typeface="Times New Roman" panose="02020603050405020304" pitchFamily="18" charset="0"/>
                <a:cs typeface="Times New Roman" panose="02020603050405020304" pitchFamily="18" charset="0"/>
              </a:rPr>
              <a:t>(void);</a:t>
            </a:r>
          </a:p>
          <a:p>
            <a:pPr marL="0" lvl="0" indent="0">
              <a:spcBef>
                <a:spcPts val="0"/>
              </a:spcBef>
              <a:buNone/>
            </a:pPr>
            <a:r>
              <a:rPr lang="en-US" sz="1900" dirty="0" err="1" smtClean="0">
                <a:latin typeface="Times New Roman" panose="02020603050405020304" pitchFamily="18" charset="0"/>
                <a:cs typeface="Times New Roman" panose="02020603050405020304" pitchFamily="18" charset="0"/>
              </a:rPr>
              <a:t>int</a:t>
            </a:r>
            <a:r>
              <a:rPr lang="en-US" sz="1900" dirty="0" smtClean="0">
                <a:latin typeface="Times New Roman" panose="02020603050405020304" pitchFamily="18" charset="0"/>
                <a:cs typeface="Times New Roman" panose="02020603050405020304" pitchFamily="18" charset="0"/>
              </a:rPr>
              <a:t> main(void)</a:t>
            </a:r>
          </a:p>
          <a:p>
            <a:pPr marL="0" indent="0">
              <a:buNone/>
            </a:pPr>
            <a:r>
              <a:rPr lang="en-US" sz="1900" dirty="0" smtClean="0">
                <a:latin typeface="Times New Roman" panose="02020603050405020304" pitchFamily="18" charset="0"/>
                <a:cs typeface="Times New Roman" panose="02020603050405020304" pitchFamily="18" charset="0"/>
              </a:rPr>
              <a:t>{ </a:t>
            </a:r>
          </a:p>
          <a:p>
            <a:pPr marL="0" indent="0">
              <a:buNone/>
            </a:pPr>
            <a:r>
              <a:rPr lang="en-US" sz="1900" dirty="0" smtClean="0">
                <a:latin typeface="Times New Roman" panose="02020603050405020304" pitchFamily="18" charset="0"/>
                <a:cs typeface="Times New Roman" panose="02020603050405020304" pitchFamily="18" charset="0"/>
              </a:rPr>
              <a:t>IODIR1=0X00FF0000;</a:t>
            </a:r>
          </a:p>
          <a:p>
            <a:pPr marL="0" indent="0">
              <a:buNone/>
            </a:pPr>
            <a:r>
              <a:rPr lang="en-US" sz="1900" dirty="0" smtClean="0">
                <a:latin typeface="Times New Roman" panose="02020603050405020304" pitchFamily="18" charset="0"/>
                <a:cs typeface="Times New Roman" panose="02020603050405020304" pitchFamily="18" charset="0"/>
              </a:rPr>
              <a:t>IODIR0=0x70000000;</a:t>
            </a:r>
          </a:p>
          <a:p>
            <a:pPr marL="0" indent="0">
              <a:buNone/>
            </a:pPr>
            <a:r>
              <a:rPr lang="en-US" sz="1900" dirty="0" smtClean="0">
                <a:latin typeface="Times New Roman" panose="02020603050405020304" pitchFamily="18" charset="0"/>
                <a:cs typeface="Times New Roman" panose="02020603050405020304" pitchFamily="18" charset="0"/>
              </a:rPr>
              <a:t>lcdcmd(0x38);</a:t>
            </a:r>
          </a:p>
          <a:p>
            <a:pPr marL="0" indent="0">
              <a:buNone/>
            </a:pPr>
            <a:r>
              <a:rPr lang="en-US" sz="1900" dirty="0" err="1">
                <a:solidFill>
                  <a:schemeClr val="dk1"/>
                </a:solidFill>
                <a:latin typeface="Times New Roman" panose="02020603050405020304" pitchFamily="18" charset="0"/>
                <a:ea typeface="Times New Roman"/>
                <a:cs typeface="Times New Roman" panose="02020603050405020304" pitchFamily="18" charset="0"/>
              </a:rPr>
              <a:t>delay_lcd</a:t>
            </a:r>
            <a:r>
              <a:rPr lang="en-US" sz="1900" dirty="0">
                <a:solidFill>
                  <a:schemeClr val="dk1"/>
                </a:solidFill>
                <a:latin typeface="Times New Roman" panose="02020603050405020304" pitchFamily="18" charset="0"/>
                <a:ea typeface="Times New Roman"/>
                <a:cs typeface="Times New Roman" panose="02020603050405020304" pitchFamily="18" charset="0"/>
              </a:rPr>
              <a:t> ();</a:t>
            </a:r>
          </a:p>
          <a:p>
            <a:pPr marL="0" indent="0">
              <a:buNone/>
            </a:pPr>
            <a:r>
              <a:rPr lang="en-US" sz="1900" dirty="0" smtClean="0">
                <a:latin typeface="Times New Roman" panose="02020603050405020304" pitchFamily="18" charset="0"/>
                <a:cs typeface="Times New Roman" panose="02020603050405020304" pitchFamily="18" charset="0"/>
              </a:rPr>
              <a:t>lcdcmd(0x0e);</a:t>
            </a:r>
          </a:p>
          <a:p>
            <a:pPr marL="0" indent="0">
              <a:buNone/>
            </a:pPr>
            <a:r>
              <a:rPr lang="en-US" sz="1900" dirty="0" smtClean="0">
                <a:latin typeface="Times New Roman" panose="02020603050405020304" pitchFamily="18" charset="0"/>
                <a:cs typeface="Times New Roman" panose="02020603050405020304" pitchFamily="18" charset="0"/>
              </a:rPr>
              <a:t>lcdcmd(0x01);</a:t>
            </a:r>
          </a:p>
          <a:p>
            <a:pPr marL="0" indent="0">
              <a:buNone/>
            </a:pPr>
            <a:r>
              <a:rPr lang="en-US" sz="1900" dirty="0" err="1">
                <a:solidFill>
                  <a:schemeClr val="dk1"/>
                </a:solidFill>
                <a:latin typeface="Times New Roman" panose="02020603050405020304" pitchFamily="18" charset="0"/>
                <a:ea typeface="Times New Roman"/>
                <a:cs typeface="Times New Roman" panose="02020603050405020304" pitchFamily="18" charset="0"/>
              </a:rPr>
              <a:t>delay_lcd</a:t>
            </a:r>
            <a:r>
              <a:rPr lang="en-US" sz="1900" dirty="0">
                <a:solidFill>
                  <a:schemeClr val="dk1"/>
                </a:solidFill>
                <a:latin typeface="Times New Roman" panose="02020603050405020304" pitchFamily="18" charset="0"/>
                <a:ea typeface="Times New Roman"/>
                <a:cs typeface="Times New Roman" panose="02020603050405020304" pitchFamily="18" charset="0"/>
              </a:rPr>
              <a:t> ();</a:t>
            </a:r>
          </a:p>
          <a:p>
            <a:pPr marL="0" indent="0">
              <a:buNone/>
            </a:pPr>
            <a:r>
              <a:rPr lang="en-US" sz="1900" dirty="0" smtClean="0">
                <a:latin typeface="Times New Roman" panose="02020603050405020304" pitchFamily="18" charset="0"/>
                <a:cs typeface="Times New Roman" panose="02020603050405020304" pitchFamily="18" charset="0"/>
              </a:rPr>
              <a:t>lcdcmd(0x06);</a:t>
            </a:r>
          </a:p>
          <a:p>
            <a:pPr marL="0" indent="0">
              <a:buNone/>
            </a:pPr>
            <a:r>
              <a:rPr lang="en-US" sz="1900" dirty="0" err="1">
                <a:solidFill>
                  <a:schemeClr val="dk1"/>
                </a:solidFill>
                <a:latin typeface="Times New Roman" panose="02020603050405020304" pitchFamily="18" charset="0"/>
                <a:ea typeface="Times New Roman"/>
                <a:cs typeface="Times New Roman" panose="02020603050405020304" pitchFamily="18" charset="0"/>
              </a:rPr>
              <a:t>delay_lcd</a:t>
            </a:r>
            <a:r>
              <a:rPr lang="en-US" sz="1900" dirty="0">
                <a:solidFill>
                  <a:schemeClr val="dk1"/>
                </a:solidFill>
                <a:latin typeface="Times New Roman" panose="02020603050405020304" pitchFamily="18" charset="0"/>
                <a:ea typeface="Times New Roman"/>
                <a:cs typeface="Times New Roman" panose="02020603050405020304" pitchFamily="18" charset="0"/>
              </a:rPr>
              <a:t> ();</a:t>
            </a:r>
          </a:p>
          <a:p>
            <a:pPr marL="0" indent="0" hangingPunct="0">
              <a:buNone/>
            </a:pPr>
            <a:r>
              <a:rPr lang="en-US" sz="1900" dirty="0" smtClean="0">
                <a:latin typeface="Times New Roman" panose="02020603050405020304" pitchFamily="18" charset="0"/>
                <a:cs typeface="Times New Roman" panose="02020603050405020304" pitchFamily="18" charset="0"/>
              </a:rPr>
              <a:t>lcdcmd(0x84);</a:t>
            </a:r>
          </a:p>
          <a:p>
            <a:pPr marL="0" indent="0" hangingPunct="0">
              <a:buNone/>
            </a:pPr>
            <a:r>
              <a:rPr lang="en-US" sz="2000" dirty="0" err="1">
                <a:solidFill>
                  <a:schemeClr val="dk1"/>
                </a:solidFill>
                <a:latin typeface="Times New Roman" panose="02020603050405020304" pitchFamily="18" charset="0"/>
                <a:ea typeface="Times New Roman"/>
                <a:cs typeface="Times New Roman" panose="02020603050405020304" pitchFamily="18" charset="0"/>
              </a:rPr>
              <a:t>delay_lcd</a:t>
            </a:r>
            <a:r>
              <a:rPr lang="en-US" sz="2000" dirty="0">
                <a:solidFill>
                  <a:schemeClr val="dk1"/>
                </a:solidFill>
                <a:latin typeface="Times New Roman" panose="02020603050405020304" pitchFamily="18" charset="0"/>
                <a:ea typeface="Times New Roman"/>
                <a:cs typeface="Times New Roman" panose="02020603050405020304" pitchFamily="18" charset="0"/>
              </a:rPr>
              <a:t> ();</a:t>
            </a:r>
          </a:p>
          <a:p>
            <a:pPr marL="0" indent="0" hangingPunct="0">
              <a:buNone/>
            </a:pPr>
            <a:endParaRPr lang="en-US" sz="1900" dirty="0" smtClean="0">
              <a:latin typeface="Times New Roman" panose="02020603050405020304" pitchFamily="18" charset="0"/>
              <a:cs typeface="Times New Roman" panose="02020603050405020304" pitchFamily="18" charset="0"/>
            </a:endParaRPr>
          </a:p>
          <a:p>
            <a:pPr>
              <a:buNone/>
            </a:pPr>
            <a:endParaRPr lang="en-US" sz="1800" dirty="0" smtClean="0"/>
          </a:p>
          <a:p>
            <a:endParaRPr lang="en-US" sz="1800" dirty="0"/>
          </a:p>
        </p:txBody>
      </p:sp>
      <p:sp>
        <p:nvSpPr>
          <p:cNvPr id="4" name="Rectangle 3"/>
          <p:cNvSpPr/>
          <p:nvPr/>
        </p:nvSpPr>
        <p:spPr>
          <a:xfrm>
            <a:off x="5029200" y="572180"/>
            <a:ext cx="3886200" cy="3170099"/>
          </a:xfrm>
          <a:prstGeom prst="rect">
            <a:avLst/>
          </a:prstGeom>
          <a:solidFill>
            <a:schemeClr val="bg1"/>
          </a:solidFill>
        </p:spPr>
        <p:txBody>
          <a:bodyPr wrap="square">
            <a:spAutoFit/>
          </a:bodyPr>
          <a:lstStyle/>
          <a:p>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lcddata (‘S’);</a:t>
            </a:r>
          </a:p>
          <a:p>
            <a:r>
              <a:rPr lang="en-US" sz="2000" dirty="0" err="1" smtClean="0">
                <a:solidFill>
                  <a:schemeClr val="dk1"/>
                </a:solidFill>
                <a:latin typeface="Times New Roman" panose="02020603050405020304" pitchFamily="18" charset="0"/>
                <a:ea typeface="Times New Roman"/>
                <a:cs typeface="Times New Roman" panose="02020603050405020304" pitchFamily="18" charset="0"/>
              </a:rPr>
              <a:t>delay_lcd</a:t>
            </a:r>
            <a:r>
              <a:rPr lang="en-US" sz="2000" dirty="0" smtClean="0">
                <a:solidFill>
                  <a:schemeClr val="dk1"/>
                </a:solidFill>
                <a:latin typeface="Times New Roman" panose="02020603050405020304" pitchFamily="18" charset="0"/>
                <a:ea typeface="Times New Roman"/>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lcddata (‘P’);</a:t>
            </a:r>
          </a:p>
          <a:p>
            <a:r>
              <a:rPr lang="en-US" sz="2000" dirty="0" err="1">
                <a:solidFill>
                  <a:schemeClr val="dk1"/>
                </a:solidFill>
                <a:latin typeface="Times New Roman" panose="02020603050405020304" pitchFamily="18" charset="0"/>
                <a:ea typeface="Times New Roman"/>
                <a:cs typeface="Times New Roman" panose="02020603050405020304" pitchFamily="18" charset="0"/>
              </a:rPr>
              <a:t>delay_lcd</a:t>
            </a:r>
            <a:r>
              <a:rPr lang="en-US" sz="2000" dirty="0">
                <a:solidFill>
                  <a:schemeClr val="dk1"/>
                </a:solidFill>
                <a:latin typeface="Times New Roman" panose="02020603050405020304" pitchFamily="18" charset="0"/>
                <a:ea typeface="Times New Roman"/>
                <a:cs typeface="Times New Roman" panose="02020603050405020304" pitchFamily="18" charset="0"/>
              </a:rPr>
              <a:t> </a:t>
            </a:r>
            <a:r>
              <a:rPr lang="en-US" sz="2000" dirty="0" smtClean="0">
                <a:solidFill>
                  <a:schemeClr val="dk1"/>
                </a:solidFill>
                <a:latin typeface="Times New Roman" panose="02020603050405020304" pitchFamily="18" charset="0"/>
                <a:ea typeface="Times New Roman"/>
                <a:cs typeface="Times New Roman" panose="02020603050405020304" pitchFamily="18" charset="0"/>
              </a:rPr>
              <a:t>();</a:t>
            </a:r>
            <a:endParaRPr lang="en-US" sz="2000" dirty="0">
              <a:solidFill>
                <a:schemeClr val="dk1"/>
              </a:solidFill>
              <a:latin typeface="Times New Roman" panose="02020603050405020304" pitchFamily="18" charset="0"/>
              <a:ea typeface="Times New Roman"/>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lcddata (‘P’);</a:t>
            </a:r>
          </a:p>
          <a:p>
            <a:r>
              <a:rPr lang="en-US" sz="2000" dirty="0" err="1">
                <a:solidFill>
                  <a:schemeClr val="dk1"/>
                </a:solidFill>
                <a:latin typeface="Times New Roman" panose="02020603050405020304" pitchFamily="18" charset="0"/>
                <a:ea typeface="Times New Roman"/>
                <a:cs typeface="Times New Roman" panose="02020603050405020304" pitchFamily="18" charset="0"/>
              </a:rPr>
              <a:t>delay_lcd</a:t>
            </a:r>
            <a:r>
              <a:rPr lang="en-US" sz="2000" dirty="0">
                <a:solidFill>
                  <a:schemeClr val="dk1"/>
                </a:solidFill>
                <a:latin typeface="Times New Roman" panose="02020603050405020304" pitchFamily="18" charset="0"/>
                <a:ea typeface="Times New Roman"/>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lcddata </a:t>
            </a:r>
            <a:r>
              <a:rPr lang="en-US" sz="2000" dirty="0" smtClean="0">
                <a:latin typeface="Times New Roman" panose="02020603050405020304" pitchFamily="18" charset="0"/>
                <a:cs typeface="Times New Roman" panose="02020603050405020304" pitchFamily="18" charset="0"/>
              </a:rPr>
              <a:t>(‘U’);</a:t>
            </a:r>
            <a:endParaRPr lang="en-US" sz="2000" dirty="0">
              <a:latin typeface="Times New Roman" panose="02020603050405020304" pitchFamily="18" charset="0"/>
              <a:cs typeface="Times New Roman" panose="02020603050405020304" pitchFamily="18" charset="0"/>
            </a:endParaRPr>
          </a:p>
          <a:p>
            <a:r>
              <a:rPr lang="en-US" sz="2000" dirty="0" err="1">
                <a:solidFill>
                  <a:schemeClr val="dk1"/>
                </a:solidFill>
                <a:latin typeface="Times New Roman" panose="02020603050405020304" pitchFamily="18" charset="0"/>
                <a:ea typeface="Times New Roman"/>
                <a:cs typeface="Times New Roman" panose="02020603050405020304" pitchFamily="18" charset="0"/>
              </a:rPr>
              <a:t>delay_lcd</a:t>
            </a:r>
            <a:r>
              <a:rPr lang="en-US" sz="2000" dirty="0">
                <a:solidFill>
                  <a:schemeClr val="dk1"/>
                </a:solidFill>
                <a:latin typeface="Times New Roman" panose="02020603050405020304" pitchFamily="18" charset="0"/>
                <a:ea typeface="Times New Roman"/>
                <a:cs typeface="Times New Roman" panose="02020603050405020304" pitchFamily="18" charset="0"/>
              </a:rPr>
              <a:t> ();</a:t>
            </a:r>
          </a:p>
          <a:p>
            <a:r>
              <a:rPr lang="en-US" sz="2000" dirty="0" smtClean="0">
                <a:latin typeface="Times New Roman" panose="02020603050405020304" pitchFamily="18" charset="0"/>
                <a:cs typeface="Times New Roman" panose="02020603050405020304" pitchFamily="18" charset="0"/>
              </a:rPr>
              <a:t>while(1</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676400"/>
            <a:ext cx="4711889" cy="4800600"/>
          </a:xfrm>
          <a:solidFill>
            <a:schemeClr val="bg1"/>
          </a:solidFill>
        </p:spPr>
        <p:txBody>
          <a:bodyPr>
            <a:noAutofit/>
          </a:bodyPr>
          <a:lstStyle/>
          <a:p>
            <a:pPr marL="0" indent="0">
              <a:buNone/>
            </a:pPr>
            <a:r>
              <a:rPr lang="en-US" sz="2400" dirty="0" smtClean="0">
                <a:latin typeface="Times New Roman" panose="02020603050405020304" pitchFamily="18" charset="0"/>
                <a:cs typeface="Times New Roman" panose="02020603050405020304" pitchFamily="18" charset="0"/>
              </a:rPr>
              <a:t>void </a:t>
            </a:r>
            <a:r>
              <a:rPr lang="en-US" sz="2400" dirty="0" err="1" smtClean="0">
                <a:latin typeface="Times New Roman" panose="02020603050405020304" pitchFamily="18" charset="0"/>
                <a:cs typeface="Times New Roman" panose="02020603050405020304" pitchFamily="18" charset="0"/>
              </a:rPr>
              <a:t>lcdcmd</a:t>
            </a:r>
            <a:r>
              <a:rPr lang="en-US" sz="2400" dirty="0" smtClean="0">
                <a:latin typeface="Times New Roman" panose="02020603050405020304" pitchFamily="18" charset="0"/>
                <a:cs typeface="Times New Roman" panose="02020603050405020304" pitchFamily="18" charset="0"/>
              </a:rPr>
              <a:t>(unsigned </a:t>
            </a:r>
            <a:r>
              <a:rPr lang="en-US" sz="2400" dirty="0" err="1" smtClean="0">
                <a:latin typeface="Times New Roman" panose="02020603050405020304" pitchFamily="18" charset="0"/>
                <a:cs typeface="Times New Roman" panose="02020603050405020304" pitchFamily="18" charset="0"/>
              </a:rPr>
              <a:t>int</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cmddata</a:t>
            </a:r>
            <a:r>
              <a:rPr lang="en-US" sz="2400" dirty="0" smtClean="0">
                <a:latin typeface="Times New Roman" panose="02020603050405020304" pitchFamily="18" charset="0"/>
                <a:cs typeface="Times New Roman" panose="02020603050405020304" pitchFamily="18" charset="0"/>
              </a:rPr>
              <a:t>) </a:t>
            </a:r>
          </a:p>
          <a:p>
            <a:pPr marL="0" indent="0">
              <a:buNone/>
            </a:pPr>
            <a:r>
              <a:rPr lang="en-US" sz="2400" dirty="0" smtClean="0">
                <a:latin typeface="Times New Roman" panose="02020603050405020304" pitchFamily="18" charset="0"/>
                <a:cs typeface="Times New Roman" panose="02020603050405020304" pitchFamily="18" charset="0"/>
              </a:rPr>
              <a:t>{</a:t>
            </a:r>
          </a:p>
          <a:p>
            <a:pPr marL="0" indent="0">
              <a:buNone/>
            </a:pPr>
            <a:r>
              <a:rPr lang="en-US" sz="2400" dirty="0" smtClean="0">
                <a:latin typeface="Times New Roman" panose="02020603050405020304" pitchFamily="18" charset="0"/>
                <a:cs typeface="Times New Roman" panose="02020603050405020304" pitchFamily="18" charset="0"/>
              </a:rPr>
              <a:t>IOCLR0=0X40000000;</a:t>
            </a:r>
          </a:p>
          <a:p>
            <a:pPr marL="0" indent="0" hangingPunct="0">
              <a:buNone/>
            </a:pPr>
            <a:r>
              <a:rPr lang="en-US" sz="2400" dirty="0" smtClean="0">
                <a:latin typeface="Times New Roman" panose="02020603050405020304" pitchFamily="18" charset="0"/>
                <a:cs typeface="Times New Roman" panose="02020603050405020304" pitchFamily="18" charset="0"/>
              </a:rPr>
              <a:t>IOCLR0=0x20000000; </a:t>
            </a:r>
          </a:p>
          <a:p>
            <a:pPr marL="0" indent="0" hangingPunct="0">
              <a:buNone/>
            </a:pPr>
            <a:r>
              <a:rPr lang="en-US" sz="2400" dirty="0" err="1" smtClean="0">
                <a:latin typeface="Times New Roman" panose="02020603050405020304" pitchFamily="18" charset="0"/>
                <a:cs typeface="Times New Roman" panose="02020603050405020304" pitchFamily="18" charset="0"/>
              </a:rPr>
              <a:t>cmddata</a:t>
            </a:r>
            <a:r>
              <a:rPr lang="en-US" sz="2400" dirty="0" smtClean="0">
                <a:latin typeface="Times New Roman" panose="02020603050405020304" pitchFamily="18" charset="0"/>
                <a:cs typeface="Times New Roman" panose="02020603050405020304" pitchFamily="18" charset="0"/>
              </a:rPr>
              <a:t> = </a:t>
            </a:r>
            <a:r>
              <a:rPr lang="en-US" sz="2400" dirty="0" err="1" smtClean="0">
                <a:latin typeface="Times New Roman" panose="02020603050405020304" pitchFamily="18" charset="0"/>
                <a:cs typeface="Times New Roman" panose="02020603050405020304" pitchFamily="18" charset="0"/>
              </a:rPr>
              <a:t>cmddata</a:t>
            </a:r>
            <a:r>
              <a:rPr lang="en-US" sz="2400" dirty="0" smtClean="0">
                <a:latin typeface="Times New Roman" panose="02020603050405020304" pitchFamily="18" charset="0"/>
                <a:cs typeface="Times New Roman" panose="02020603050405020304" pitchFamily="18" charset="0"/>
              </a:rPr>
              <a:t> &lt;&lt; 16; </a:t>
            </a:r>
          </a:p>
          <a:p>
            <a:pPr marL="0" indent="0" hangingPunct="0">
              <a:buNone/>
            </a:pPr>
            <a:r>
              <a:rPr lang="en-US" sz="2400" dirty="0" smtClean="0">
                <a:latin typeface="Times New Roman" panose="02020603050405020304" pitchFamily="18" charset="0"/>
                <a:cs typeface="Times New Roman" panose="02020603050405020304" pitchFamily="18" charset="0"/>
              </a:rPr>
              <a:t>IOSET1=</a:t>
            </a:r>
            <a:r>
              <a:rPr lang="en-US" sz="2400" dirty="0" err="1" smtClean="0">
                <a:latin typeface="Times New Roman" panose="02020603050405020304" pitchFamily="18" charset="0"/>
                <a:cs typeface="Times New Roman" panose="02020603050405020304" pitchFamily="18" charset="0"/>
              </a:rPr>
              <a:t>cmddata</a:t>
            </a:r>
            <a:r>
              <a:rPr lang="en-US" sz="2400" dirty="0" smtClean="0">
                <a:latin typeface="Times New Roman" panose="02020603050405020304" pitchFamily="18" charset="0"/>
                <a:cs typeface="Times New Roman" panose="02020603050405020304" pitchFamily="18" charset="0"/>
              </a:rPr>
              <a:t>; </a:t>
            </a:r>
          </a:p>
          <a:p>
            <a:pPr marL="0" indent="0" hangingPunct="0">
              <a:buNone/>
            </a:pPr>
            <a:r>
              <a:rPr lang="en-US" sz="2400" dirty="0" smtClean="0">
                <a:latin typeface="Times New Roman" panose="02020603050405020304" pitchFamily="18" charset="0"/>
                <a:cs typeface="Times New Roman" panose="02020603050405020304" pitchFamily="18" charset="0"/>
              </a:rPr>
              <a:t>IOCLR0=0x10000000; </a:t>
            </a:r>
          </a:p>
          <a:p>
            <a:pPr marL="0" indent="0" hangingPunct="0">
              <a:buNone/>
            </a:pPr>
            <a:r>
              <a:rPr lang="en-US" sz="2400" dirty="0" err="1" smtClean="0">
                <a:latin typeface="Times New Roman" panose="02020603050405020304" pitchFamily="18" charset="0"/>
                <a:cs typeface="Times New Roman" panose="02020603050405020304" pitchFamily="18" charset="0"/>
              </a:rPr>
              <a:t>delay_lcd</a:t>
            </a:r>
            <a:r>
              <a:rPr lang="en-US" sz="2400" dirty="0" smtClean="0">
                <a:latin typeface="Times New Roman" panose="02020603050405020304" pitchFamily="18" charset="0"/>
                <a:cs typeface="Times New Roman" panose="02020603050405020304" pitchFamily="18" charset="0"/>
              </a:rPr>
              <a:t>(); </a:t>
            </a:r>
          </a:p>
          <a:p>
            <a:pPr marL="0" indent="0" hangingPunct="0">
              <a:buNone/>
            </a:pPr>
            <a:r>
              <a:rPr lang="en-US" sz="2400" dirty="0" smtClean="0">
                <a:latin typeface="Times New Roman" panose="02020603050405020304" pitchFamily="18" charset="0"/>
                <a:cs typeface="Times New Roman" panose="02020603050405020304" pitchFamily="18" charset="0"/>
              </a:rPr>
              <a:t>IOSET0=0x10000000; </a:t>
            </a:r>
          </a:p>
          <a:p>
            <a:pPr marL="0" indent="0" hangingPunct="0">
              <a:buNone/>
            </a:pPr>
            <a:r>
              <a:rPr lang="en-US" sz="2400" dirty="0" err="1" smtClean="0">
                <a:latin typeface="Times New Roman" panose="02020603050405020304" pitchFamily="18" charset="0"/>
                <a:cs typeface="Times New Roman" panose="02020603050405020304" pitchFamily="18" charset="0"/>
              </a:rPr>
              <a:t>delay_lcd</a:t>
            </a:r>
            <a:r>
              <a:rPr lang="en-US" sz="2400" dirty="0" smtClean="0">
                <a:latin typeface="Times New Roman" panose="02020603050405020304" pitchFamily="18" charset="0"/>
                <a:cs typeface="Times New Roman" panose="02020603050405020304" pitchFamily="18" charset="0"/>
              </a:rPr>
              <a:t>();</a:t>
            </a:r>
          </a:p>
          <a:p>
            <a:pPr marL="0" indent="0">
              <a:buNone/>
            </a:pPr>
            <a:r>
              <a:rPr lang="en-US" sz="2400" dirty="0" smtClean="0">
                <a:latin typeface="Times New Roman" panose="02020603050405020304" pitchFamily="18" charset="0"/>
                <a:cs typeface="Times New Roman" panose="02020603050405020304" pitchFamily="18" charset="0"/>
              </a:rPr>
              <a:t>}</a:t>
            </a:r>
          </a:p>
          <a:p>
            <a:pPr>
              <a:buNone/>
            </a:pPr>
            <a:endParaRPr lang="en-US" sz="2400" dirty="0" smtClean="0"/>
          </a:p>
          <a:p>
            <a:endParaRPr lang="en-US" sz="2400" dirty="0" smtClean="0"/>
          </a:p>
          <a:p>
            <a:endParaRPr lang="en-US" sz="2400" dirty="0"/>
          </a:p>
        </p:txBody>
      </p:sp>
      <p:sp>
        <p:nvSpPr>
          <p:cNvPr id="2" name="Rectangle 1"/>
          <p:cNvSpPr/>
          <p:nvPr/>
        </p:nvSpPr>
        <p:spPr>
          <a:xfrm>
            <a:off x="4507624" y="1811953"/>
            <a:ext cx="4636376" cy="4893647"/>
          </a:xfrm>
          <a:prstGeom prst="rect">
            <a:avLst/>
          </a:prstGeom>
          <a:solidFill>
            <a:schemeClr val="bg1"/>
          </a:solidFill>
        </p:spPr>
        <p:txBody>
          <a:bodyPr wrap="square">
            <a:spAutoFit/>
          </a:bodyPr>
          <a:lstStyle/>
          <a:p>
            <a:pPr>
              <a:spcBef>
                <a:spcPct val="20000"/>
              </a:spcBef>
            </a:pPr>
            <a:r>
              <a:rPr lang="en-US" sz="2400" dirty="0"/>
              <a:t> </a:t>
            </a:r>
            <a:r>
              <a:rPr lang="en-US" sz="2400" dirty="0">
                <a:latin typeface="Times New Roman" panose="02020603050405020304" pitchFamily="18" charset="0"/>
                <a:cs typeface="Times New Roman" panose="02020603050405020304" pitchFamily="18" charset="0"/>
              </a:rPr>
              <a:t>void </a:t>
            </a:r>
            <a:r>
              <a:rPr lang="en-US" sz="2400" dirty="0" err="1">
                <a:latin typeface="Times New Roman" panose="02020603050405020304" pitchFamily="18" charset="0"/>
                <a:cs typeface="Times New Roman" panose="02020603050405020304" pitchFamily="18" charset="0"/>
              </a:rPr>
              <a:t>lcddata</a:t>
            </a:r>
            <a:r>
              <a:rPr lang="en-US" sz="2400" dirty="0">
                <a:latin typeface="Times New Roman" panose="02020603050405020304" pitchFamily="18" charset="0"/>
                <a:cs typeface="Times New Roman" panose="02020603050405020304" pitchFamily="18" charset="0"/>
              </a:rPr>
              <a:t>(unsigned </a:t>
            </a:r>
            <a:r>
              <a:rPr lang="en-US" sz="2400" dirty="0" err="1">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outdata</a:t>
            </a:r>
            <a:r>
              <a:rPr lang="en-US" sz="2400" dirty="0">
                <a:latin typeface="Times New Roman" panose="02020603050405020304" pitchFamily="18" charset="0"/>
                <a:cs typeface="Times New Roman" panose="02020603050405020304" pitchFamily="18" charset="0"/>
              </a:rPr>
              <a:t>)</a:t>
            </a:r>
          </a:p>
          <a:p>
            <a:pPr>
              <a:spcBef>
                <a:spcPct val="20000"/>
              </a:spcBef>
            </a:pPr>
            <a:r>
              <a:rPr lang="en-US" sz="2400" dirty="0">
                <a:latin typeface="Times New Roman" panose="02020603050405020304" pitchFamily="18" charset="0"/>
                <a:cs typeface="Times New Roman" panose="02020603050405020304" pitchFamily="18" charset="0"/>
              </a:rPr>
              <a:t>    {</a:t>
            </a:r>
          </a:p>
          <a:p>
            <a:pPr>
              <a:spcBef>
                <a:spcPct val="20000"/>
              </a:spcBef>
            </a:pPr>
            <a:r>
              <a:rPr lang="en-US" sz="2400" dirty="0">
                <a:latin typeface="Times New Roman" panose="02020603050405020304" pitchFamily="18" charset="0"/>
                <a:cs typeface="Times New Roman" panose="02020603050405020304" pitchFamily="18" charset="0"/>
              </a:rPr>
              <a:t>      IOSET0=0x40000000;</a:t>
            </a:r>
          </a:p>
          <a:p>
            <a:pPr hangingPunct="0">
              <a:spcBef>
                <a:spcPct val="20000"/>
              </a:spcBef>
            </a:pPr>
            <a:r>
              <a:rPr lang="en-US" sz="2400" dirty="0">
                <a:latin typeface="Times New Roman" panose="02020603050405020304" pitchFamily="18" charset="0"/>
                <a:cs typeface="Times New Roman" panose="02020603050405020304" pitchFamily="18" charset="0"/>
              </a:rPr>
              <a:t>      IOCLR0=0x20000000; </a:t>
            </a:r>
          </a:p>
          <a:p>
            <a:pPr hangingPunct="0">
              <a:spcBef>
                <a:spcPct val="20000"/>
              </a:spcBef>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outdata</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outdata</a:t>
            </a:r>
            <a:r>
              <a:rPr lang="en-US" sz="2400" dirty="0">
                <a:latin typeface="Times New Roman" panose="02020603050405020304" pitchFamily="18" charset="0"/>
                <a:cs typeface="Times New Roman" panose="02020603050405020304" pitchFamily="18" charset="0"/>
              </a:rPr>
              <a:t> &lt;&lt; 16; </a:t>
            </a:r>
          </a:p>
          <a:p>
            <a:pPr hangingPunct="0">
              <a:spcBef>
                <a:spcPct val="20000"/>
              </a:spcBef>
            </a:pPr>
            <a:r>
              <a:rPr lang="en-US" sz="2400" dirty="0">
                <a:latin typeface="Times New Roman" panose="02020603050405020304" pitchFamily="18" charset="0"/>
                <a:cs typeface="Times New Roman" panose="02020603050405020304" pitchFamily="18" charset="0"/>
              </a:rPr>
              <a:t>      IOSET1=</a:t>
            </a:r>
            <a:r>
              <a:rPr lang="en-US" sz="2400" dirty="0" err="1">
                <a:latin typeface="Times New Roman" panose="02020603050405020304" pitchFamily="18" charset="0"/>
                <a:cs typeface="Times New Roman" panose="02020603050405020304" pitchFamily="18" charset="0"/>
              </a:rPr>
              <a:t>outdata</a:t>
            </a:r>
            <a:r>
              <a:rPr lang="en-US" sz="2400" dirty="0">
                <a:latin typeface="Times New Roman" panose="02020603050405020304" pitchFamily="18" charset="0"/>
                <a:cs typeface="Times New Roman" panose="02020603050405020304" pitchFamily="18" charset="0"/>
              </a:rPr>
              <a:t>;</a:t>
            </a:r>
          </a:p>
          <a:p>
            <a:pPr hangingPunct="0">
              <a:spcBef>
                <a:spcPct val="20000"/>
              </a:spcBef>
            </a:pPr>
            <a:r>
              <a:rPr lang="en-US" sz="2400" dirty="0">
                <a:latin typeface="Times New Roman" panose="02020603050405020304" pitchFamily="18" charset="0"/>
                <a:cs typeface="Times New Roman" panose="02020603050405020304" pitchFamily="18" charset="0"/>
              </a:rPr>
              <a:t>      IOSET0=0x10000000;  </a:t>
            </a:r>
          </a:p>
          <a:p>
            <a:pPr hangingPunct="0">
              <a:spcBef>
                <a:spcPct val="20000"/>
              </a:spcBef>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delay_lcd</a:t>
            </a:r>
            <a:r>
              <a:rPr lang="en-US" sz="2400" dirty="0">
                <a:latin typeface="Times New Roman" panose="02020603050405020304" pitchFamily="18" charset="0"/>
                <a:cs typeface="Times New Roman" panose="02020603050405020304" pitchFamily="18" charset="0"/>
              </a:rPr>
              <a:t>(); </a:t>
            </a:r>
          </a:p>
          <a:p>
            <a:pPr hangingPunct="0">
              <a:spcBef>
                <a:spcPct val="20000"/>
              </a:spcBef>
            </a:pPr>
            <a:r>
              <a:rPr lang="en-US" sz="2400" dirty="0">
                <a:latin typeface="Times New Roman" panose="02020603050405020304" pitchFamily="18" charset="0"/>
                <a:cs typeface="Times New Roman" panose="02020603050405020304" pitchFamily="18" charset="0"/>
              </a:rPr>
              <a:t>      IOCLR0=0x10000000; </a:t>
            </a:r>
          </a:p>
          <a:p>
            <a:pPr hangingPunct="0">
              <a:spcBef>
                <a:spcPct val="20000"/>
              </a:spcBef>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delay_lcd</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a:spcBef>
                <a:spcPct val="20000"/>
              </a:spcBef>
            </a:pPr>
            <a:r>
              <a:rPr lang="en-US" sz="2400" dirty="0">
                <a:latin typeface="Times New Roman" panose="02020603050405020304" pitchFamily="18" charset="0"/>
                <a:cs typeface="Times New Roman" panose="02020603050405020304" pitchFamily="18" charset="0"/>
              </a:rPr>
              <a:t>     }</a:t>
            </a:r>
          </a:p>
        </p:txBody>
      </p:sp>
      <p:sp>
        <p:nvSpPr>
          <p:cNvPr id="5" name="Rectangle 4"/>
          <p:cNvSpPr/>
          <p:nvPr/>
        </p:nvSpPr>
        <p:spPr>
          <a:xfrm>
            <a:off x="176048" y="937230"/>
            <a:ext cx="3938752" cy="523220"/>
          </a:xfrm>
          <a:prstGeom prst="rect">
            <a:avLst/>
          </a:prstGeom>
          <a:solidFill>
            <a:schemeClr val="bg1"/>
          </a:solidFill>
        </p:spPr>
        <p:txBody>
          <a:bodyPr wrap="square">
            <a:spAutoFit/>
          </a:bodyPr>
          <a:lstStyle/>
          <a:p>
            <a:r>
              <a:rPr lang="en-US" sz="2800" b="1"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LCD Command Routine</a:t>
            </a:r>
            <a:endParaRPr lang="en-US" sz="2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Rectangle 5"/>
          <p:cNvSpPr/>
          <p:nvPr/>
        </p:nvSpPr>
        <p:spPr>
          <a:xfrm>
            <a:off x="5029200" y="919167"/>
            <a:ext cx="3657600" cy="523220"/>
          </a:xfrm>
          <a:prstGeom prst="rect">
            <a:avLst/>
          </a:prstGeom>
          <a:solidFill>
            <a:schemeClr val="bg1"/>
          </a:solidFill>
        </p:spPr>
        <p:txBody>
          <a:bodyPr wrap="square">
            <a:spAutoFit/>
          </a:bodyPr>
          <a:lstStyle/>
          <a:p>
            <a:r>
              <a:rPr lang="en-US" sz="2800" b="1"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LCD Data Routine</a:t>
            </a:r>
            <a:endParaRPr lang="en-US" sz="2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Rectangle 7"/>
          <p:cNvSpPr/>
          <p:nvPr/>
        </p:nvSpPr>
        <p:spPr>
          <a:xfrm>
            <a:off x="176048" y="-21709"/>
            <a:ext cx="8663152" cy="646331"/>
          </a:xfrm>
          <a:prstGeom prst="rect">
            <a:avLst/>
          </a:prstGeom>
          <a:solidFill>
            <a:schemeClr val="bg1"/>
          </a:solidFill>
        </p:spPr>
        <p:txBody>
          <a:bodyPr wrap="square">
            <a:spAutoFit/>
          </a:bodyPr>
          <a:lstStyle/>
          <a:p>
            <a:r>
              <a:rPr lang="en-US" sz="3600" b="1" dirty="0">
                <a:solidFill>
                  <a:srgbClr val="FF000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Program to display message on </a:t>
            </a:r>
            <a:r>
              <a:rPr lang="en-US" sz="3600" b="1" dirty="0" smtClean="0">
                <a:solidFill>
                  <a:srgbClr val="FF000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LCD Cont..</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4572000"/>
          </a:xfrm>
        </p:spPr>
        <p:txBody>
          <a:bodyPr>
            <a:noAutofit/>
          </a:bodyPr>
          <a:lstStyle/>
          <a:p>
            <a:pPr>
              <a:buNone/>
            </a:pPr>
            <a:r>
              <a:rPr lang="en-US" sz="2400" b="1" dirty="0" err="1" smtClean="0">
                <a:solidFill>
                  <a:srgbClr val="FF0000"/>
                </a:solidFill>
                <a:latin typeface="Times New Roman"/>
                <a:ea typeface="Times New Roman"/>
                <a:cs typeface="Times New Roman"/>
              </a:rPr>
              <a:t>dely_lcd</a:t>
            </a:r>
            <a:r>
              <a:rPr lang="en-US" sz="2400" b="1" dirty="0" smtClean="0">
                <a:solidFill>
                  <a:srgbClr val="FF0000"/>
                </a:solidFill>
                <a:latin typeface="Times New Roman"/>
                <a:ea typeface="Times New Roman"/>
                <a:cs typeface="Times New Roman"/>
              </a:rPr>
              <a:t> Routine</a:t>
            </a:r>
            <a:endParaRPr lang="en-US" sz="2400" b="1" dirty="0">
              <a:solidFill>
                <a:srgbClr val="FF0000"/>
              </a:solidFill>
              <a:latin typeface="Times New Roman"/>
              <a:ea typeface="Times New Roman"/>
              <a:cs typeface="Times New Roman"/>
            </a:endParaRPr>
          </a:p>
          <a:p>
            <a:pPr>
              <a:buNone/>
            </a:pPr>
            <a:endParaRPr lang="en-US" sz="2400" dirty="0" smtClean="0">
              <a:solidFill>
                <a:schemeClr val="dk1"/>
              </a:solidFill>
              <a:latin typeface="Times New Roman"/>
              <a:ea typeface="Times New Roman"/>
              <a:cs typeface="Times New Roman"/>
            </a:endParaRPr>
          </a:p>
          <a:p>
            <a:pPr>
              <a:buNone/>
            </a:pPr>
            <a:r>
              <a:rPr lang="en-US" sz="2400" dirty="0" smtClean="0">
                <a:solidFill>
                  <a:schemeClr val="dk1"/>
                </a:solidFill>
                <a:latin typeface="Times New Roman"/>
                <a:ea typeface="Times New Roman"/>
                <a:cs typeface="Times New Roman"/>
              </a:rPr>
              <a:t>void </a:t>
            </a:r>
            <a:r>
              <a:rPr lang="en-US" sz="2400" dirty="0" err="1">
                <a:solidFill>
                  <a:schemeClr val="dk1"/>
                </a:solidFill>
                <a:latin typeface="Times New Roman"/>
                <a:ea typeface="Times New Roman"/>
                <a:cs typeface="Times New Roman"/>
              </a:rPr>
              <a:t>delay_lcd</a:t>
            </a:r>
            <a:r>
              <a:rPr lang="en-US" sz="2400" dirty="0">
                <a:solidFill>
                  <a:schemeClr val="dk1"/>
                </a:solidFill>
                <a:latin typeface="Times New Roman"/>
                <a:ea typeface="Times New Roman"/>
                <a:cs typeface="Times New Roman"/>
              </a:rPr>
              <a:t>(void)</a:t>
            </a:r>
          </a:p>
          <a:p>
            <a:pPr>
              <a:buNone/>
            </a:pPr>
            <a:r>
              <a:rPr lang="en-US" sz="2400" dirty="0">
                <a:solidFill>
                  <a:schemeClr val="dk1"/>
                </a:solidFill>
                <a:latin typeface="Times New Roman"/>
                <a:ea typeface="Times New Roman"/>
                <a:cs typeface="Times New Roman"/>
              </a:rPr>
              <a:t>	{</a:t>
            </a:r>
          </a:p>
          <a:p>
            <a:pPr>
              <a:buNone/>
            </a:pPr>
            <a:r>
              <a:rPr lang="en-US" sz="2400" dirty="0">
                <a:solidFill>
                  <a:schemeClr val="dk1"/>
                </a:solidFill>
                <a:latin typeface="Times New Roman"/>
                <a:ea typeface="Times New Roman"/>
                <a:cs typeface="Times New Roman"/>
              </a:rPr>
              <a:t>		</a:t>
            </a:r>
            <a:r>
              <a:rPr lang="en-US" sz="2400" dirty="0" err="1">
                <a:solidFill>
                  <a:schemeClr val="dk1"/>
                </a:solidFill>
                <a:latin typeface="Times New Roman"/>
                <a:ea typeface="Times New Roman"/>
                <a:cs typeface="Times New Roman"/>
              </a:rPr>
              <a:t>int</a:t>
            </a:r>
            <a:r>
              <a:rPr lang="en-US" sz="2400" dirty="0">
                <a:solidFill>
                  <a:schemeClr val="dk1"/>
                </a:solidFill>
                <a:latin typeface="Times New Roman"/>
                <a:ea typeface="Times New Roman"/>
                <a:cs typeface="Times New Roman"/>
              </a:rPr>
              <a:t> j;</a:t>
            </a:r>
          </a:p>
          <a:p>
            <a:pPr hangingPunct="0">
              <a:buNone/>
            </a:pPr>
            <a:r>
              <a:rPr lang="en-US" sz="2400" dirty="0">
                <a:solidFill>
                  <a:schemeClr val="dk1"/>
                </a:solidFill>
                <a:latin typeface="Times New Roman"/>
                <a:ea typeface="Times New Roman"/>
                <a:cs typeface="Times New Roman"/>
              </a:rPr>
              <a:t>		for (j=0;j&lt;500;j</a:t>
            </a:r>
            <a:r>
              <a:rPr lang="en-US" sz="2400" dirty="0" smtClean="0">
                <a:solidFill>
                  <a:schemeClr val="dk1"/>
                </a:solidFill>
                <a:latin typeface="Times New Roman"/>
                <a:ea typeface="Times New Roman"/>
                <a:cs typeface="Times New Roman"/>
              </a:rPr>
              <a:t>++);</a:t>
            </a:r>
            <a:endParaRPr lang="en-US" sz="2400" dirty="0">
              <a:solidFill>
                <a:schemeClr val="dk1"/>
              </a:solidFill>
              <a:latin typeface="Times New Roman"/>
              <a:ea typeface="Times New Roman"/>
              <a:cs typeface="Times New Roman"/>
            </a:endParaRPr>
          </a:p>
          <a:p>
            <a:pPr>
              <a:buNone/>
            </a:pPr>
            <a:r>
              <a:rPr lang="en-US" sz="2400" dirty="0">
                <a:solidFill>
                  <a:schemeClr val="dk1"/>
                </a:solidFill>
                <a:latin typeface="Times New Roman"/>
                <a:ea typeface="Times New Roman"/>
                <a:cs typeface="Times New Roman"/>
              </a:rPr>
              <a:t>	}</a:t>
            </a:r>
          </a:p>
          <a:p>
            <a:pPr>
              <a:buNone/>
            </a:pPr>
            <a:endParaRPr lang="en-US" sz="1200" dirty="0" smtClean="0"/>
          </a:p>
        </p:txBody>
      </p:sp>
      <p:sp>
        <p:nvSpPr>
          <p:cNvPr id="5" name="Rectangle 4"/>
          <p:cNvSpPr/>
          <p:nvPr/>
        </p:nvSpPr>
        <p:spPr>
          <a:xfrm>
            <a:off x="304800" y="0"/>
            <a:ext cx="8663152" cy="646331"/>
          </a:xfrm>
          <a:prstGeom prst="rect">
            <a:avLst/>
          </a:prstGeom>
          <a:solidFill>
            <a:schemeClr val="bg1"/>
          </a:solidFill>
        </p:spPr>
        <p:txBody>
          <a:bodyPr wrap="square">
            <a:spAutoFit/>
          </a:bodyPr>
          <a:lstStyle/>
          <a:p>
            <a:r>
              <a:rPr lang="en-US" sz="3600" b="1" dirty="0">
                <a:solidFill>
                  <a:srgbClr val="FF000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Program to display message on </a:t>
            </a:r>
            <a:r>
              <a:rPr lang="en-US" sz="3600" b="1" dirty="0" smtClean="0">
                <a:solidFill>
                  <a:srgbClr val="FF000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LCD Cont..</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87362"/>
          </a:xfrm>
          <a:solidFill>
            <a:schemeClr val="bg1"/>
          </a:solidFill>
        </p:spPr>
        <p:txBody>
          <a:bodyPr>
            <a:normAutofit fontScale="90000"/>
          </a:bodyPr>
          <a:lstStyle/>
          <a:p>
            <a:r>
              <a:rPr lang="en-US" b="1" dirty="0" smtClean="0">
                <a:latin typeface="Times New Roman" panose="02020603050405020304" pitchFamily="18" charset="0"/>
                <a:cs typeface="Times New Roman" panose="02020603050405020304" pitchFamily="18" charset="0"/>
              </a:rPr>
              <a:t>Working of Relay</a:t>
            </a:r>
            <a:endParaRPr lang="en-US" b="1" dirty="0">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990600"/>
            <a:ext cx="8235243" cy="4482306"/>
          </a:xfrm>
        </p:spPr>
      </p:pic>
    </p:spTree>
    <p:extLst>
      <p:ext uri="{BB962C8B-B14F-4D97-AF65-F5344CB8AC3E}">
        <p14:creationId xmlns:p14="http://schemas.microsoft.com/office/powerpoint/2010/main" val="255368597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63562"/>
          </a:xfrm>
          <a:solidFill>
            <a:schemeClr val="bg1"/>
          </a:solidFill>
        </p:spPr>
        <p:txBody>
          <a:bodyPr>
            <a:noAutofit/>
          </a:bodyPr>
          <a:lstStyle/>
          <a:p>
            <a:pPr marL="171450" marR="0">
              <a:lnSpc>
                <a:spcPct val="115000"/>
              </a:lnSpc>
              <a:spcBef>
                <a:spcPts val="0"/>
              </a:spcBef>
              <a:spcAft>
                <a:spcPts val="0"/>
              </a:spcAft>
              <a:tabLst>
                <a:tab pos="1226820" algn="l"/>
              </a:tabLst>
            </a:pPr>
            <a:r>
              <a:rPr lang="en-US" sz="3200" b="1" dirty="0">
                <a:latin typeface="Times New Roman"/>
                <a:ea typeface="Calibri"/>
                <a:cs typeface="Times New Roman"/>
              </a:rPr>
              <a:t>Interfacing of Relay with LPC </a:t>
            </a:r>
            <a:r>
              <a:rPr lang="en-US" sz="3200" b="1" dirty="0" smtClean="0">
                <a:latin typeface="Times New Roman"/>
                <a:ea typeface="Calibri"/>
                <a:cs typeface="Times New Roman"/>
              </a:rPr>
              <a:t>2148</a:t>
            </a:r>
            <a:endParaRPr lang="en-US" sz="3200" dirty="0"/>
          </a:p>
        </p:txBody>
      </p:sp>
      <p:grpSp>
        <p:nvGrpSpPr>
          <p:cNvPr id="5" name="Canvas 10247"/>
          <p:cNvGrpSpPr/>
          <p:nvPr/>
        </p:nvGrpSpPr>
        <p:grpSpPr>
          <a:xfrm>
            <a:off x="381000" y="1398736"/>
            <a:ext cx="8382000" cy="4925864"/>
            <a:chOff x="0" y="0"/>
            <a:chExt cx="4763386" cy="3412490"/>
          </a:xfrm>
        </p:grpSpPr>
        <p:sp>
          <p:nvSpPr>
            <p:cNvPr id="6" name="Rectangle 5"/>
            <p:cNvSpPr/>
            <p:nvPr/>
          </p:nvSpPr>
          <p:spPr>
            <a:xfrm>
              <a:off x="0" y="0"/>
              <a:ext cx="4763135" cy="3412490"/>
            </a:xfrm>
            <a:prstGeom prst="rect">
              <a:avLst/>
            </a:prstGeom>
          </p:spPr>
        </p:sp>
        <p:sp>
          <p:nvSpPr>
            <p:cNvPr id="7" name="Rounded Rectangle 6"/>
            <p:cNvSpPr/>
            <p:nvPr/>
          </p:nvSpPr>
          <p:spPr>
            <a:xfrm>
              <a:off x="147956" y="74428"/>
              <a:ext cx="1011891" cy="3274279"/>
            </a:xfrm>
            <a:prstGeom prst="roundRect">
              <a:avLst/>
            </a:prstGeom>
            <a:solidFill>
              <a:sysClr val="window" lastClr="FFFFFF"/>
            </a:solidFill>
            <a:ln w="25400" cap="flat" cmpd="sng" algn="ctr">
              <a:solidFill>
                <a:sysClr val="windowText" lastClr="000000"/>
              </a:solid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15000"/>
                </a:lnSpc>
                <a:spcBef>
                  <a:spcPts val="0"/>
                </a:spcBef>
                <a:spcAft>
                  <a:spcPts val="1000"/>
                </a:spcAft>
                <a:buClrTx/>
                <a:buSzTx/>
                <a:buFontTx/>
                <a:buNone/>
                <a:tabLst/>
                <a:defRPr/>
              </a:pPr>
              <a:r>
                <a:rPr kumimoji="0" lang="en-US" sz="2200" b="1" i="0" u="none" strike="noStrike" kern="0" cap="none" spc="0" normalizeH="0" baseline="0" noProof="0">
                  <a:ln>
                    <a:noFill/>
                  </a:ln>
                  <a:solidFill>
                    <a:sysClr val="windowText" lastClr="000000"/>
                  </a:solidFill>
                  <a:effectLst/>
                  <a:uLnTx/>
                  <a:uFillTx/>
                  <a:latin typeface="Times New Roman"/>
                  <a:ea typeface="Calibri"/>
                  <a:cs typeface="Times New Roman"/>
                </a:rPr>
                <a:t>LPC 2148</a:t>
              </a:r>
              <a:endParaRPr kumimoji="0" lang="en-US" sz="1100" b="0" i="0" u="none" strike="noStrike" kern="0" cap="none" spc="0" normalizeH="0" baseline="0" noProof="0">
                <a:ln>
                  <a:noFill/>
                </a:ln>
                <a:solidFill>
                  <a:sysClr val="windowText" lastClr="000000"/>
                </a:solidFill>
                <a:effectLst/>
                <a:uLnTx/>
                <a:uFillTx/>
                <a:latin typeface="Calibri"/>
                <a:ea typeface="Calibri"/>
                <a:cs typeface="Times New Roman"/>
              </a:endParaRPr>
            </a:p>
          </p:txBody>
        </p:sp>
        <p:sp>
          <p:nvSpPr>
            <p:cNvPr id="8" name="Text Box 10249"/>
            <p:cNvSpPr txBox="1"/>
            <p:nvPr/>
          </p:nvSpPr>
          <p:spPr>
            <a:xfrm>
              <a:off x="499732" y="767755"/>
              <a:ext cx="606055" cy="276447"/>
            </a:xfrm>
            <a:prstGeom prst="rect">
              <a:avLst/>
            </a:prstGeom>
            <a:solidFill>
              <a:sysClr val="window" lastClr="FFFFFF"/>
            </a:solidFill>
            <a:ln w="6350">
              <a:solidFill>
                <a:sysClr val="window" lastClr="FFFFFF"/>
              </a:solid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15000"/>
                </a:lnSpc>
                <a:spcBef>
                  <a:spcPts val="0"/>
                </a:spcBef>
                <a:spcAft>
                  <a:spcPts val="1000"/>
                </a:spcAft>
                <a:buClrTx/>
                <a:buSzTx/>
                <a:buFontTx/>
                <a:buNone/>
                <a:tabLst/>
                <a:defRPr/>
              </a:pPr>
              <a:r>
                <a:rPr kumimoji="0" lang="en-US" b="1" i="0" u="none" strike="noStrike" kern="0" cap="none" spc="0" normalizeH="0" baseline="0" noProof="0" dirty="0">
                  <a:ln>
                    <a:noFill/>
                  </a:ln>
                  <a:solidFill>
                    <a:sysClr val="windowText" lastClr="000000"/>
                  </a:solidFill>
                  <a:effectLst/>
                  <a:uLnTx/>
                  <a:uFillTx/>
                  <a:latin typeface="Times New Roman"/>
                  <a:ea typeface="Calibri"/>
                  <a:cs typeface="Times New Roman"/>
                </a:rPr>
                <a:t>    P 0.0</a:t>
              </a:r>
              <a:endParaRPr kumimoji="0" lang="en-US" sz="1400" b="0" i="0" u="none" strike="noStrike" kern="0" cap="none" spc="0" normalizeH="0" baseline="0" noProof="0" dirty="0">
                <a:ln>
                  <a:noFill/>
                </a:ln>
                <a:solidFill>
                  <a:sysClr val="windowText" lastClr="000000"/>
                </a:solidFill>
                <a:effectLst/>
                <a:uLnTx/>
                <a:uFillTx/>
                <a:latin typeface="Calibri"/>
                <a:ea typeface="Calibri"/>
                <a:cs typeface="Times New Roman"/>
              </a:endParaRPr>
            </a:p>
          </p:txBody>
        </p:sp>
        <p:cxnSp>
          <p:nvCxnSpPr>
            <p:cNvPr id="9" name="Straight Connector 8"/>
            <p:cNvCxnSpPr/>
            <p:nvPr/>
          </p:nvCxnSpPr>
          <p:spPr>
            <a:xfrm>
              <a:off x="1159847" y="914250"/>
              <a:ext cx="243651" cy="0"/>
            </a:xfrm>
            <a:prstGeom prst="line">
              <a:avLst/>
            </a:prstGeom>
            <a:noFill/>
            <a:ln w="25400" cap="flat" cmpd="sng" algn="ctr">
              <a:solidFill>
                <a:sysClr val="windowText" lastClr="000000"/>
              </a:solidFill>
              <a:prstDash val="solid"/>
            </a:ln>
            <a:effectLst>
              <a:outerShdw blurRad="40000" dist="20000" dir="5400000" rotWithShape="0">
                <a:srgbClr val="000000">
                  <a:alpha val="38000"/>
                </a:srgbClr>
              </a:outerShdw>
            </a:effectLst>
          </p:spPr>
        </p:cxnSp>
        <p:pic>
          <p:nvPicPr>
            <p:cNvPr id="10" name="Picture 9"/>
            <p:cNvPicPr>
              <a:picLocks noChangeAspect="1"/>
            </p:cNvPicPr>
            <p:nvPr/>
          </p:nvPicPr>
          <p:blipFill>
            <a:blip r:embed="rId2"/>
            <a:stretch>
              <a:fillRect/>
            </a:stretch>
          </p:blipFill>
          <p:spPr>
            <a:xfrm>
              <a:off x="1912511" y="551715"/>
              <a:ext cx="2850875" cy="2372023"/>
            </a:xfrm>
            <a:prstGeom prst="rect">
              <a:avLst/>
            </a:prstGeom>
          </p:spPr>
        </p:pic>
        <p:cxnSp>
          <p:nvCxnSpPr>
            <p:cNvPr id="11" name="Straight Connector 10"/>
            <p:cNvCxnSpPr/>
            <p:nvPr/>
          </p:nvCxnSpPr>
          <p:spPr>
            <a:xfrm>
              <a:off x="1424763" y="914250"/>
              <a:ext cx="0" cy="467982"/>
            </a:xfrm>
            <a:prstGeom prst="line">
              <a:avLst/>
            </a:prstGeom>
            <a:noFill/>
            <a:ln w="25400" cap="flat" cmpd="sng" algn="ctr">
              <a:solidFill>
                <a:sysClr val="windowText" lastClr="000000"/>
              </a:solidFill>
              <a:prstDash val="solid"/>
            </a:ln>
            <a:effectLst>
              <a:outerShdw blurRad="40000" dist="20000" dir="5400000" rotWithShape="0">
                <a:srgbClr val="000000">
                  <a:alpha val="38000"/>
                </a:srgbClr>
              </a:outerShdw>
            </a:effectLst>
          </p:spPr>
        </p:cxnSp>
        <p:cxnSp>
          <p:nvCxnSpPr>
            <p:cNvPr id="12" name="Straight Arrow Connector 11"/>
            <p:cNvCxnSpPr/>
            <p:nvPr/>
          </p:nvCxnSpPr>
          <p:spPr>
            <a:xfrm>
              <a:off x="1435395" y="1382227"/>
              <a:ext cx="637954" cy="0"/>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grpSp>
    </p:spTree>
    <p:extLst>
      <p:ext uri="{BB962C8B-B14F-4D97-AF65-F5344CB8AC3E}">
        <p14:creationId xmlns:p14="http://schemas.microsoft.com/office/powerpoint/2010/main" val="455440736"/>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11162"/>
          </a:xfrm>
          <a:solidFill>
            <a:schemeClr val="bg1"/>
          </a:solidFill>
        </p:spPr>
        <p:txBody>
          <a:bodyPr>
            <a:normAutofit fontScale="90000"/>
          </a:bodyPr>
          <a:lstStyle/>
          <a:p>
            <a:r>
              <a:rPr lang="en-US" b="1" dirty="0">
                <a:latin typeface="Times New Roman"/>
                <a:ea typeface="Calibri"/>
                <a:cs typeface="Times New Roman"/>
              </a:rPr>
              <a:t>Program to turn Relay ON and </a:t>
            </a:r>
            <a:r>
              <a:rPr lang="en-US" b="1" dirty="0" smtClean="0">
                <a:latin typeface="Times New Roman"/>
                <a:ea typeface="Calibri"/>
                <a:cs typeface="Times New Roman"/>
              </a:rPr>
              <a:t>Off</a:t>
            </a:r>
            <a:endParaRPr lang="en-US" dirty="0"/>
          </a:p>
        </p:txBody>
      </p:sp>
      <p:sp>
        <p:nvSpPr>
          <p:cNvPr id="3" name="Content Placeholder 2"/>
          <p:cNvSpPr>
            <a:spLocks noGrp="1"/>
          </p:cNvSpPr>
          <p:nvPr>
            <p:ph idx="1"/>
          </p:nvPr>
        </p:nvSpPr>
        <p:spPr>
          <a:xfrm>
            <a:off x="0" y="914400"/>
            <a:ext cx="5334000" cy="5791200"/>
          </a:xfrm>
          <a:solidFill>
            <a:schemeClr val="bg1"/>
          </a:solidFill>
        </p:spPr>
        <p:txBody>
          <a:bodyPr>
            <a:noAutofit/>
          </a:bodyPr>
          <a:lstStyle/>
          <a:p>
            <a:pPr marL="0" marR="0" indent="0" algn="just">
              <a:lnSpc>
                <a:spcPct val="115000"/>
              </a:lnSpc>
              <a:spcBef>
                <a:spcPts val="0"/>
              </a:spcBef>
              <a:spcAft>
                <a:spcPts val="0"/>
              </a:spcAft>
              <a:buNone/>
              <a:tabLst>
                <a:tab pos="1226820" algn="l"/>
              </a:tabLst>
            </a:pPr>
            <a:r>
              <a:rPr lang="en-US" sz="2800" dirty="0" smtClean="0">
                <a:latin typeface="Times New Roman"/>
                <a:ea typeface="Calibri"/>
                <a:cs typeface="Times New Roman"/>
              </a:rPr>
              <a:t>#</a:t>
            </a:r>
            <a:r>
              <a:rPr lang="en-US" sz="2800" dirty="0">
                <a:latin typeface="Times New Roman"/>
                <a:ea typeface="Calibri"/>
                <a:cs typeface="Times New Roman"/>
              </a:rPr>
              <a:t>include&lt;lpc214x.h&gt;</a:t>
            </a:r>
            <a:endParaRPr lang="en-US" b="1" dirty="0">
              <a:ea typeface="Calibri"/>
              <a:cs typeface="Times New Roman"/>
            </a:endParaRPr>
          </a:p>
          <a:p>
            <a:pPr marL="0" marR="0" indent="0" algn="just">
              <a:lnSpc>
                <a:spcPct val="115000"/>
              </a:lnSpc>
              <a:spcBef>
                <a:spcPts val="0"/>
              </a:spcBef>
              <a:spcAft>
                <a:spcPts val="0"/>
              </a:spcAft>
              <a:buNone/>
              <a:tabLst>
                <a:tab pos="1226820" algn="l"/>
              </a:tabLst>
            </a:pPr>
            <a:r>
              <a:rPr lang="en-US" sz="2800" dirty="0" err="1">
                <a:latin typeface="Times New Roman"/>
                <a:ea typeface="Calibri"/>
                <a:cs typeface="Times New Roman"/>
              </a:rPr>
              <a:t>int</a:t>
            </a:r>
            <a:r>
              <a:rPr lang="en-US" sz="2800" dirty="0">
                <a:latin typeface="Times New Roman"/>
                <a:ea typeface="Calibri"/>
                <a:cs typeface="Times New Roman"/>
              </a:rPr>
              <a:t> main()</a:t>
            </a:r>
            <a:endParaRPr lang="en-US" b="1" dirty="0">
              <a:ea typeface="Calibri"/>
              <a:cs typeface="Times New Roman"/>
            </a:endParaRPr>
          </a:p>
          <a:p>
            <a:pPr marL="0" marR="0" indent="0" algn="just">
              <a:lnSpc>
                <a:spcPct val="115000"/>
              </a:lnSpc>
              <a:spcBef>
                <a:spcPts val="0"/>
              </a:spcBef>
              <a:spcAft>
                <a:spcPts val="0"/>
              </a:spcAft>
              <a:buNone/>
              <a:tabLst>
                <a:tab pos="1226820" algn="l"/>
              </a:tabLst>
            </a:pPr>
            <a:r>
              <a:rPr lang="en-US" sz="2800" dirty="0">
                <a:latin typeface="Times New Roman"/>
                <a:ea typeface="Calibri"/>
                <a:cs typeface="Times New Roman"/>
              </a:rPr>
              <a:t>{</a:t>
            </a:r>
            <a:endParaRPr lang="en-US" b="1" dirty="0">
              <a:ea typeface="Calibri"/>
              <a:cs typeface="Times New Roman"/>
            </a:endParaRPr>
          </a:p>
          <a:p>
            <a:pPr marL="0" marR="0" indent="0" algn="just">
              <a:lnSpc>
                <a:spcPct val="115000"/>
              </a:lnSpc>
              <a:spcBef>
                <a:spcPts val="0"/>
              </a:spcBef>
              <a:spcAft>
                <a:spcPts val="0"/>
              </a:spcAft>
              <a:buNone/>
              <a:tabLst>
                <a:tab pos="1226820" algn="l"/>
              </a:tabLst>
            </a:pPr>
            <a:r>
              <a:rPr lang="en-US" sz="2800" dirty="0">
                <a:latin typeface="Times New Roman"/>
                <a:ea typeface="Calibri"/>
                <a:cs typeface="Times New Roman"/>
              </a:rPr>
              <a:t>    IO0DIR0=0xff;</a:t>
            </a:r>
            <a:endParaRPr lang="en-US" b="1" dirty="0">
              <a:ea typeface="Calibri"/>
              <a:cs typeface="Times New Roman"/>
            </a:endParaRPr>
          </a:p>
          <a:p>
            <a:pPr marL="0" marR="0" indent="0" algn="just">
              <a:lnSpc>
                <a:spcPct val="115000"/>
              </a:lnSpc>
              <a:spcBef>
                <a:spcPts val="0"/>
              </a:spcBef>
              <a:spcAft>
                <a:spcPts val="0"/>
              </a:spcAft>
              <a:buNone/>
              <a:tabLst>
                <a:tab pos="1226820" algn="l"/>
              </a:tabLst>
            </a:pPr>
            <a:r>
              <a:rPr lang="en-US" sz="2800" dirty="0">
                <a:latin typeface="Times New Roman"/>
                <a:ea typeface="Calibri"/>
                <a:cs typeface="Times New Roman"/>
              </a:rPr>
              <a:t>    while(1) </a:t>
            </a:r>
            <a:endParaRPr lang="en-US" b="1" dirty="0">
              <a:ea typeface="Calibri"/>
              <a:cs typeface="Times New Roman"/>
            </a:endParaRPr>
          </a:p>
          <a:p>
            <a:pPr marL="0" marR="0" indent="0" algn="just">
              <a:lnSpc>
                <a:spcPct val="115000"/>
              </a:lnSpc>
              <a:spcBef>
                <a:spcPts val="0"/>
              </a:spcBef>
              <a:spcAft>
                <a:spcPts val="0"/>
              </a:spcAft>
              <a:buNone/>
              <a:tabLst>
                <a:tab pos="1226820" algn="l"/>
              </a:tabLst>
            </a:pPr>
            <a:r>
              <a:rPr lang="en-US" sz="2800" dirty="0">
                <a:latin typeface="Times New Roman"/>
                <a:ea typeface="Calibri"/>
                <a:cs typeface="Times New Roman"/>
              </a:rPr>
              <a:t>{</a:t>
            </a:r>
            <a:endParaRPr lang="en-US" b="1" dirty="0">
              <a:ea typeface="Calibri"/>
              <a:cs typeface="Times New Roman"/>
            </a:endParaRPr>
          </a:p>
          <a:p>
            <a:pPr marL="0" marR="0" indent="0" algn="just">
              <a:lnSpc>
                <a:spcPct val="115000"/>
              </a:lnSpc>
              <a:spcBef>
                <a:spcPts val="0"/>
              </a:spcBef>
              <a:spcAft>
                <a:spcPts val="0"/>
              </a:spcAft>
              <a:buNone/>
              <a:tabLst>
                <a:tab pos="1226820" algn="l"/>
              </a:tabLst>
            </a:pPr>
            <a:r>
              <a:rPr lang="en-US" sz="2800" dirty="0">
                <a:latin typeface="Times New Roman"/>
                <a:ea typeface="Calibri"/>
                <a:cs typeface="Times New Roman"/>
              </a:rPr>
              <a:t>        </a:t>
            </a:r>
            <a:r>
              <a:rPr lang="en-US" sz="2800" dirty="0" smtClean="0">
                <a:latin typeface="Times New Roman"/>
                <a:ea typeface="Calibri"/>
                <a:cs typeface="Times New Roman"/>
              </a:rPr>
              <a:t>IO0SET= </a:t>
            </a:r>
            <a:r>
              <a:rPr lang="en-US" sz="2800" dirty="0">
                <a:latin typeface="Times New Roman"/>
                <a:ea typeface="Calibri"/>
                <a:cs typeface="Times New Roman"/>
              </a:rPr>
              <a:t>0x01; </a:t>
            </a:r>
            <a:r>
              <a:rPr lang="en-US" sz="2800" dirty="0" smtClean="0">
                <a:latin typeface="Times New Roman"/>
                <a:ea typeface="Calibri"/>
                <a:cs typeface="Times New Roman"/>
              </a:rPr>
              <a:t>//</a:t>
            </a:r>
            <a:r>
              <a:rPr lang="en-US" sz="2800" dirty="0">
                <a:latin typeface="Times New Roman"/>
                <a:ea typeface="Calibri"/>
                <a:cs typeface="Times New Roman"/>
              </a:rPr>
              <a:t>Relay ON</a:t>
            </a:r>
            <a:endParaRPr lang="en-US" b="1" dirty="0">
              <a:ea typeface="Calibri"/>
              <a:cs typeface="Times New Roman"/>
            </a:endParaRPr>
          </a:p>
          <a:p>
            <a:pPr marL="0" marR="0" indent="0" algn="just">
              <a:lnSpc>
                <a:spcPct val="115000"/>
              </a:lnSpc>
              <a:spcBef>
                <a:spcPts val="0"/>
              </a:spcBef>
              <a:spcAft>
                <a:spcPts val="0"/>
              </a:spcAft>
              <a:buNone/>
              <a:tabLst>
                <a:tab pos="1226820" algn="l"/>
              </a:tabLst>
            </a:pPr>
            <a:r>
              <a:rPr lang="en-US" sz="2800" dirty="0">
                <a:latin typeface="Times New Roman"/>
                <a:ea typeface="Calibri"/>
                <a:cs typeface="Times New Roman"/>
              </a:rPr>
              <a:t>        delay();</a:t>
            </a:r>
            <a:endParaRPr lang="en-US" b="1" dirty="0">
              <a:ea typeface="Calibri"/>
              <a:cs typeface="Times New Roman"/>
            </a:endParaRPr>
          </a:p>
          <a:p>
            <a:pPr marL="0" marR="0" indent="0" algn="just">
              <a:lnSpc>
                <a:spcPct val="115000"/>
              </a:lnSpc>
              <a:spcBef>
                <a:spcPts val="0"/>
              </a:spcBef>
              <a:spcAft>
                <a:spcPts val="0"/>
              </a:spcAft>
              <a:buNone/>
              <a:tabLst>
                <a:tab pos="1226820" algn="l"/>
              </a:tabLst>
            </a:pPr>
            <a:r>
              <a:rPr lang="en-US" sz="2800" dirty="0">
                <a:latin typeface="Times New Roman"/>
                <a:ea typeface="Calibri"/>
                <a:cs typeface="Times New Roman"/>
              </a:rPr>
              <a:t>        IO0CLR= 0x00</a:t>
            </a:r>
            <a:r>
              <a:rPr lang="en-US" sz="2800" dirty="0" smtClean="0">
                <a:latin typeface="Times New Roman"/>
                <a:ea typeface="Calibri"/>
                <a:cs typeface="Times New Roman"/>
              </a:rPr>
              <a:t>; //</a:t>
            </a:r>
            <a:r>
              <a:rPr lang="en-US" sz="2800" dirty="0">
                <a:latin typeface="Times New Roman"/>
                <a:ea typeface="Calibri"/>
                <a:cs typeface="Times New Roman"/>
              </a:rPr>
              <a:t>Relay OFF</a:t>
            </a:r>
            <a:endParaRPr lang="en-US" b="1" dirty="0">
              <a:ea typeface="Calibri"/>
              <a:cs typeface="Times New Roman"/>
            </a:endParaRPr>
          </a:p>
          <a:p>
            <a:pPr marL="0" marR="0" indent="0" algn="just">
              <a:lnSpc>
                <a:spcPct val="115000"/>
              </a:lnSpc>
              <a:spcBef>
                <a:spcPts val="0"/>
              </a:spcBef>
              <a:spcAft>
                <a:spcPts val="0"/>
              </a:spcAft>
              <a:buNone/>
              <a:tabLst>
                <a:tab pos="1226820" algn="l"/>
              </a:tabLst>
            </a:pPr>
            <a:r>
              <a:rPr lang="en-US" sz="2800" dirty="0">
                <a:latin typeface="Times New Roman"/>
                <a:ea typeface="Calibri"/>
                <a:cs typeface="Times New Roman"/>
              </a:rPr>
              <a:t>        delay();</a:t>
            </a:r>
            <a:endParaRPr lang="en-US" b="1" dirty="0">
              <a:ea typeface="Calibri"/>
              <a:cs typeface="Times New Roman"/>
            </a:endParaRPr>
          </a:p>
          <a:p>
            <a:pPr marL="0" marR="0" indent="0" algn="just">
              <a:lnSpc>
                <a:spcPct val="115000"/>
              </a:lnSpc>
              <a:spcBef>
                <a:spcPts val="0"/>
              </a:spcBef>
              <a:spcAft>
                <a:spcPts val="0"/>
              </a:spcAft>
              <a:buNone/>
              <a:tabLst>
                <a:tab pos="1226820" algn="l"/>
              </a:tabLst>
            </a:pPr>
            <a:r>
              <a:rPr lang="en-US" sz="2800" dirty="0">
                <a:latin typeface="Times New Roman"/>
                <a:ea typeface="Calibri"/>
                <a:cs typeface="Times New Roman"/>
              </a:rPr>
              <a:t>    }</a:t>
            </a:r>
            <a:endParaRPr lang="en-US" b="1" dirty="0">
              <a:ea typeface="Calibri"/>
              <a:cs typeface="Times New Roman"/>
            </a:endParaRPr>
          </a:p>
          <a:p>
            <a:pPr marL="0" marR="0" indent="0" algn="just">
              <a:lnSpc>
                <a:spcPct val="115000"/>
              </a:lnSpc>
              <a:spcBef>
                <a:spcPts val="0"/>
              </a:spcBef>
              <a:spcAft>
                <a:spcPts val="0"/>
              </a:spcAft>
              <a:buNone/>
              <a:tabLst>
                <a:tab pos="1226820" algn="l"/>
              </a:tabLst>
            </a:pPr>
            <a:r>
              <a:rPr lang="en-US" sz="2800" b="1" dirty="0">
                <a:latin typeface="Times New Roman"/>
                <a:ea typeface="Calibri"/>
                <a:cs typeface="Times New Roman"/>
              </a:rPr>
              <a:t>}</a:t>
            </a:r>
            <a:endParaRPr lang="en-US" b="1" dirty="0">
              <a:ea typeface="Calibri"/>
              <a:cs typeface="Times New Roman"/>
            </a:endParaRPr>
          </a:p>
          <a:p>
            <a:pPr marL="0" indent="0">
              <a:buNone/>
            </a:pPr>
            <a:endParaRPr lang="en-US" sz="2800" dirty="0">
              <a:latin typeface="Times New Roman" pitchFamily="18" charset="0"/>
              <a:cs typeface="Times New Roman" pitchFamily="18" charset="0"/>
            </a:endParaRPr>
          </a:p>
        </p:txBody>
      </p:sp>
      <p:sp>
        <p:nvSpPr>
          <p:cNvPr id="5" name="Rectangle 4"/>
          <p:cNvSpPr/>
          <p:nvPr/>
        </p:nvSpPr>
        <p:spPr>
          <a:xfrm>
            <a:off x="5334000" y="1148376"/>
            <a:ext cx="3810000" cy="3416320"/>
          </a:xfrm>
          <a:prstGeom prst="rect">
            <a:avLst/>
          </a:prstGeom>
          <a:solidFill>
            <a:schemeClr val="bg1"/>
          </a:solidFill>
        </p:spPr>
        <p:txBody>
          <a:bodyPr wrap="square">
            <a:spAutoFit/>
          </a:bodyPr>
          <a:lstStyle/>
          <a:p>
            <a:pPr marL="171450" marR="0" algn="just">
              <a:lnSpc>
                <a:spcPct val="115000"/>
              </a:lnSpc>
              <a:spcBef>
                <a:spcPts val="0"/>
              </a:spcBef>
              <a:spcAft>
                <a:spcPts val="0"/>
              </a:spcAft>
              <a:tabLst>
                <a:tab pos="1226820" algn="l"/>
              </a:tabLst>
            </a:pPr>
            <a:r>
              <a:rPr lang="en-US" sz="3200" dirty="0">
                <a:latin typeface="Times New Roman"/>
                <a:ea typeface="Calibri"/>
                <a:cs typeface="Times New Roman"/>
              </a:rPr>
              <a:t>Void delay()</a:t>
            </a:r>
            <a:endParaRPr lang="en-US" sz="3600" b="1" dirty="0">
              <a:ea typeface="Calibri"/>
              <a:cs typeface="Times New Roman"/>
            </a:endParaRPr>
          </a:p>
          <a:p>
            <a:pPr marL="76200" marR="0">
              <a:spcBef>
                <a:spcPts val="0"/>
              </a:spcBef>
              <a:spcAft>
                <a:spcPts val="0"/>
              </a:spcAft>
            </a:pPr>
            <a:r>
              <a:rPr lang="en-US" sz="3200" dirty="0">
                <a:latin typeface="Times New Roman"/>
                <a:ea typeface="Calibri"/>
                <a:cs typeface="Times New Roman"/>
              </a:rPr>
              <a:t>   unsigned </a:t>
            </a:r>
            <a:r>
              <a:rPr lang="en-US" sz="3200" dirty="0" err="1">
                <a:latin typeface="Times New Roman"/>
                <a:ea typeface="Calibri"/>
                <a:cs typeface="Times New Roman"/>
              </a:rPr>
              <a:t>int</a:t>
            </a:r>
            <a:r>
              <a:rPr lang="en-US" sz="3200" dirty="0">
                <a:latin typeface="Times New Roman"/>
                <a:ea typeface="Calibri"/>
                <a:cs typeface="Times New Roman"/>
              </a:rPr>
              <a:t> </a:t>
            </a:r>
            <a:r>
              <a:rPr lang="en-US" sz="3200" dirty="0" err="1">
                <a:latin typeface="Times New Roman"/>
                <a:ea typeface="Calibri"/>
                <a:cs typeface="Times New Roman"/>
              </a:rPr>
              <a:t>i,j</a:t>
            </a:r>
            <a:r>
              <a:rPr lang="en-US" sz="3200" dirty="0">
                <a:latin typeface="Times New Roman"/>
                <a:ea typeface="Calibri"/>
                <a:cs typeface="Times New Roman"/>
              </a:rPr>
              <a:t>;</a:t>
            </a:r>
            <a:endParaRPr lang="en-US" sz="3600" b="1" dirty="0">
              <a:ea typeface="Calibri"/>
              <a:cs typeface="Times New Roman"/>
            </a:endParaRPr>
          </a:p>
          <a:p>
            <a:pPr marL="171450" marR="0" algn="just">
              <a:lnSpc>
                <a:spcPct val="115000"/>
              </a:lnSpc>
              <a:spcBef>
                <a:spcPts val="0"/>
              </a:spcBef>
              <a:spcAft>
                <a:spcPts val="0"/>
              </a:spcAft>
              <a:tabLst>
                <a:tab pos="1226820" algn="l"/>
              </a:tabLst>
            </a:pPr>
            <a:r>
              <a:rPr lang="en-US" sz="3200" dirty="0">
                <a:latin typeface="Times New Roman"/>
                <a:ea typeface="Calibri"/>
                <a:cs typeface="Times New Roman"/>
              </a:rPr>
              <a:t>{</a:t>
            </a:r>
            <a:endParaRPr lang="en-US" sz="3600" b="1" dirty="0">
              <a:ea typeface="Calibri"/>
              <a:cs typeface="Times New Roman"/>
            </a:endParaRPr>
          </a:p>
          <a:p>
            <a:pPr marL="171450" marR="0" algn="just">
              <a:lnSpc>
                <a:spcPct val="115000"/>
              </a:lnSpc>
              <a:spcBef>
                <a:spcPts val="0"/>
              </a:spcBef>
              <a:spcAft>
                <a:spcPts val="0"/>
              </a:spcAft>
              <a:tabLst>
                <a:tab pos="1226820" algn="l"/>
              </a:tabLst>
            </a:pPr>
            <a:r>
              <a:rPr lang="en-US" sz="3200" dirty="0">
                <a:latin typeface="Times New Roman"/>
                <a:ea typeface="Calibri"/>
                <a:cs typeface="Times New Roman"/>
              </a:rPr>
              <a:t>for(i=0;i&lt;60000;i++)</a:t>
            </a:r>
            <a:endParaRPr lang="en-US" sz="3600" b="1" dirty="0">
              <a:ea typeface="Calibri"/>
              <a:cs typeface="Times New Roman"/>
            </a:endParaRPr>
          </a:p>
          <a:p>
            <a:pPr marL="171450" marR="0" algn="just">
              <a:lnSpc>
                <a:spcPct val="115000"/>
              </a:lnSpc>
              <a:spcBef>
                <a:spcPts val="0"/>
              </a:spcBef>
              <a:spcAft>
                <a:spcPts val="0"/>
              </a:spcAft>
              <a:tabLst>
                <a:tab pos="1226820" algn="l"/>
              </a:tabLst>
            </a:pPr>
            <a:r>
              <a:rPr lang="en-US" sz="3200" dirty="0">
                <a:latin typeface="Times New Roman"/>
                <a:ea typeface="Calibri"/>
                <a:cs typeface="Times New Roman"/>
              </a:rPr>
              <a:t>for(j=0;j&lt;80000;j++)</a:t>
            </a:r>
            <a:endParaRPr lang="en-US" sz="3600" b="1" dirty="0">
              <a:ea typeface="Calibri"/>
              <a:cs typeface="Times New Roman"/>
            </a:endParaRPr>
          </a:p>
          <a:p>
            <a:pPr marL="171450" marR="0" algn="just">
              <a:lnSpc>
                <a:spcPct val="115000"/>
              </a:lnSpc>
              <a:spcBef>
                <a:spcPts val="0"/>
              </a:spcBef>
              <a:spcAft>
                <a:spcPts val="0"/>
              </a:spcAft>
              <a:tabLst>
                <a:tab pos="1226820" algn="l"/>
              </a:tabLst>
            </a:pPr>
            <a:r>
              <a:rPr lang="en-US" sz="3200" dirty="0">
                <a:latin typeface="Times New Roman"/>
                <a:ea typeface="Calibri"/>
                <a:cs typeface="Times New Roman"/>
              </a:rPr>
              <a:t> </a:t>
            </a:r>
            <a:r>
              <a:rPr lang="en-US" sz="3200" dirty="0" smtClean="0">
                <a:latin typeface="Times New Roman"/>
                <a:ea typeface="Calibri"/>
                <a:cs typeface="Times New Roman"/>
              </a:rPr>
              <a:t>}</a:t>
            </a:r>
            <a:endParaRPr lang="en-US" sz="3600" b="1" dirty="0">
              <a:ea typeface="Calibri"/>
              <a:cs typeface="Times New Roman"/>
            </a:endParaRPr>
          </a:p>
        </p:txBody>
      </p:sp>
    </p:spTree>
    <p:extLst>
      <p:ext uri="{BB962C8B-B14F-4D97-AF65-F5344CB8AC3E}">
        <p14:creationId xmlns:p14="http://schemas.microsoft.com/office/powerpoint/2010/main" val="4176404509"/>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915400" cy="685800"/>
          </a:xfrm>
          <a:solidFill>
            <a:schemeClr val="bg1"/>
          </a:solidFill>
        </p:spPr>
        <p:txBody>
          <a:bodyPr>
            <a:noAutofit/>
          </a:bodyPr>
          <a:lstStyle/>
          <a:p>
            <a:pPr marL="76200" marR="0">
              <a:spcBef>
                <a:spcPts val="0"/>
              </a:spcBef>
              <a:spcAft>
                <a:spcPts val="0"/>
              </a:spcAft>
            </a:pPr>
            <a:r>
              <a:rPr lang="en-US" sz="3200" b="1" dirty="0">
                <a:latin typeface="Times New Roman"/>
                <a:ea typeface="Calibri"/>
                <a:cs typeface="Times New Roman"/>
              </a:rPr>
              <a:t>Interfacing of Buzzer using Relay with LPC </a:t>
            </a:r>
            <a:r>
              <a:rPr lang="en-US" sz="3200" b="1" dirty="0" smtClean="0">
                <a:latin typeface="Times New Roman"/>
                <a:ea typeface="Calibri"/>
                <a:cs typeface="Times New Roman"/>
              </a:rPr>
              <a:t>2148</a:t>
            </a:r>
            <a:endParaRPr lang="en-US" sz="3200" dirty="0"/>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533400" y="1066800"/>
            <a:ext cx="8001000" cy="5257800"/>
          </a:xfrm>
          <a:prstGeom prst="rect">
            <a:avLst/>
          </a:prstGeom>
          <a:noFill/>
          <a:ln>
            <a:noFill/>
          </a:ln>
        </p:spPr>
      </p:pic>
    </p:spTree>
    <p:extLst>
      <p:ext uri="{BB962C8B-B14F-4D97-AF65-F5344CB8AC3E}">
        <p14:creationId xmlns:p14="http://schemas.microsoft.com/office/powerpoint/2010/main" val="302305428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a:latin typeface="Times New Roman"/>
                <a:ea typeface="Calibri"/>
                <a:cs typeface="Times New Roman"/>
              </a:rPr>
              <a:t>Program to turn </a:t>
            </a:r>
            <a:r>
              <a:rPr lang="en-US" b="1" dirty="0" smtClean="0">
                <a:latin typeface="Times New Roman"/>
                <a:ea typeface="Calibri"/>
                <a:cs typeface="Times New Roman"/>
              </a:rPr>
              <a:t>Buzzer ON </a:t>
            </a:r>
            <a:r>
              <a:rPr lang="en-US" b="1" dirty="0">
                <a:latin typeface="Times New Roman"/>
                <a:ea typeface="Calibri"/>
                <a:cs typeface="Times New Roman"/>
              </a:rPr>
              <a:t>and </a:t>
            </a:r>
            <a:r>
              <a:rPr lang="en-US" b="1" dirty="0" smtClean="0">
                <a:latin typeface="Times New Roman"/>
                <a:ea typeface="Calibri"/>
                <a:cs typeface="Times New Roman"/>
              </a:rPr>
              <a:t>Off</a:t>
            </a:r>
            <a:endParaRPr lang="en-US" dirty="0"/>
          </a:p>
        </p:txBody>
      </p:sp>
      <p:sp>
        <p:nvSpPr>
          <p:cNvPr id="3" name="Content Placeholder 2"/>
          <p:cNvSpPr>
            <a:spLocks noGrp="1"/>
          </p:cNvSpPr>
          <p:nvPr>
            <p:ph idx="1"/>
          </p:nvPr>
        </p:nvSpPr>
        <p:spPr>
          <a:xfrm>
            <a:off x="762000" y="990601"/>
            <a:ext cx="6477000" cy="3505199"/>
          </a:xfrm>
        </p:spPr>
        <p:txBody>
          <a:bodyPr>
            <a:normAutofit fontScale="70000" lnSpcReduction="20000"/>
          </a:bodyPr>
          <a:lstStyle/>
          <a:p>
            <a:pPr marL="0" marR="0" indent="0">
              <a:spcBef>
                <a:spcPts val="0"/>
              </a:spcBef>
              <a:spcAft>
                <a:spcPts val="0"/>
              </a:spcAft>
              <a:buNone/>
            </a:pPr>
            <a:r>
              <a:rPr lang="en-US" dirty="0" smtClean="0">
                <a:latin typeface="Times New Roman"/>
                <a:ea typeface="Calibri"/>
                <a:cs typeface="Times New Roman"/>
              </a:rPr>
              <a:t>#</a:t>
            </a:r>
            <a:r>
              <a:rPr lang="en-US" dirty="0">
                <a:latin typeface="Times New Roman"/>
                <a:ea typeface="Calibri"/>
                <a:cs typeface="Times New Roman"/>
              </a:rPr>
              <a:t>include&lt;lpc214x.h&gt;</a:t>
            </a:r>
            <a:endParaRPr lang="en-US" sz="3600" b="1" dirty="0">
              <a:ea typeface="Calibri"/>
              <a:cs typeface="Times New Roman"/>
            </a:endParaRPr>
          </a:p>
          <a:p>
            <a:pPr marL="0" marR="0" indent="0">
              <a:spcBef>
                <a:spcPts val="0"/>
              </a:spcBef>
              <a:spcAft>
                <a:spcPts val="0"/>
              </a:spcAft>
              <a:buNone/>
            </a:pPr>
            <a:r>
              <a:rPr lang="en-US" dirty="0" err="1">
                <a:latin typeface="Times New Roman"/>
                <a:ea typeface="Calibri"/>
                <a:cs typeface="Times New Roman"/>
              </a:rPr>
              <a:t>int</a:t>
            </a:r>
            <a:r>
              <a:rPr lang="en-US" dirty="0">
                <a:latin typeface="Times New Roman"/>
                <a:ea typeface="Calibri"/>
                <a:cs typeface="Times New Roman"/>
              </a:rPr>
              <a:t> main()</a:t>
            </a:r>
            <a:endParaRPr lang="en-US" sz="3600" b="1" dirty="0">
              <a:ea typeface="Calibri"/>
              <a:cs typeface="Times New Roman"/>
            </a:endParaRPr>
          </a:p>
          <a:p>
            <a:pPr marL="0" marR="0" indent="0">
              <a:spcBef>
                <a:spcPts val="0"/>
              </a:spcBef>
              <a:spcAft>
                <a:spcPts val="0"/>
              </a:spcAft>
              <a:buNone/>
            </a:pPr>
            <a:r>
              <a:rPr lang="en-US" dirty="0">
                <a:latin typeface="Times New Roman"/>
                <a:ea typeface="Calibri"/>
                <a:cs typeface="Times New Roman"/>
              </a:rPr>
              <a:t>{</a:t>
            </a:r>
            <a:endParaRPr lang="en-US" sz="3600" b="1" dirty="0">
              <a:ea typeface="Calibri"/>
              <a:cs typeface="Times New Roman"/>
            </a:endParaRPr>
          </a:p>
          <a:p>
            <a:pPr marL="0" marR="0" indent="0">
              <a:spcBef>
                <a:spcPts val="0"/>
              </a:spcBef>
              <a:spcAft>
                <a:spcPts val="0"/>
              </a:spcAft>
              <a:buNone/>
            </a:pPr>
            <a:r>
              <a:rPr lang="en-US" dirty="0">
                <a:latin typeface="Times New Roman"/>
                <a:ea typeface="Calibri"/>
                <a:cs typeface="Times New Roman"/>
              </a:rPr>
              <a:t>    IO0DIR0=0xff;</a:t>
            </a:r>
            <a:endParaRPr lang="en-US" sz="3600" b="1" dirty="0">
              <a:ea typeface="Calibri"/>
              <a:cs typeface="Times New Roman"/>
            </a:endParaRPr>
          </a:p>
          <a:p>
            <a:pPr marL="0" marR="0" indent="0">
              <a:spcBef>
                <a:spcPts val="0"/>
              </a:spcBef>
              <a:spcAft>
                <a:spcPts val="0"/>
              </a:spcAft>
              <a:buNone/>
            </a:pPr>
            <a:r>
              <a:rPr lang="en-US" dirty="0">
                <a:latin typeface="Times New Roman"/>
                <a:ea typeface="Calibri"/>
                <a:cs typeface="Times New Roman"/>
              </a:rPr>
              <a:t>    while(1) </a:t>
            </a:r>
            <a:endParaRPr lang="en-US" sz="3600" b="1" dirty="0">
              <a:ea typeface="Calibri"/>
              <a:cs typeface="Times New Roman"/>
            </a:endParaRPr>
          </a:p>
          <a:p>
            <a:pPr marL="0" marR="0" indent="0">
              <a:spcBef>
                <a:spcPts val="0"/>
              </a:spcBef>
              <a:spcAft>
                <a:spcPts val="0"/>
              </a:spcAft>
              <a:buNone/>
            </a:pPr>
            <a:r>
              <a:rPr lang="en-US" dirty="0">
                <a:latin typeface="Times New Roman"/>
                <a:ea typeface="Calibri"/>
                <a:cs typeface="Times New Roman"/>
              </a:rPr>
              <a:t>{</a:t>
            </a:r>
            <a:endParaRPr lang="en-US" sz="3600" b="1" dirty="0">
              <a:ea typeface="Calibri"/>
              <a:cs typeface="Times New Roman"/>
            </a:endParaRPr>
          </a:p>
          <a:p>
            <a:pPr marL="0" marR="0" indent="0">
              <a:spcBef>
                <a:spcPts val="0"/>
              </a:spcBef>
              <a:spcAft>
                <a:spcPts val="0"/>
              </a:spcAft>
              <a:buNone/>
            </a:pPr>
            <a:r>
              <a:rPr lang="en-US" dirty="0">
                <a:latin typeface="Times New Roman"/>
                <a:ea typeface="Calibri"/>
                <a:cs typeface="Times New Roman"/>
              </a:rPr>
              <a:t>        IO0SET0= 0x01;       //Relay ON, Buzzer On</a:t>
            </a:r>
            <a:endParaRPr lang="en-US" sz="3600" b="1" dirty="0">
              <a:ea typeface="Calibri"/>
              <a:cs typeface="Times New Roman"/>
            </a:endParaRPr>
          </a:p>
          <a:p>
            <a:pPr marL="0" marR="0" indent="0">
              <a:spcBef>
                <a:spcPts val="0"/>
              </a:spcBef>
              <a:spcAft>
                <a:spcPts val="0"/>
              </a:spcAft>
              <a:buNone/>
            </a:pPr>
            <a:r>
              <a:rPr lang="en-US" dirty="0">
                <a:latin typeface="Times New Roman"/>
                <a:ea typeface="Calibri"/>
                <a:cs typeface="Times New Roman"/>
              </a:rPr>
              <a:t>        delay();</a:t>
            </a:r>
            <a:endParaRPr lang="en-US" sz="3600" b="1" dirty="0">
              <a:ea typeface="Calibri"/>
              <a:cs typeface="Times New Roman"/>
            </a:endParaRPr>
          </a:p>
          <a:p>
            <a:pPr marL="0" marR="0" indent="0">
              <a:spcBef>
                <a:spcPts val="0"/>
              </a:spcBef>
              <a:spcAft>
                <a:spcPts val="0"/>
              </a:spcAft>
              <a:buNone/>
            </a:pPr>
            <a:r>
              <a:rPr lang="en-US" dirty="0">
                <a:latin typeface="Times New Roman"/>
                <a:ea typeface="Calibri"/>
                <a:cs typeface="Times New Roman"/>
              </a:rPr>
              <a:t>        IO0CLR= 0x00;      </a:t>
            </a:r>
            <a:r>
              <a:rPr lang="en-US" dirty="0" smtClean="0">
                <a:latin typeface="Times New Roman"/>
                <a:ea typeface="Calibri"/>
                <a:cs typeface="Times New Roman"/>
              </a:rPr>
              <a:t>   </a:t>
            </a:r>
            <a:r>
              <a:rPr lang="en-US" dirty="0">
                <a:latin typeface="Times New Roman"/>
                <a:ea typeface="Calibri"/>
                <a:cs typeface="Times New Roman"/>
              </a:rPr>
              <a:t>//Relay OFF, Buzzer Off</a:t>
            </a:r>
            <a:endParaRPr lang="en-US" sz="3600" b="1" dirty="0">
              <a:ea typeface="Calibri"/>
              <a:cs typeface="Times New Roman"/>
            </a:endParaRPr>
          </a:p>
          <a:p>
            <a:pPr marL="0" marR="0" indent="0">
              <a:spcBef>
                <a:spcPts val="0"/>
              </a:spcBef>
              <a:spcAft>
                <a:spcPts val="0"/>
              </a:spcAft>
              <a:buNone/>
            </a:pPr>
            <a:r>
              <a:rPr lang="en-US" dirty="0">
                <a:latin typeface="Times New Roman"/>
                <a:ea typeface="Calibri"/>
                <a:cs typeface="Times New Roman"/>
              </a:rPr>
              <a:t>        delay();</a:t>
            </a:r>
            <a:endParaRPr lang="en-US" sz="3600" b="1" dirty="0">
              <a:ea typeface="Calibri"/>
              <a:cs typeface="Times New Roman"/>
            </a:endParaRPr>
          </a:p>
          <a:p>
            <a:pPr marL="0" marR="0" indent="0">
              <a:spcBef>
                <a:spcPts val="0"/>
              </a:spcBef>
              <a:spcAft>
                <a:spcPts val="0"/>
              </a:spcAft>
              <a:buNone/>
            </a:pPr>
            <a:r>
              <a:rPr lang="en-US" dirty="0">
                <a:latin typeface="Times New Roman"/>
                <a:ea typeface="Calibri"/>
                <a:cs typeface="Times New Roman"/>
              </a:rPr>
              <a:t>    }</a:t>
            </a:r>
            <a:endParaRPr lang="en-US" sz="3600" b="1" dirty="0">
              <a:ea typeface="Calibri"/>
              <a:cs typeface="Times New Roman"/>
            </a:endParaRPr>
          </a:p>
          <a:p>
            <a:pPr marL="0" marR="0" indent="0">
              <a:spcBef>
                <a:spcPts val="0"/>
              </a:spcBef>
              <a:spcAft>
                <a:spcPts val="0"/>
              </a:spcAft>
              <a:buNone/>
            </a:pPr>
            <a:r>
              <a:rPr lang="en-US" dirty="0">
                <a:latin typeface="Times New Roman"/>
                <a:ea typeface="Calibri"/>
                <a:cs typeface="Times New Roman"/>
              </a:rPr>
              <a:t>}</a:t>
            </a:r>
            <a:endParaRPr lang="en-US" sz="3600" b="1" dirty="0">
              <a:ea typeface="Calibri"/>
              <a:cs typeface="Times New Roman"/>
            </a:endParaRPr>
          </a:p>
          <a:p>
            <a:endParaRPr lang="en-US" dirty="0"/>
          </a:p>
        </p:txBody>
      </p:sp>
      <p:sp>
        <p:nvSpPr>
          <p:cNvPr id="5" name="Rectangle 4"/>
          <p:cNvSpPr/>
          <p:nvPr/>
        </p:nvSpPr>
        <p:spPr>
          <a:xfrm>
            <a:off x="685800" y="4509001"/>
            <a:ext cx="5029200" cy="2363724"/>
          </a:xfrm>
          <a:prstGeom prst="rect">
            <a:avLst/>
          </a:prstGeom>
        </p:spPr>
        <p:txBody>
          <a:bodyPr wrap="square">
            <a:spAutoFit/>
          </a:bodyPr>
          <a:lstStyle/>
          <a:p>
            <a:pPr marL="76200" marR="0">
              <a:spcBef>
                <a:spcPts val="0"/>
              </a:spcBef>
              <a:spcAft>
                <a:spcPts val="0"/>
              </a:spcAft>
            </a:pPr>
            <a:r>
              <a:rPr lang="en-US" sz="2400" dirty="0">
                <a:latin typeface="Times New Roman"/>
                <a:ea typeface="Calibri"/>
                <a:cs typeface="Times New Roman"/>
              </a:rPr>
              <a:t>Void delay()</a:t>
            </a:r>
            <a:endParaRPr lang="en-US" sz="2800" b="1" dirty="0">
              <a:ea typeface="Calibri"/>
              <a:cs typeface="Times New Roman"/>
            </a:endParaRPr>
          </a:p>
          <a:p>
            <a:pPr algn="just">
              <a:lnSpc>
                <a:spcPct val="115000"/>
              </a:lnSpc>
              <a:tabLst>
                <a:tab pos="1226820" algn="l"/>
              </a:tabLst>
            </a:pPr>
            <a:r>
              <a:rPr lang="en-US" sz="2400" dirty="0">
                <a:latin typeface="Times New Roman"/>
                <a:ea typeface="Calibri"/>
                <a:cs typeface="Times New Roman"/>
              </a:rPr>
              <a:t> unsigned </a:t>
            </a:r>
            <a:r>
              <a:rPr lang="en-US" sz="2400" dirty="0" err="1">
                <a:latin typeface="Times New Roman"/>
                <a:ea typeface="Calibri"/>
                <a:cs typeface="Times New Roman"/>
              </a:rPr>
              <a:t>int</a:t>
            </a:r>
            <a:r>
              <a:rPr lang="en-US" sz="2400" dirty="0">
                <a:latin typeface="Times New Roman"/>
                <a:ea typeface="Calibri"/>
                <a:cs typeface="Times New Roman"/>
              </a:rPr>
              <a:t> </a:t>
            </a:r>
            <a:r>
              <a:rPr lang="en-US" sz="2400" dirty="0" err="1">
                <a:latin typeface="Times New Roman"/>
                <a:ea typeface="Calibri"/>
                <a:cs typeface="Times New Roman"/>
              </a:rPr>
              <a:t>i,j</a:t>
            </a:r>
            <a:r>
              <a:rPr lang="en-US" sz="2400" dirty="0">
                <a:latin typeface="Times New Roman"/>
                <a:ea typeface="Calibri"/>
                <a:cs typeface="Times New Roman"/>
              </a:rPr>
              <a:t>;</a:t>
            </a:r>
            <a:endParaRPr lang="en-US" sz="2800" b="1" dirty="0">
              <a:ea typeface="Calibri"/>
              <a:cs typeface="Times New Roman"/>
            </a:endParaRPr>
          </a:p>
          <a:p>
            <a:pPr marL="76200" marR="0">
              <a:spcBef>
                <a:spcPts val="0"/>
              </a:spcBef>
              <a:spcAft>
                <a:spcPts val="0"/>
              </a:spcAft>
            </a:pPr>
            <a:r>
              <a:rPr lang="en-US" sz="2400" dirty="0">
                <a:latin typeface="Times New Roman"/>
                <a:ea typeface="Calibri"/>
                <a:cs typeface="Times New Roman"/>
              </a:rPr>
              <a:t>{</a:t>
            </a:r>
            <a:endParaRPr lang="en-US" sz="2800" b="1" dirty="0">
              <a:ea typeface="Calibri"/>
              <a:cs typeface="Times New Roman"/>
            </a:endParaRPr>
          </a:p>
          <a:p>
            <a:pPr marL="76200" marR="0">
              <a:spcBef>
                <a:spcPts val="0"/>
              </a:spcBef>
              <a:spcAft>
                <a:spcPts val="0"/>
              </a:spcAft>
            </a:pPr>
            <a:r>
              <a:rPr lang="en-US" sz="2400" dirty="0">
                <a:latin typeface="Times New Roman"/>
                <a:ea typeface="Calibri"/>
                <a:cs typeface="Times New Roman"/>
              </a:rPr>
              <a:t>for(i=0;i&lt;60000;i++)</a:t>
            </a:r>
            <a:endParaRPr lang="en-US" sz="2800" b="1" dirty="0">
              <a:ea typeface="Calibri"/>
              <a:cs typeface="Times New Roman"/>
            </a:endParaRPr>
          </a:p>
          <a:p>
            <a:pPr marL="76200" marR="0">
              <a:spcBef>
                <a:spcPts val="0"/>
              </a:spcBef>
              <a:spcAft>
                <a:spcPts val="0"/>
              </a:spcAft>
            </a:pPr>
            <a:r>
              <a:rPr lang="en-US" sz="2400" dirty="0">
                <a:latin typeface="Times New Roman"/>
                <a:ea typeface="Calibri"/>
                <a:cs typeface="Times New Roman"/>
              </a:rPr>
              <a:t>for(j=0;j&lt;80000;j++)</a:t>
            </a:r>
            <a:endParaRPr lang="en-US" sz="2800" b="1" dirty="0">
              <a:ea typeface="Calibri"/>
              <a:cs typeface="Times New Roman"/>
            </a:endParaRPr>
          </a:p>
          <a:p>
            <a:pPr marL="76200" marR="0">
              <a:spcBef>
                <a:spcPts val="0"/>
              </a:spcBef>
              <a:spcAft>
                <a:spcPts val="0"/>
              </a:spcAft>
            </a:pPr>
            <a:r>
              <a:rPr lang="en-US" sz="2400" dirty="0">
                <a:latin typeface="Times New Roman"/>
                <a:ea typeface="Calibri"/>
                <a:cs typeface="Times New Roman"/>
              </a:rPr>
              <a:t> </a:t>
            </a:r>
            <a:r>
              <a:rPr lang="en-US" sz="2400" dirty="0" smtClean="0">
                <a:latin typeface="Times New Roman"/>
                <a:ea typeface="Calibri"/>
                <a:cs typeface="Times New Roman"/>
              </a:rPr>
              <a:t>}</a:t>
            </a:r>
            <a:endParaRPr lang="en-US" sz="2800" b="1" dirty="0">
              <a:ea typeface="Calibri"/>
              <a:cs typeface="Times New Roman"/>
            </a:endParaRPr>
          </a:p>
        </p:txBody>
      </p:sp>
    </p:spTree>
    <p:extLst>
      <p:ext uri="{BB962C8B-B14F-4D97-AF65-F5344CB8AC3E}">
        <p14:creationId xmlns:p14="http://schemas.microsoft.com/office/powerpoint/2010/main" val="240499624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4800"/>
            <a:ext cx="9144000" cy="639762"/>
          </a:xfrm>
        </p:spPr>
        <p:txBody>
          <a:bodyPr>
            <a:noAutofit/>
          </a:bodyPr>
          <a:lstStyle/>
          <a:p>
            <a:pPr marL="171450" marR="0">
              <a:lnSpc>
                <a:spcPct val="115000"/>
              </a:lnSpc>
              <a:spcBef>
                <a:spcPts val="0"/>
              </a:spcBef>
              <a:spcAft>
                <a:spcPts val="0"/>
              </a:spcAft>
              <a:tabLst>
                <a:tab pos="1226820" algn="l"/>
              </a:tabLst>
            </a:pPr>
            <a:r>
              <a:rPr lang="en-US" sz="3000" b="1" dirty="0">
                <a:latin typeface="Times New Roman"/>
                <a:ea typeface="Calibri"/>
                <a:cs typeface="Times New Roman"/>
              </a:rPr>
              <a:t>Interfacing Motion Sensor and Buzzer with LPC </a:t>
            </a:r>
            <a:r>
              <a:rPr lang="en-US" sz="3000" b="1" dirty="0" smtClean="0">
                <a:latin typeface="Times New Roman"/>
                <a:ea typeface="Calibri"/>
                <a:cs typeface="Times New Roman"/>
              </a:rPr>
              <a:t>2148</a:t>
            </a:r>
            <a:endParaRPr lang="en-US" sz="3000" dirty="0"/>
          </a:p>
        </p:txBody>
      </p:sp>
      <p:grpSp>
        <p:nvGrpSpPr>
          <p:cNvPr id="5" name="Canvas 77"/>
          <p:cNvGrpSpPr/>
          <p:nvPr/>
        </p:nvGrpSpPr>
        <p:grpSpPr>
          <a:xfrm>
            <a:off x="838200" y="1143001"/>
            <a:ext cx="7620000" cy="5181600"/>
            <a:chOff x="170120" y="35307"/>
            <a:chExt cx="5100969" cy="3728619"/>
          </a:xfrm>
        </p:grpSpPr>
        <p:sp>
          <p:nvSpPr>
            <p:cNvPr id="7" name="Rounded Rectangle 6"/>
            <p:cNvSpPr/>
            <p:nvPr/>
          </p:nvSpPr>
          <p:spPr>
            <a:xfrm>
              <a:off x="170120" y="179970"/>
              <a:ext cx="1190847" cy="3583956"/>
            </a:xfrm>
            <a:prstGeom prst="roundRect">
              <a:avLst/>
            </a:prstGeom>
            <a:solidFill>
              <a:sysClr val="window" lastClr="FFFFFF"/>
            </a:solidFill>
            <a:ln w="25400" cap="flat" cmpd="sng" algn="ctr">
              <a:solidFill>
                <a:sysClr val="windowText" lastClr="000000"/>
              </a:solid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15000"/>
                </a:lnSpc>
                <a:spcBef>
                  <a:spcPts val="0"/>
                </a:spcBef>
                <a:spcAft>
                  <a:spcPts val="1000"/>
                </a:spcAft>
                <a:buClrTx/>
                <a:buSzTx/>
                <a:buFontTx/>
                <a:buNone/>
                <a:tabLst/>
                <a:defRPr/>
              </a:pPr>
              <a:r>
                <a:rPr kumimoji="0" lang="en-US" sz="1900" b="1" i="0" u="none" strike="noStrike" kern="0" cap="none" spc="0" normalizeH="0" baseline="0" noProof="0">
                  <a:ln>
                    <a:noFill/>
                  </a:ln>
                  <a:solidFill>
                    <a:sysClr val="windowText" lastClr="000000"/>
                  </a:solidFill>
                  <a:effectLst/>
                  <a:uLnTx/>
                  <a:uFillTx/>
                  <a:latin typeface="Times New Roman"/>
                  <a:ea typeface="Calibri"/>
                  <a:cs typeface="Times New Roman"/>
                </a:rPr>
                <a:t>LPC 2148</a:t>
              </a:r>
              <a:endParaRPr kumimoji="0" lang="en-US" sz="1100" b="0" i="0" u="none" strike="noStrike" kern="0" cap="none" spc="0" normalizeH="0" baseline="0" noProof="0">
                <a:ln>
                  <a:noFill/>
                </a:ln>
                <a:solidFill>
                  <a:sysClr val="windowText" lastClr="000000"/>
                </a:solidFill>
                <a:effectLst/>
                <a:uLnTx/>
                <a:uFillTx/>
                <a:latin typeface="Calibri"/>
                <a:ea typeface="Calibri"/>
                <a:cs typeface="Times New Roman"/>
              </a:endParaRPr>
            </a:p>
          </p:txBody>
        </p:sp>
        <p:pic>
          <p:nvPicPr>
            <p:cNvPr id="8" name="Picture 7"/>
            <p:cNvPicPr/>
            <p:nvPr/>
          </p:nvPicPr>
          <p:blipFill>
            <a:blip r:embed="rId2"/>
            <a:stretch>
              <a:fillRect/>
            </a:stretch>
          </p:blipFill>
          <p:spPr>
            <a:xfrm>
              <a:off x="1765006" y="1883185"/>
              <a:ext cx="2222204" cy="1795540"/>
            </a:xfrm>
            <a:prstGeom prst="rect">
              <a:avLst/>
            </a:prstGeom>
          </p:spPr>
        </p:pic>
        <p:cxnSp>
          <p:nvCxnSpPr>
            <p:cNvPr id="9" name="Straight Arrow Connector 8"/>
            <p:cNvCxnSpPr/>
            <p:nvPr/>
          </p:nvCxnSpPr>
          <p:spPr>
            <a:xfrm flipH="1">
              <a:off x="1339728" y="680322"/>
              <a:ext cx="584789" cy="0"/>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sp>
          <p:nvSpPr>
            <p:cNvPr id="10" name="Text Box 64"/>
            <p:cNvSpPr txBox="1"/>
            <p:nvPr/>
          </p:nvSpPr>
          <p:spPr>
            <a:xfrm>
              <a:off x="776179" y="574047"/>
              <a:ext cx="435935" cy="319019"/>
            </a:xfrm>
            <a:prstGeom prst="rect">
              <a:avLst/>
            </a:prstGeom>
            <a:solidFill>
              <a:sysClr val="window" lastClr="FFFFFF"/>
            </a:solidFill>
            <a:ln w="6350">
              <a:solidFill>
                <a:sysClr val="window" lastClr="FFFFFF"/>
              </a:solid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15000"/>
                </a:lnSpc>
                <a:spcBef>
                  <a:spcPts val="0"/>
                </a:spcBef>
                <a:spcAft>
                  <a:spcPts val="1000"/>
                </a:spcAft>
                <a:buClrTx/>
                <a:buSzTx/>
                <a:buFontTx/>
                <a:buNone/>
                <a:tabLst/>
                <a:defRPr/>
              </a:pPr>
              <a:r>
                <a:rPr kumimoji="0" lang="en-US" sz="1300" b="1" i="0" u="none" strike="noStrike" kern="0" cap="none" spc="0" normalizeH="0" baseline="0" noProof="0">
                  <a:ln>
                    <a:noFill/>
                  </a:ln>
                  <a:solidFill>
                    <a:sysClr val="windowText" lastClr="000000"/>
                  </a:solidFill>
                  <a:effectLst/>
                  <a:uLnTx/>
                  <a:uFillTx/>
                  <a:latin typeface="Times New Roman"/>
                  <a:ea typeface="Calibri"/>
                  <a:cs typeface="Times New Roman"/>
                </a:rPr>
                <a:t>P3.2</a:t>
              </a:r>
              <a:endParaRPr kumimoji="0" lang="en-US" sz="1100" b="0" i="0" u="none" strike="noStrike" kern="0" cap="none" spc="0" normalizeH="0" baseline="0" noProof="0">
                <a:ln>
                  <a:noFill/>
                </a:ln>
                <a:solidFill>
                  <a:sysClr val="windowText" lastClr="000000"/>
                </a:solidFill>
                <a:effectLst/>
                <a:uLnTx/>
                <a:uFillTx/>
                <a:latin typeface="Calibri"/>
                <a:ea typeface="Calibri"/>
                <a:cs typeface="Times New Roman"/>
              </a:endParaRPr>
            </a:p>
          </p:txBody>
        </p:sp>
        <p:sp>
          <p:nvSpPr>
            <p:cNvPr id="11" name="Text Box 49"/>
            <p:cNvSpPr txBox="1"/>
            <p:nvPr/>
          </p:nvSpPr>
          <p:spPr>
            <a:xfrm>
              <a:off x="723014" y="2486158"/>
              <a:ext cx="573833" cy="318770"/>
            </a:xfrm>
            <a:prstGeom prst="rect">
              <a:avLst/>
            </a:prstGeom>
            <a:solidFill>
              <a:sysClr val="window" lastClr="FFFFFF"/>
            </a:solidFill>
            <a:ln w="6350">
              <a:solidFill>
                <a:sysClr val="window" lastClr="FFFFFF"/>
              </a:solid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15000"/>
                </a:lnSpc>
                <a:spcBef>
                  <a:spcPts val="0"/>
                </a:spcBef>
                <a:spcAft>
                  <a:spcPts val="1000"/>
                </a:spcAft>
                <a:buClrTx/>
                <a:buSzTx/>
                <a:buFontTx/>
                <a:buNone/>
                <a:tabLst/>
                <a:defRPr/>
              </a:pPr>
              <a:r>
                <a:rPr kumimoji="0" lang="en-US" sz="2000" b="1" i="0" u="none" strike="noStrike" kern="0" cap="none" spc="0" normalizeH="0" baseline="0" noProof="0" dirty="0">
                  <a:ln>
                    <a:noFill/>
                  </a:ln>
                  <a:solidFill>
                    <a:sysClr val="windowText" lastClr="000000"/>
                  </a:solidFill>
                  <a:effectLst/>
                  <a:uLnTx/>
                  <a:uFillTx/>
                  <a:latin typeface="Times New Roman"/>
                  <a:ea typeface="Calibri"/>
                </a:rPr>
                <a:t>P0.1</a:t>
              </a:r>
              <a:endParaRPr kumimoji="0" lang="en-US" sz="2000" b="0" i="0" u="none" strike="noStrike" kern="0" cap="none" spc="0" normalizeH="0" baseline="0" noProof="0" dirty="0">
                <a:ln>
                  <a:noFill/>
                </a:ln>
                <a:solidFill>
                  <a:sysClr val="windowText" lastClr="000000"/>
                </a:solidFill>
                <a:effectLst/>
                <a:uLnTx/>
                <a:uFillTx/>
                <a:latin typeface="Times New Roman"/>
                <a:ea typeface="Times New Roman"/>
              </a:endParaRPr>
            </a:p>
          </p:txBody>
        </p:sp>
        <p:sp>
          <p:nvSpPr>
            <p:cNvPr id="12" name="Text Box 49"/>
            <p:cNvSpPr txBox="1"/>
            <p:nvPr/>
          </p:nvSpPr>
          <p:spPr>
            <a:xfrm>
              <a:off x="4402439" y="391961"/>
              <a:ext cx="850043" cy="501127"/>
            </a:xfrm>
            <a:prstGeom prst="rect">
              <a:avLst/>
            </a:prstGeom>
            <a:solidFill>
              <a:sysClr val="window" lastClr="FFFFFF"/>
            </a:solidFill>
            <a:ln w="6350">
              <a:solidFill>
                <a:sysClr val="window" lastClr="FFFFFF"/>
              </a:solid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15000"/>
                </a:lnSpc>
                <a:spcBef>
                  <a:spcPts val="0"/>
                </a:spcBef>
                <a:spcAft>
                  <a:spcPts val="0"/>
                </a:spcAft>
                <a:buClrTx/>
                <a:buSzTx/>
                <a:buFontTx/>
                <a:buNone/>
                <a:tabLst/>
                <a:defRPr/>
              </a:pPr>
              <a:r>
                <a:rPr kumimoji="0" lang="en-US" sz="1300" b="1" i="0" u="none" strike="noStrike" kern="0" cap="none" spc="0" normalizeH="0" baseline="0" noProof="0">
                  <a:ln>
                    <a:noFill/>
                  </a:ln>
                  <a:solidFill>
                    <a:sysClr val="windowText" lastClr="000000"/>
                  </a:solidFill>
                  <a:effectLst/>
                  <a:uLnTx/>
                  <a:uFillTx/>
                  <a:latin typeface="Times New Roman"/>
                  <a:ea typeface="Calibri"/>
                </a:rPr>
                <a:t>Motion</a:t>
              </a:r>
              <a:endParaRPr kumimoji="0" lang="en-US" sz="1200" b="0" i="0" u="none" strike="noStrike" kern="0" cap="none" spc="0" normalizeH="0" baseline="0" noProof="0">
                <a:ln>
                  <a:noFill/>
                </a:ln>
                <a:solidFill>
                  <a:sysClr val="windowText" lastClr="000000"/>
                </a:solidFill>
                <a:effectLst/>
                <a:uLnTx/>
                <a:uFillTx/>
                <a:latin typeface="Times New Roman"/>
                <a:ea typeface="Times New Roman"/>
              </a:endParaRPr>
            </a:p>
            <a:p>
              <a:pPr marL="0" marR="0" lvl="0" indent="0" algn="ctr" defTabSz="914400" eaLnBrk="1" fontAlgn="auto" latinLnBrk="0" hangingPunct="1">
                <a:lnSpc>
                  <a:spcPct val="115000"/>
                </a:lnSpc>
                <a:spcBef>
                  <a:spcPts val="0"/>
                </a:spcBef>
                <a:spcAft>
                  <a:spcPts val="0"/>
                </a:spcAft>
                <a:buClrTx/>
                <a:buSzTx/>
                <a:buFontTx/>
                <a:buNone/>
                <a:tabLst/>
                <a:defRPr/>
              </a:pPr>
              <a:r>
                <a:rPr kumimoji="0" lang="en-US" sz="1300" b="1" i="0" u="none" strike="noStrike" kern="0" cap="none" spc="0" normalizeH="0" baseline="0" noProof="0">
                  <a:ln>
                    <a:noFill/>
                  </a:ln>
                  <a:solidFill>
                    <a:sysClr val="windowText" lastClr="000000"/>
                  </a:solidFill>
                  <a:effectLst/>
                  <a:uLnTx/>
                  <a:uFillTx/>
                  <a:latin typeface="Times New Roman"/>
                  <a:ea typeface="Calibri"/>
                </a:rPr>
                <a:t>Sensor</a:t>
              </a:r>
              <a:endParaRPr kumimoji="0" lang="en-US" sz="1200" b="0" i="0" u="none" strike="noStrike" kern="0" cap="none" spc="0" normalizeH="0" baseline="0" noProof="0">
                <a:ln>
                  <a:noFill/>
                </a:ln>
                <a:solidFill>
                  <a:sysClr val="windowText" lastClr="000000"/>
                </a:solidFill>
                <a:effectLst/>
                <a:uLnTx/>
                <a:uFillTx/>
                <a:latin typeface="Times New Roman"/>
                <a:ea typeface="Times New Roman"/>
              </a:endParaRPr>
            </a:p>
          </p:txBody>
        </p:sp>
        <p:sp>
          <p:nvSpPr>
            <p:cNvPr id="13" name="Text Box 49"/>
            <p:cNvSpPr txBox="1"/>
            <p:nvPr/>
          </p:nvSpPr>
          <p:spPr>
            <a:xfrm>
              <a:off x="4421459" y="1320108"/>
              <a:ext cx="849630" cy="318135"/>
            </a:xfrm>
            <a:prstGeom prst="rect">
              <a:avLst/>
            </a:prstGeom>
            <a:solidFill>
              <a:sysClr val="window" lastClr="FFFFFF"/>
            </a:solidFill>
            <a:ln w="6350">
              <a:solidFill>
                <a:sysClr val="window" lastClr="FFFFFF"/>
              </a:solid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15000"/>
                </a:lnSpc>
                <a:spcBef>
                  <a:spcPts val="0"/>
                </a:spcBef>
                <a:spcAft>
                  <a:spcPts val="1000"/>
                </a:spcAft>
                <a:buClrTx/>
                <a:buSzTx/>
                <a:buFontTx/>
                <a:buNone/>
                <a:tabLst/>
                <a:defRPr/>
              </a:pPr>
              <a:r>
                <a:rPr kumimoji="0" lang="en-US" sz="1300" b="1" i="0" u="none" strike="noStrike" kern="0" cap="none" spc="0" normalizeH="0" baseline="0" noProof="0">
                  <a:ln>
                    <a:noFill/>
                  </a:ln>
                  <a:solidFill>
                    <a:sysClr val="windowText" lastClr="000000"/>
                  </a:solidFill>
                  <a:effectLst/>
                  <a:uLnTx/>
                  <a:uFillTx/>
                  <a:latin typeface="Times New Roman"/>
                  <a:ea typeface="Calibri"/>
                </a:rPr>
                <a:t>Buzzer</a:t>
              </a:r>
              <a:endParaRPr kumimoji="0" lang="en-US" sz="1200" b="0" i="0" u="none" strike="noStrike" kern="0" cap="none" spc="0" normalizeH="0" baseline="0" noProof="0">
                <a:ln>
                  <a:noFill/>
                </a:ln>
                <a:solidFill>
                  <a:sysClr val="windowText" lastClr="000000"/>
                </a:solidFill>
                <a:effectLst/>
                <a:uLnTx/>
                <a:uFillTx/>
                <a:latin typeface="Times New Roman"/>
                <a:ea typeface="Times New Roman"/>
              </a:endParaRPr>
            </a:p>
          </p:txBody>
        </p:sp>
        <p:pic>
          <p:nvPicPr>
            <p:cNvPr id="14" name="Picture 13"/>
            <p:cNvPicPr>
              <a:picLocks noChangeAspect="1"/>
            </p:cNvPicPr>
            <p:nvPr/>
          </p:nvPicPr>
          <p:blipFill>
            <a:blip r:embed="rId3"/>
            <a:stretch>
              <a:fillRect/>
            </a:stretch>
          </p:blipFill>
          <p:spPr>
            <a:xfrm>
              <a:off x="3124685" y="35307"/>
              <a:ext cx="1171429" cy="1333333"/>
            </a:xfrm>
            <a:prstGeom prst="rect">
              <a:avLst/>
            </a:prstGeom>
          </p:spPr>
        </p:pic>
        <p:cxnSp>
          <p:nvCxnSpPr>
            <p:cNvPr id="15" name="Straight Arrow Connector 14"/>
            <p:cNvCxnSpPr/>
            <p:nvPr/>
          </p:nvCxnSpPr>
          <p:spPr>
            <a:xfrm>
              <a:off x="1360968" y="2508900"/>
              <a:ext cx="542260" cy="0"/>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16" name="Straight Connector 15"/>
            <p:cNvCxnSpPr/>
            <p:nvPr/>
          </p:nvCxnSpPr>
          <p:spPr>
            <a:xfrm>
              <a:off x="1913884" y="680271"/>
              <a:ext cx="0" cy="957143"/>
            </a:xfrm>
            <a:prstGeom prst="line">
              <a:avLst/>
            </a:prstGeom>
            <a:noFill/>
            <a:ln w="25400" cap="flat" cmpd="sng" algn="ctr">
              <a:solidFill>
                <a:sysClr val="windowText" lastClr="000000"/>
              </a:solidFill>
              <a:prstDash val="solid"/>
            </a:ln>
            <a:effectLst>
              <a:outerShdw blurRad="40000" dist="20000" dir="5400000" rotWithShape="0">
                <a:srgbClr val="000000">
                  <a:alpha val="38000"/>
                </a:srgbClr>
              </a:outerShdw>
            </a:effectLst>
          </p:spPr>
        </p:cxnSp>
        <p:cxnSp>
          <p:nvCxnSpPr>
            <p:cNvPr id="17" name="Straight Connector 16"/>
            <p:cNvCxnSpPr/>
            <p:nvPr/>
          </p:nvCxnSpPr>
          <p:spPr>
            <a:xfrm>
              <a:off x="1903228" y="1637291"/>
              <a:ext cx="1839432" cy="0"/>
            </a:xfrm>
            <a:prstGeom prst="line">
              <a:avLst/>
            </a:prstGeom>
            <a:noFill/>
            <a:ln w="25400" cap="flat" cmpd="sng" algn="ctr">
              <a:solidFill>
                <a:sysClr val="windowText" lastClr="000000"/>
              </a:solidFill>
              <a:prstDash val="solid"/>
            </a:ln>
            <a:effectLst>
              <a:outerShdw blurRad="40000" dist="20000" dir="5400000" rotWithShape="0">
                <a:srgbClr val="000000">
                  <a:alpha val="38000"/>
                </a:srgbClr>
              </a:outerShdw>
            </a:effectLst>
          </p:spPr>
        </p:cxnSp>
        <p:cxnSp>
          <p:nvCxnSpPr>
            <p:cNvPr id="18" name="Straight Connector 17"/>
            <p:cNvCxnSpPr/>
            <p:nvPr/>
          </p:nvCxnSpPr>
          <p:spPr>
            <a:xfrm>
              <a:off x="3732027" y="1254642"/>
              <a:ext cx="0" cy="382649"/>
            </a:xfrm>
            <a:prstGeom prst="line">
              <a:avLst/>
            </a:prstGeom>
            <a:noFill/>
            <a:ln w="25400" cap="flat" cmpd="sng" algn="ctr">
              <a:solidFill>
                <a:sysClr val="windowText" lastClr="000000"/>
              </a:solidFill>
              <a:prstDash val="solid"/>
            </a:ln>
            <a:effectLst>
              <a:outerShdw blurRad="40000" dist="20000" dir="5400000" rotWithShape="0">
                <a:srgbClr val="000000">
                  <a:alpha val="38000"/>
                </a:srgbClr>
              </a:outerShdw>
            </a:effectLst>
          </p:spPr>
        </p:cxnSp>
        <p:pic>
          <p:nvPicPr>
            <p:cNvPr id="19" name="Picture 18"/>
            <p:cNvPicPr>
              <a:picLocks noChangeAspect="1"/>
            </p:cNvPicPr>
            <p:nvPr/>
          </p:nvPicPr>
          <p:blipFill>
            <a:blip r:embed="rId4"/>
            <a:stretch>
              <a:fillRect/>
            </a:stretch>
          </p:blipFill>
          <p:spPr>
            <a:xfrm>
              <a:off x="4414387" y="1521459"/>
              <a:ext cx="838095" cy="847619"/>
            </a:xfrm>
            <a:prstGeom prst="rect">
              <a:avLst/>
            </a:prstGeom>
          </p:spPr>
        </p:pic>
        <p:sp>
          <p:nvSpPr>
            <p:cNvPr id="20" name="Text Box 49"/>
            <p:cNvSpPr txBox="1"/>
            <p:nvPr/>
          </p:nvSpPr>
          <p:spPr>
            <a:xfrm>
              <a:off x="745039" y="561793"/>
              <a:ext cx="573405" cy="318135"/>
            </a:xfrm>
            <a:prstGeom prst="rect">
              <a:avLst/>
            </a:prstGeom>
            <a:solidFill>
              <a:sysClr val="window" lastClr="FFFFFF"/>
            </a:solidFill>
            <a:ln w="6350">
              <a:solidFill>
                <a:sysClr val="window" lastClr="FFFFFF"/>
              </a:solid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15000"/>
                </a:lnSpc>
                <a:spcBef>
                  <a:spcPts val="0"/>
                </a:spcBef>
                <a:spcAft>
                  <a:spcPts val="1000"/>
                </a:spcAft>
                <a:buClrTx/>
                <a:buSzTx/>
                <a:buFontTx/>
                <a:buNone/>
                <a:tabLst/>
                <a:defRPr/>
              </a:pPr>
              <a:r>
                <a:rPr kumimoji="0" lang="en-US" sz="1600" b="1" i="0" u="none" strike="noStrike" kern="0" cap="none" spc="0" normalizeH="0" baseline="0" noProof="0" dirty="0">
                  <a:ln>
                    <a:noFill/>
                  </a:ln>
                  <a:solidFill>
                    <a:sysClr val="windowText" lastClr="000000"/>
                  </a:solidFill>
                  <a:effectLst/>
                  <a:uLnTx/>
                  <a:uFillTx/>
                  <a:latin typeface="Times New Roman"/>
                  <a:ea typeface="Calibri"/>
                </a:rPr>
                <a:t>P0.05</a:t>
              </a:r>
              <a:endParaRPr kumimoji="0" lang="en-US" sz="1600" b="0" i="0" u="none" strike="noStrike" kern="0" cap="none" spc="0" normalizeH="0" baseline="0" noProof="0" dirty="0">
                <a:ln>
                  <a:noFill/>
                </a:ln>
                <a:solidFill>
                  <a:sysClr val="windowText" lastClr="000000"/>
                </a:solidFill>
                <a:effectLst/>
                <a:uLnTx/>
                <a:uFillTx/>
                <a:latin typeface="Times New Roman"/>
                <a:ea typeface="Times New Roman"/>
              </a:endParaRPr>
            </a:p>
          </p:txBody>
        </p:sp>
        <p:cxnSp>
          <p:nvCxnSpPr>
            <p:cNvPr id="21" name="Straight Connector 20"/>
            <p:cNvCxnSpPr/>
            <p:nvPr/>
          </p:nvCxnSpPr>
          <p:spPr>
            <a:xfrm>
              <a:off x="3732027" y="2190142"/>
              <a:ext cx="255183" cy="0"/>
            </a:xfrm>
            <a:prstGeom prst="line">
              <a:avLst/>
            </a:prstGeom>
            <a:noFill/>
            <a:ln w="25400" cap="flat" cmpd="sng" algn="ctr">
              <a:solidFill>
                <a:sysClr val="windowText" lastClr="000000"/>
              </a:solidFill>
              <a:prstDash val="solid"/>
            </a:ln>
            <a:effectLst>
              <a:outerShdw blurRad="40000" dist="20000" dir="5400000" rotWithShape="0">
                <a:srgbClr val="000000">
                  <a:alpha val="38000"/>
                </a:srgbClr>
              </a:outerShdw>
            </a:effectLst>
          </p:spPr>
        </p:cxnSp>
        <p:cxnSp>
          <p:nvCxnSpPr>
            <p:cNvPr id="22" name="Straight Connector 21"/>
            <p:cNvCxnSpPr/>
            <p:nvPr/>
          </p:nvCxnSpPr>
          <p:spPr>
            <a:xfrm>
              <a:off x="3987210" y="2189978"/>
              <a:ext cx="0" cy="372469"/>
            </a:xfrm>
            <a:prstGeom prst="line">
              <a:avLst/>
            </a:prstGeom>
            <a:noFill/>
            <a:ln w="25400" cap="flat" cmpd="sng" algn="ctr">
              <a:solidFill>
                <a:sysClr val="windowText" lastClr="000000"/>
              </a:solidFill>
              <a:prstDash val="solid"/>
            </a:ln>
            <a:effectLst>
              <a:outerShdw blurRad="40000" dist="20000" dir="5400000" rotWithShape="0">
                <a:srgbClr val="000000">
                  <a:alpha val="38000"/>
                </a:srgbClr>
              </a:outerShdw>
            </a:effectLst>
          </p:spPr>
        </p:cxnSp>
        <p:cxnSp>
          <p:nvCxnSpPr>
            <p:cNvPr id="23" name="Straight Connector 22"/>
            <p:cNvCxnSpPr/>
            <p:nvPr/>
          </p:nvCxnSpPr>
          <p:spPr>
            <a:xfrm flipV="1">
              <a:off x="3987210" y="2561874"/>
              <a:ext cx="1201479" cy="381"/>
            </a:xfrm>
            <a:prstGeom prst="line">
              <a:avLst/>
            </a:prstGeom>
            <a:noFill/>
            <a:ln w="25400" cap="flat" cmpd="sng" algn="ctr">
              <a:solidFill>
                <a:sysClr val="windowText" lastClr="000000"/>
              </a:solidFill>
              <a:prstDash val="solid"/>
            </a:ln>
            <a:effectLst>
              <a:outerShdw blurRad="40000" dist="20000" dir="5400000" rotWithShape="0">
                <a:srgbClr val="000000">
                  <a:alpha val="38000"/>
                </a:srgbClr>
              </a:outerShdw>
            </a:effectLst>
          </p:spPr>
        </p:cxnSp>
        <p:cxnSp>
          <p:nvCxnSpPr>
            <p:cNvPr id="24" name="Straight Connector 23"/>
            <p:cNvCxnSpPr/>
            <p:nvPr/>
          </p:nvCxnSpPr>
          <p:spPr>
            <a:xfrm>
              <a:off x="5188689" y="2368901"/>
              <a:ext cx="0" cy="192590"/>
            </a:xfrm>
            <a:prstGeom prst="line">
              <a:avLst/>
            </a:prstGeom>
            <a:noFill/>
            <a:ln w="25400" cap="flat" cmpd="sng" algn="ctr">
              <a:solidFill>
                <a:sysClr val="windowText" lastClr="000000"/>
              </a:solidFill>
              <a:prstDash val="solid"/>
            </a:ln>
            <a:effectLst>
              <a:outerShdw blurRad="40000" dist="20000" dir="5400000" rotWithShape="0">
                <a:srgbClr val="000000">
                  <a:alpha val="38000"/>
                </a:srgbClr>
              </a:outerShdw>
            </a:effectLst>
          </p:spPr>
        </p:cxnSp>
        <p:pic>
          <p:nvPicPr>
            <p:cNvPr id="25" name="Picture 24"/>
            <p:cNvPicPr>
              <a:picLocks noChangeAspect="1"/>
            </p:cNvPicPr>
            <p:nvPr/>
          </p:nvPicPr>
          <p:blipFill>
            <a:blip r:embed="rId5"/>
            <a:stretch>
              <a:fillRect/>
            </a:stretch>
          </p:blipFill>
          <p:spPr>
            <a:xfrm>
              <a:off x="3614318" y="3178381"/>
              <a:ext cx="257143" cy="171429"/>
            </a:xfrm>
            <a:prstGeom prst="rect">
              <a:avLst/>
            </a:prstGeom>
          </p:spPr>
        </p:pic>
        <p:cxnSp>
          <p:nvCxnSpPr>
            <p:cNvPr id="26" name="Straight Connector 25"/>
            <p:cNvCxnSpPr/>
            <p:nvPr/>
          </p:nvCxnSpPr>
          <p:spPr>
            <a:xfrm>
              <a:off x="3732027" y="2615610"/>
              <a:ext cx="0" cy="562534"/>
            </a:xfrm>
            <a:prstGeom prst="line">
              <a:avLst/>
            </a:prstGeom>
            <a:noFill/>
            <a:ln w="25400" cap="flat" cmpd="sng" algn="ctr">
              <a:solidFill>
                <a:sysClr val="windowText" lastClr="000000"/>
              </a:solidFill>
              <a:prstDash val="solid"/>
            </a:ln>
            <a:effectLst>
              <a:outerShdw blurRad="40000" dist="20000" dir="5400000" rotWithShape="0">
                <a:srgbClr val="000000">
                  <a:alpha val="38000"/>
                </a:srgbClr>
              </a:outerShdw>
            </a:effectLst>
          </p:spPr>
        </p:cxnSp>
        <p:cxnSp>
          <p:nvCxnSpPr>
            <p:cNvPr id="27" name="Straight Connector 26"/>
            <p:cNvCxnSpPr/>
            <p:nvPr/>
          </p:nvCxnSpPr>
          <p:spPr>
            <a:xfrm>
              <a:off x="3124685" y="1883044"/>
              <a:ext cx="0" cy="200938"/>
            </a:xfrm>
            <a:prstGeom prst="line">
              <a:avLst/>
            </a:prstGeom>
            <a:noFill/>
            <a:ln w="25400" cap="flat" cmpd="sng" algn="ctr">
              <a:solidFill>
                <a:srgbClr val="C0504D"/>
              </a:solidFill>
              <a:prstDash val="solid"/>
            </a:ln>
            <a:effectLst>
              <a:outerShdw blurRad="40000" dist="20000" dir="5400000" rotWithShape="0">
                <a:srgbClr val="000000">
                  <a:alpha val="38000"/>
                </a:srgbClr>
              </a:outerShdw>
            </a:effectLst>
          </p:spPr>
        </p:cxnSp>
        <p:cxnSp>
          <p:nvCxnSpPr>
            <p:cNvPr id="28" name="Straight Connector 27"/>
            <p:cNvCxnSpPr/>
            <p:nvPr/>
          </p:nvCxnSpPr>
          <p:spPr>
            <a:xfrm>
              <a:off x="3124685" y="1883044"/>
              <a:ext cx="1096441" cy="0"/>
            </a:xfrm>
            <a:prstGeom prst="line">
              <a:avLst/>
            </a:prstGeom>
            <a:noFill/>
            <a:ln w="25400" cap="flat" cmpd="sng" algn="ctr">
              <a:solidFill>
                <a:srgbClr val="C0504D"/>
              </a:solidFill>
              <a:prstDash val="solid"/>
            </a:ln>
            <a:effectLst>
              <a:outerShdw blurRad="40000" dist="20000" dir="5400000" rotWithShape="0">
                <a:srgbClr val="000000">
                  <a:alpha val="38000"/>
                </a:srgbClr>
              </a:outerShdw>
            </a:effectLst>
          </p:spPr>
        </p:cxnSp>
        <p:cxnSp>
          <p:nvCxnSpPr>
            <p:cNvPr id="29" name="Straight Connector 28"/>
            <p:cNvCxnSpPr/>
            <p:nvPr/>
          </p:nvCxnSpPr>
          <p:spPr>
            <a:xfrm flipH="1">
              <a:off x="4221126" y="2326192"/>
              <a:ext cx="200333" cy="0"/>
            </a:xfrm>
            <a:prstGeom prst="line">
              <a:avLst/>
            </a:prstGeom>
            <a:noFill/>
            <a:ln w="25400" cap="flat" cmpd="sng" algn="ctr">
              <a:solidFill>
                <a:srgbClr val="C0504D"/>
              </a:solidFill>
              <a:prstDash val="solid"/>
            </a:ln>
            <a:effectLst>
              <a:outerShdw blurRad="40000" dist="20000" dir="5400000" rotWithShape="0">
                <a:srgbClr val="000000">
                  <a:alpha val="38000"/>
                </a:srgbClr>
              </a:outerShdw>
            </a:effectLst>
          </p:spPr>
        </p:cxnSp>
        <p:cxnSp>
          <p:nvCxnSpPr>
            <p:cNvPr id="30" name="Straight Connector 29"/>
            <p:cNvCxnSpPr/>
            <p:nvPr/>
          </p:nvCxnSpPr>
          <p:spPr>
            <a:xfrm>
              <a:off x="4221126" y="1882903"/>
              <a:ext cx="0" cy="443115"/>
            </a:xfrm>
            <a:prstGeom prst="line">
              <a:avLst/>
            </a:prstGeom>
            <a:noFill/>
            <a:ln w="25400" cap="flat" cmpd="sng" algn="ctr">
              <a:solidFill>
                <a:srgbClr val="C0504D"/>
              </a:solidFill>
              <a:prstDash val="solid"/>
            </a:ln>
            <a:effectLst>
              <a:outerShdw blurRad="40000" dist="20000" dir="5400000" rotWithShape="0">
                <a:srgbClr val="000000">
                  <a:alpha val="38000"/>
                </a:srgbClr>
              </a:outerShdw>
            </a:effectLst>
          </p:spPr>
        </p:cxnSp>
        <p:cxnSp>
          <p:nvCxnSpPr>
            <p:cNvPr id="31" name="Straight Connector 30"/>
            <p:cNvCxnSpPr/>
            <p:nvPr/>
          </p:nvCxnSpPr>
          <p:spPr>
            <a:xfrm>
              <a:off x="3987210" y="1254548"/>
              <a:ext cx="0" cy="628214"/>
            </a:xfrm>
            <a:prstGeom prst="line">
              <a:avLst/>
            </a:prstGeom>
            <a:noFill/>
            <a:ln w="25400" cap="flat" cmpd="sng" algn="ctr">
              <a:solidFill>
                <a:srgbClr val="C0504D"/>
              </a:solidFill>
              <a:prstDash val="solid"/>
            </a:ln>
            <a:effectLst>
              <a:outerShdw blurRad="40000" dist="20000" dir="5400000" rotWithShape="0">
                <a:srgbClr val="000000">
                  <a:alpha val="38000"/>
                </a:srgbClr>
              </a:outerShdw>
            </a:effectLst>
          </p:spPr>
        </p:cxnSp>
      </p:grpSp>
    </p:spTree>
    <p:extLst>
      <p:ext uri="{BB962C8B-B14F-4D97-AF65-F5344CB8AC3E}">
        <p14:creationId xmlns:p14="http://schemas.microsoft.com/office/powerpoint/2010/main" val="34120793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119" y="19334"/>
            <a:ext cx="8991600" cy="563562"/>
          </a:xfrm>
        </p:spPr>
        <p:txBody>
          <a:bodyPr>
            <a:noAutofit/>
          </a:bodyPr>
          <a:lstStyle/>
          <a:p>
            <a:pPr marL="171450" marR="0">
              <a:lnSpc>
                <a:spcPct val="115000"/>
              </a:lnSpc>
              <a:spcBef>
                <a:spcPts val="0"/>
              </a:spcBef>
              <a:spcAft>
                <a:spcPts val="0"/>
              </a:spcAft>
              <a:tabLst>
                <a:tab pos="1226820" algn="l"/>
              </a:tabLst>
            </a:pPr>
            <a:r>
              <a:rPr lang="en-US" sz="3000" b="1" dirty="0">
                <a:latin typeface="Times New Roman"/>
                <a:ea typeface="Calibri"/>
                <a:cs typeface="Times New Roman"/>
              </a:rPr>
              <a:t>Program to turn on buzzer in the presence of </a:t>
            </a:r>
            <a:r>
              <a:rPr lang="en-US" sz="3000" b="1" dirty="0" smtClean="0">
                <a:latin typeface="Times New Roman"/>
                <a:ea typeface="Calibri"/>
                <a:cs typeface="Times New Roman"/>
              </a:rPr>
              <a:t>human</a:t>
            </a:r>
            <a:endParaRPr lang="en-US" sz="3000" dirty="0"/>
          </a:p>
        </p:txBody>
      </p:sp>
      <p:sp>
        <p:nvSpPr>
          <p:cNvPr id="3" name="Content Placeholder 2"/>
          <p:cNvSpPr>
            <a:spLocks noGrp="1"/>
          </p:cNvSpPr>
          <p:nvPr>
            <p:ph idx="1"/>
          </p:nvPr>
        </p:nvSpPr>
        <p:spPr>
          <a:xfrm>
            <a:off x="152400" y="863533"/>
            <a:ext cx="3962400" cy="5994467"/>
          </a:xfrm>
        </p:spPr>
        <p:txBody>
          <a:bodyPr>
            <a:noAutofit/>
          </a:bodyPr>
          <a:lstStyle/>
          <a:p>
            <a:pPr marL="0" marR="0" indent="0" algn="just">
              <a:lnSpc>
                <a:spcPct val="115000"/>
              </a:lnSpc>
              <a:spcBef>
                <a:spcPts val="0"/>
              </a:spcBef>
              <a:spcAft>
                <a:spcPts val="0"/>
              </a:spcAft>
              <a:buNone/>
              <a:tabLst>
                <a:tab pos="1226820" algn="l"/>
              </a:tabLst>
            </a:pPr>
            <a:r>
              <a:rPr lang="en-US" sz="2400" dirty="0">
                <a:latin typeface="Times New Roman"/>
                <a:ea typeface="Calibri"/>
                <a:cs typeface="Times New Roman"/>
              </a:rPr>
              <a:t>#include&lt;lpc214x.h&gt;</a:t>
            </a:r>
            <a:endParaRPr lang="en-US" sz="2400" b="1" dirty="0">
              <a:ea typeface="Calibri"/>
              <a:cs typeface="Times New Roman"/>
            </a:endParaRPr>
          </a:p>
          <a:p>
            <a:pPr marL="0" marR="0" indent="0" algn="just">
              <a:lnSpc>
                <a:spcPct val="115000"/>
              </a:lnSpc>
              <a:spcBef>
                <a:spcPts val="0"/>
              </a:spcBef>
              <a:spcAft>
                <a:spcPts val="0"/>
              </a:spcAft>
              <a:buNone/>
              <a:tabLst>
                <a:tab pos="1226820" algn="l"/>
              </a:tabLst>
            </a:pPr>
            <a:r>
              <a:rPr lang="en-US" sz="2400" dirty="0" err="1">
                <a:latin typeface="Times New Roman"/>
                <a:ea typeface="Calibri"/>
                <a:cs typeface="Times New Roman"/>
              </a:rPr>
              <a:t>int</a:t>
            </a:r>
            <a:r>
              <a:rPr lang="en-US" sz="2400" dirty="0">
                <a:latin typeface="Times New Roman"/>
                <a:ea typeface="Calibri"/>
                <a:cs typeface="Times New Roman"/>
              </a:rPr>
              <a:t> main()</a:t>
            </a:r>
            <a:endParaRPr lang="en-US" sz="2400" b="1" dirty="0">
              <a:ea typeface="Calibri"/>
              <a:cs typeface="Times New Roman"/>
            </a:endParaRPr>
          </a:p>
          <a:p>
            <a:pPr marL="0" marR="0" indent="0" algn="just">
              <a:lnSpc>
                <a:spcPct val="115000"/>
              </a:lnSpc>
              <a:spcBef>
                <a:spcPts val="0"/>
              </a:spcBef>
              <a:spcAft>
                <a:spcPts val="0"/>
              </a:spcAft>
              <a:buNone/>
              <a:tabLst>
                <a:tab pos="1226820" algn="l"/>
              </a:tabLst>
            </a:pPr>
            <a:r>
              <a:rPr lang="en-US" sz="2400" dirty="0">
                <a:latin typeface="Times New Roman"/>
                <a:ea typeface="Calibri"/>
                <a:cs typeface="Times New Roman"/>
              </a:rPr>
              <a:t>{</a:t>
            </a:r>
            <a:endParaRPr lang="en-US" sz="2400" b="1" dirty="0">
              <a:ea typeface="Calibri"/>
              <a:cs typeface="Times New Roman"/>
            </a:endParaRPr>
          </a:p>
          <a:p>
            <a:pPr marL="0" marR="0" indent="0" algn="just">
              <a:lnSpc>
                <a:spcPct val="115000"/>
              </a:lnSpc>
              <a:spcBef>
                <a:spcPts val="0"/>
              </a:spcBef>
              <a:spcAft>
                <a:spcPts val="0"/>
              </a:spcAft>
              <a:buNone/>
              <a:tabLst>
                <a:tab pos="1226820" algn="l"/>
              </a:tabLst>
            </a:pPr>
            <a:r>
              <a:rPr lang="en-US" sz="2400" dirty="0">
                <a:latin typeface="Times New Roman"/>
                <a:ea typeface="Calibri"/>
                <a:cs typeface="Times New Roman"/>
              </a:rPr>
              <a:t>    </a:t>
            </a:r>
            <a:r>
              <a:rPr lang="en-US" sz="2400" dirty="0" smtClean="0">
                <a:latin typeface="Times New Roman"/>
                <a:ea typeface="Calibri"/>
                <a:cs typeface="Times New Roman"/>
              </a:rPr>
              <a:t>IO0DIR0=0x01;</a:t>
            </a:r>
            <a:endParaRPr lang="en-US" sz="2400" b="1" dirty="0">
              <a:ea typeface="Calibri"/>
              <a:cs typeface="Times New Roman"/>
            </a:endParaRPr>
          </a:p>
          <a:p>
            <a:pPr marL="0" marR="0" indent="0" algn="just">
              <a:lnSpc>
                <a:spcPct val="115000"/>
              </a:lnSpc>
              <a:spcBef>
                <a:spcPts val="0"/>
              </a:spcBef>
              <a:spcAft>
                <a:spcPts val="0"/>
              </a:spcAft>
              <a:buNone/>
              <a:tabLst>
                <a:tab pos="1226820" algn="l"/>
              </a:tabLst>
            </a:pPr>
            <a:r>
              <a:rPr lang="en-US" sz="2400" dirty="0">
                <a:latin typeface="Times New Roman"/>
                <a:ea typeface="Calibri"/>
                <a:cs typeface="Times New Roman"/>
              </a:rPr>
              <a:t>    While (1) </a:t>
            </a:r>
            <a:endParaRPr lang="en-US" sz="2400" b="1" dirty="0">
              <a:ea typeface="Calibri"/>
              <a:cs typeface="Times New Roman"/>
            </a:endParaRPr>
          </a:p>
          <a:p>
            <a:pPr marL="0" marR="0" indent="0">
              <a:lnSpc>
                <a:spcPct val="115000"/>
              </a:lnSpc>
              <a:spcBef>
                <a:spcPts val="0"/>
              </a:spcBef>
              <a:spcAft>
                <a:spcPts val="0"/>
              </a:spcAft>
              <a:buNone/>
              <a:tabLst>
                <a:tab pos="1226820" algn="l"/>
              </a:tabLst>
            </a:pPr>
            <a:r>
              <a:rPr lang="en-US" sz="2400" dirty="0">
                <a:latin typeface="Times New Roman"/>
                <a:ea typeface="Calibri"/>
                <a:cs typeface="Times New Roman"/>
              </a:rPr>
              <a:t>   {</a:t>
            </a:r>
            <a:endParaRPr lang="en-US" sz="2400" b="1" dirty="0">
              <a:ea typeface="Calibri"/>
              <a:cs typeface="Times New Roman"/>
            </a:endParaRPr>
          </a:p>
          <a:p>
            <a:pPr marL="0" marR="0" indent="0">
              <a:lnSpc>
                <a:spcPct val="115000"/>
              </a:lnSpc>
              <a:spcBef>
                <a:spcPts val="0"/>
              </a:spcBef>
              <a:spcAft>
                <a:spcPts val="0"/>
              </a:spcAft>
              <a:buNone/>
              <a:tabLst>
                <a:tab pos="1226820" algn="l"/>
              </a:tabLst>
            </a:pPr>
            <a:r>
              <a:rPr lang="en-US" sz="2400" dirty="0">
                <a:latin typeface="Times New Roman"/>
                <a:ea typeface="Calibri"/>
                <a:cs typeface="Times New Roman"/>
              </a:rPr>
              <a:t>     If IOPIN0== </a:t>
            </a:r>
            <a:r>
              <a:rPr lang="en-US" sz="2400" dirty="0" smtClean="0">
                <a:latin typeface="Times New Roman"/>
                <a:ea typeface="Calibri"/>
                <a:cs typeface="Times New Roman"/>
              </a:rPr>
              <a:t>0x01</a:t>
            </a:r>
            <a:endParaRPr lang="en-US" sz="2400" b="1" dirty="0">
              <a:ea typeface="Calibri"/>
              <a:cs typeface="Times New Roman"/>
            </a:endParaRPr>
          </a:p>
          <a:p>
            <a:pPr marL="0" marR="0" indent="0">
              <a:lnSpc>
                <a:spcPct val="115000"/>
              </a:lnSpc>
              <a:spcBef>
                <a:spcPts val="0"/>
              </a:spcBef>
              <a:spcAft>
                <a:spcPts val="0"/>
              </a:spcAft>
              <a:buNone/>
              <a:tabLst>
                <a:tab pos="1226820" algn="l"/>
              </a:tabLst>
            </a:pPr>
            <a:r>
              <a:rPr lang="en-US" sz="2400" dirty="0">
                <a:latin typeface="Times New Roman"/>
                <a:ea typeface="Calibri"/>
                <a:cs typeface="Times New Roman"/>
              </a:rPr>
              <a:t>      {</a:t>
            </a:r>
            <a:endParaRPr lang="en-US" sz="2400" b="1" dirty="0">
              <a:ea typeface="Calibri"/>
              <a:cs typeface="Times New Roman"/>
            </a:endParaRPr>
          </a:p>
          <a:p>
            <a:pPr marL="0" marR="0" indent="0">
              <a:lnSpc>
                <a:spcPct val="115000"/>
              </a:lnSpc>
              <a:spcBef>
                <a:spcPts val="0"/>
              </a:spcBef>
              <a:spcAft>
                <a:spcPts val="0"/>
              </a:spcAft>
              <a:buNone/>
              <a:tabLst>
                <a:tab pos="1226820" algn="l"/>
              </a:tabLst>
            </a:pPr>
            <a:r>
              <a:rPr lang="en-US" sz="2400" dirty="0">
                <a:latin typeface="Times New Roman"/>
                <a:ea typeface="Calibri"/>
                <a:cs typeface="Times New Roman"/>
              </a:rPr>
              <a:t>          IOSET0= 0x02;</a:t>
            </a:r>
            <a:endParaRPr lang="en-US" sz="2400" b="1" dirty="0">
              <a:ea typeface="Calibri"/>
              <a:cs typeface="Times New Roman"/>
            </a:endParaRPr>
          </a:p>
          <a:p>
            <a:pPr marL="0" marR="0" indent="0">
              <a:lnSpc>
                <a:spcPct val="115000"/>
              </a:lnSpc>
              <a:spcBef>
                <a:spcPts val="0"/>
              </a:spcBef>
              <a:spcAft>
                <a:spcPts val="0"/>
              </a:spcAft>
              <a:buNone/>
              <a:tabLst>
                <a:tab pos="1226820" algn="l"/>
              </a:tabLst>
            </a:pPr>
            <a:r>
              <a:rPr lang="en-US" sz="2400" dirty="0">
                <a:latin typeface="Times New Roman"/>
                <a:ea typeface="Calibri"/>
                <a:cs typeface="Times New Roman"/>
              </a:rPr>
              <a:t>          delay();</a:t>
            </a:r>
            <a:endParaRPr lang="en-US" sz="2400" b="1" dirty="0">
              <a:ea typeface="Calibri"/>
              <a:cs typeface="Times New Roman"/>
            </a:endParaRPr>
          </a:p>
          <a:p>
            <a:pPr marL="0" marR="0" indent="0">
              <a:lnSpc>
                <a:spcPct val="115000"/>
              </a:lnSpc>
              <a:spcBef>
                <a:spcPts val="0"/>
              </a:spcBef>
              <a:spcAft>
                <a:spcPts val="0"/>
              </a:spcAft>
              <a:buNone/>
              <a:tabLst>
                <a:tab pos="1226820" algn="l"/>
              </a:tabLst>
            </a:pPr>
            <a:r>
              <a:rPr lang="en-US" sz="2400" dirty="0">
                <a:latin typeface="Times New Roman"/>
                <a:ea typeface="Calibri"/>
                <a:cs typeface="Times New Roman"/>
              </a:rPr>
              <a:t>          IOCLR0= 0x02;</a:t>
            </a:r>
            <a:endParaRPr lang="en-US" sz="2400" b="1" dirty="0">
              <a:ea typeface="Calibri"/>
              <a:cs typeface="Times New Roman"/>
            </a:endParaRPr>
          </a:p>
          <a:p>
            <a:pPr marL="0" marR="0" indent="0">
              <a:lnSpc>
                <a:spcPct val="115000"/>
              </a:lnSpc>
              <a:spcBef>
                <a:spcPts val="0"/>
              </a:spcBef>
              <a:spcAft>
                <a:spcPts val="0"/>
              </a:spcAft>
              <a:buNone/>
              <a:tabLst>
                <a:tab pos="1226820" algn="l"/>
              </a:tabLst>
            </a:pPr>
            <a:r>
              <a:rPr lang="en-US" sz="2400" dirty="0">
                <a:latin typeface="Times New Roman"/>
                <a:ea typeface="Calibri"/>
                <a:cs typeface="Times New Roman"/>
              </a:rPr>
              <a:t>          delay();</a:t>
            </a:r>
            <a:endParaRPr lang="en-US" sz="2400" b="1" dirty="0">
              <a:ea typeface="Calibri"/>
              <a:cs typeface="Times New Roman"/>
            </a:endParaRPr>
          </a:p>
          <a:p>
            <a:pPr marL="0" marR="0" indent="0">
              <a:lnSpc>
                <a:spcPct val="115000"/>
              </a:lnSpc>
              <a:spcBef>
                <a:spcPts val="0"/>
              </a:spcBef>
              <a:spcAft>
                <a:spcPts val="0"/>
              </a:spcAft>
              <a:buNone/>
              <a:tabLst>
                <a:tab pos="1226820" algn="l"/>
              </a:tabLst>
            </a:pPr>
            <a:r>
              <a:rPr lang="en-US" sz="2400" dirty="0">
                <a:latin typeface="Times New Roman"/>
                <a:ea typeface="Calibri"/>
                <a:cs typeface="Times New Roman"/>
              </a:rPr>
              <a:t>      }</a:t>
            </a:r>
            <a:endParaRPr lang="en-US" sz="2400" b="1" dirty="0">
              <a:ea typeface="Calibri"/>
              <a:cs typeface="Times New Roman"/>
            </a:endParaRPr>
          </a:p>
          <a:p>
            <a:pPr marL="0" marR="0" indent="0" algn="just">
              <a:lnSpc>
                <a:spcPct val="115000"/>
              </a:lnSpc>
              <a:spcBef>
                <a:spcPts val="0"/>
              </a:spcBef>
              <a:spcAft>
                <a:spcPts val="0"/>
              </a:spcAft>
              <a:buNone/>
              <a:tabLst>
                <a:tab pos="1226820" algn="l"/>
              </a:tabLst>
            </a:pPr>
            <a:r>
              <a:rPr lang="en-US" sz="2400" dirty="0">
                <a:latin typeface="Times New Roman"/>
                <a:ea typeface="Calibri"/>
                <a:cs typeface="Times New Roman"/>
              </a:rPr>
              <a:t>}</a:t>
            </a:r>
            <a:endParaRPr lang="en-US" sz="2400" b="1" dirty="0">
              <a:ea typeface="Calibri"/>
              <a:cs typeface="Times New Roman"/>
            </a:endParaRPr>
          </a:p>
          <a:p>
            <a:pPr marL="0" marR="0" indent="0" algn="just">
              <a:lnSpc>
                <a:spcPct val="115000"/>
              </a:lnSpc>
              <a:spcBef>
                <a:spcPts val="0"/>
              </a:spcBef>
              <a:spcAft>
                <a:spcPts val="0"/>
              </a:spcAft>
              <a:buNone/>
              <a:tabLst>
                <a:tab pos="1226820" algn="l"/>
              </a:tabLst>
            </a:pPr>
            <a:r>
              <a:rPr lang="en-US" sz="2400" dirty="0">
                <a:latin typeface="Times New Roman"/>
                <a:ea typeface="Calibri"/>
                <a:cs typeface="Times New Roman"/>
              </a:rPr>
              <a:t>		</a:t>
            </a:r>
            <a:r>
              <a:rPr lang="en-US" sz="2400" b="1" dirty="0">
                <a:latin typeface="Times New Roman"/>
                <a:ea typeface="Calibri"/>
                <a:cs typeface="Times New Roman"/>
              </a:rPr>
              <a:t>		</a:t>
            </a:r>
            <a:endParaRPr lang="en-US" sz="2400" b="1" dirty="0">
              <a:ea typeface="Calibri"/>
              <a:cs typeface="Times New Roman"/>
            </a:endParaRPr>
          </a:p>
          <a:p>
            <a:pPr marL="0" indent="0">
              <a:buNone/>
            </a:pPr>
            <a:endParaRPr lang="en-US" sz="2400" dirty="0"/>
          </a:p>
        </p:txBody>
      </p:sp>
      <p:sp>
        <p:nvSpPr>
          <p:cNvPr id="5" name="Rectangle 4"/>
          <p:cNvSpPr/>
          <p:nvPr/>
        </p:nvSpPr>
        <p:spPr>
          <a:xfrm>
            <a:off x="5257800" y="1372189"/>
            <a:ext cx="3505200" cy="2969403"/>
          </a:xfrm>
          <a:prstGeom prst="rect">
            <a:avLst/>
          </a:prstGeom>
        </p:spPr>
        <p:txBody>
          <a:bodyPr wrap="square">
            <a:spAutoFit/>
          </a:bodyPr>
          <a:lstStyle/>
          <a:p>
            <a:pPr lvl="0" algn="just">
              <a:lnSpc>
                <a:spcPct val="115000"/>
              </a:lnSpc>
            </a:pPr>
            <a:r>
              <a:rPr lang="en-US" sz="2800" dirty="0">
                <a:solidFill>
                  <a:prstClr val="black"/>
                </a:solidFill>
                <a:latin typeface="Times New Roman"/>
                <a:ea typeface="Calibri"/>
                <a:cs typeface="Times New Roman"/>
              </a:rPr>
              <a:t>Void delay()</a:t>
            </a:r>
            <a:endParaRPr lang="en-US" sz="2800" b="1" dirty="0">
              <a:solidFill>
                <a:prstClr val="black"/>
              </a:solidFill>
              <a:ea typeface="Calibri"/>
              <a:cs typeface="Times New Roman"/>
            </a:endParaRPr>
          </a:p>
          <a:p>
            <a:pPr lvl="0"/>
            <a:r>
              <a:rPr lang="en-US" sz="2800" dirty="0">
                <a:solidFill>
                  <a:prstClr val="black"/>
                </a:solidFill>
                <a:latin typeface="Times New Roman"/>
                <a:ea typeface="Calibri"/>
                <a:cs typeface="Times New Roman"/>
              </a:rPr>
              <a:t> unsigned </a:t>
            </a:r>
            <a:r>
              <a:rPr lang="en-US" sz="2800" dirty="0" err="1">
                <a:solidFill>
                  <a:prstClr val="black"/>
                </a:solidFill>
                <a:latin typeface="Times New Roman"/>
                <a:ea typeface="Calibri"/>
                <a:cs typeface="Times New Roman"/>
              </a:rPr>
              <a:t>int</a:t>
            </a:r>
            <a:r>
              <a:rPr lang="en-US" sz="2800" dirty="0">
                <a:solidFill>
                  <a:prstClr val="black"/>
                </a:solidFill>
                <a:latin typeface="Times New Roman"/>
                <a:ea typeface="Calibri"/>
                <a:cs typeface="Times New Roman"/>
              </a:rPr>
              <a:t> i, j;</a:t>
            </a:r>
            <a:endParaRPr lang="en-US" sz="2800" b="1" dirty="0">
              <a:solidFill>
                <a:prstClr val="black"/>
              </a:solidFill>
              <a:ea typeface="Calibri"/>
              <a:cs typeface="Times New Roman"/>
            </a:endParaRPr>
          </a:p>
          <a:p>
            <a:pPr lvl="0" algn="just">
              <a:lnSpc>
                <a:spcPct val="115000"/>
              </a:lnSpc>
            </a:pPr>
            <a:r>
              <a:rPr lang="en-US" sz="2800" dirty="0">
                <a:solidFill>
                  <a:prstClr val="black"/>
                </a:solidFill>
                <a:latin typeface="Times New Roman"/>
                <a:ea typeface="Calibri"/>
                <a:cs typeface="Times New Roman"/>
              </a:rPr>
              <a:t>{</a:t>
            </a:r>
            <a:endParaRPr lang="en-US" sz="2800" b="1" dirty="0">
              <a:solidFill>
                <a:prstClr val="black"/>
              </a:solidFill>
              <a:ea typeface="Calibri"/>
              <a:cs typeface="Times New Roman"/>
            </a:endParaRPr>
          </a:p>
          <a:p>
            <a:pPr lvl="0" algn="just">
              <a:lnSpc>
                <a:spcPct val="115000"/>
              </a:lnSpc>
            </a:pPr>
            <a:r>
              <a:rPr lang="en-US" sz="2800" dirty="0">
                <a:solidFill>
                  <a:prstClr val="black"/>
                </a:solidFill>
                <a:latin typeface="Times New Roman"/>
                <a:ea typeface="Calibri"/>
                <a:cs typeface="Times New Roman"/>
              </a:rPr>
              <a:t>for(i=0;i&lt;60000;i++)</a:t>
            </a:r>
            <a:endParaRPr lang="en-US" sz="2800" b="1" dirty="0">
              <a:solidFill>
                <a:prstClr val="black"/>
              </a:solidFill>
              <a:ea typeface="Calibri"/>
              <a:cs typeface="Times New Roman"/>
            </a:endParaRPr>
          </a:p>
          <a:p>
            <a:pPr lvl="0" algn="just">
              <a:lnSpc>
                <a:spcPct val="115000"/>
              </a:lnSpc>
            </a:pPr>
            <a:r>
              <a:rPr lang="en-US" sz="2800" dirty="0">
                <a:solidFill>
                  <a:prstClr val="black"/>
                </a:solidFill>
                <a:latin typeface="Times New Roman"/>
                <a:ea typeface="Calibri"/>
                <a:cs typeface="Times New Roman"/>
              </a:rPr>
              <a:t>for(j=0;j&lt;80000;j++)</a:t>
            </a:r>
            <a:endParaRPr lang="en-US" sz="2800" b="1" dirty="0">
              <a:solidFill>
                <a:prstClr val="black"/>
              </a:solidFill>
              <a:ea typeface="Calibri"/>
              <a:cs typeface="Times New Roman"/>
            </a:endParaRPr>
          </a:p>
          <a:p>
            <a:pPr lvl="0" algn="just">
              <a:lnSpc>
                <a:spcPct val="115000"/>
              </a:lnSpc>
            </a:pPr>
            <a:r>
              <a:rPr lang="en-US" sz="2800" dirty="0">
                <a:solidFill>
                  <a:prstClr val="black"/>
                </a:solidFill>
                <a:latin typeface="Times New Roman"/>
                <a:ea typeface="Calibri"/>
                <a:cs typeface="Times New Roman"/>
              </a:rPr>
              <a:t> }</a:t>
            </a:r>
            <a:endParaRPr lang="en-US" sz="2800" b="1" dirty="0">
              <a:solidFill>
                <a:prstClr val="black"/>
              </a:solidFill>
              <a:ea typeface="Calibri"/>
              <a:cs typeface="Times New Roman"/>
            </a:endParaRPr>
          </a:p>
        </p:txBody>
      </p:sp>
    </p:spTree>
    <p:extLst>
      <p:ext uri="{BB962C8B-B14F-4D97-AF65-F5344CB8AC3E}">
        <p14:creationId xmlns:p14="http://schemas.microsoft.com/office/powerpoint/2010/main" val="71147004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61" y="76200"/>
            <a:ext cx="9144000" cy="563562"/>
          </a:xfrm>
          <a:solidFill>
            <a:schemeClr val="bg1"/>
          </a:solidFill>
        </p:spPr>
        <p:txBody>
          <a:bodyPr>
            <a:noAutofit/>
          </a:bodyPr>
          <a:lstStyle/>
          <a:p>
            <a:pPr marL="171450" marR="0">
              <a:lnSpc>
                <a:spcPct val="115000"/>
              </a:lnSpc>
              <a:spcBef>
                <a:spcPts val="0"/>
              </a:spcBef>
              <a:spcAft>
                <a:spcPts val="0"/>
              </a:spcAft>
            </a:pPr>
            <a:r>
              <a:rPr lang="en-US" sz="3200" b="1" dirty="0">
                <a:latin typeface="Times New Roman"/>
                <a:ea typeface="Calibri"/>
                <a:cs typeface="Times New Roman"/>
              </a:rPr>
              <a:t>Interfacing of soil moisture sensor with LPC </a:t>
            </a:r>
            <a:r>
              <a:rPr lang="en-US" sz="3200" b="1" dirty="0" smtClean="0">
                <a:latin typeface="Times New Roman"/>
                <a:ea typeface="Calibri"/>
                <a:cs typeface="Times New Roman"/>
              </a:rPr>
              <a:t>2148</a:t>
            </a:r>
            <a:endParaRPr lang="en-US" sz="3200" dirty="0"/>
          </a:p>
        </p:txBody>
      </p:sp>
      <p:sp>
        <p:nvSpPr>
          <p:cNvPr id="3" name="Content Placeholder 2"/>
          <p:cNvSpPr>
            <a:spLocks noGrp="1"/>
          </p:cNvSpPr>
          <p:nvPr>
            <p:ph idx="1"/>
          </p:nvPr>
        </p:nvSpPr>
        <p:spPr>
          <a:xfrm>
            <a:off x="152400" y="685800"/>
            <a:ext cx="8991600" cy="6172200"/>
          </a:xfrm>
          <a:solidFill>
            <a:schemeClr val="bg1"/>
          </a:solidFill>
        </p:spPr>
        <p:txBody>
          <a:bodyPr>
            <a:noAutofit/>
          </a:bodyPr>
          <a:lstStyle/>
          <a:p>
            <a:pPr marL="171450" marR="459740" algn="just">
              <a:lnSpc>
                <a:spcPct val="115000"/>
              </a:lnSpc>
              <a:spcBef>
                <a:spcPts val="0"/>
              </a:spcBef>
              <a:spcAft>
                <a:spcPts val="0"/>
              </a:spcAft>
            </a:pPr>
            <a:r>
              <a:rPr lang="en-US" sz="2600" b="1" dirty="0">
                <a:latin typeface="Times New Roman" pitchFamily="18" charset="0"/>
                <a:ea typeface="Calibri"/>
                <a:cs typeface="Times New Roman" pitchFamily="18" charset="0"/>
              </a:rPr>
              <a:t>What is soil moisture sensor </a:t>
            </a:r>
            <a:r>
              <a:rPr lang="en-US" sz="2600" b="1" dirty="0" smtClean="0">
                <a:latin typeface="Times New Roman" pitchFamily="18" charset="0"/>
                <a:ea typeface="Calibri"/>
                <a:cs typeface="Times New Roman" pitchFamily="18" charset="0"/>
              </a:rPr>
              <a:t>module</a:t>
            </a:r>
          </a:p>
          <a:p>
            <a:pPr marL="0" marR="459740" indent="0" algn="just">
              <a:lnSpc>
                <a:spcPct val="115000"/>
              </a:lnSpc>
              <a:spcBef>
                <a:spcPts val="0"/>
              </a:spcBef>
              <a:spcAft>
                <a:spcPts val="0"/>
              </a:spcAft>
              <a:buNone/>
            </a:pPr>
            <a:endParaRPr lang="en-US" sz="1800" b="1" dirty="0">
              <a:latin typeface="Times New Roman" pitchFamily="18" charset="0"/>
              <a:ea typeface="Calibri"/>
              <a:cs typeface="Times New Roman" pitchFamily="18" charset="0"/>
            </a:endParaRPr>
          </a:p>
          <a:p>
            <a:pPr marR="459740" lvl="0" algn="just">
              <a:lnSpc>
                <a:spcPct val="115000"/>
              </a:lnSpc>
              <a:spcBef>
                <a:spcPts val="0"/>
              </a:spcBef>
              <a:buSzPts val="1000"/>
              <a:buFont typeface="Symbol"/>
              <a:buChar char=""/>
              <a:tabLst>
                <a:tab pos="457200" algn="l"/>
              </a:tabLst>
            </a:pPr>
            <a:r>
              <a:rPr lang="en-US" sz="2550" dirty="0">
                <a:latin typeface="Times New Roman" pitchFamily="18" charset="0"/>
                <a:ea typeface="Calibri"/>
                <a:cs typeface="Times New Roman" pitchFamily="18" charset="0"/>
              </a:rPr>
              <a:t>Soil moisture sensor consists of two conducting plates which function as a probe and acting as a variable resistor together. They are used to measure the volumetric content of water. </a:t>
            </a:r>
            <a:endParaRPr lang="en-US" sz="2550" b="1" dirty="0">
              <a:latin typeface="Times New Roman" pitchFamily="18" charset="0"/>
              <a:ea typeface="Calibri"/>
              <a:cs typeface="Times New Roman" pitchFamily="18" charset="0"/>
            </a:endParaRPr>
          </a:p>
          <a:p>
            <a:pPr marR="459740" lvl="0" algn="just">
              <a:lnSpc>
                <a:spcPct val="115000"/>
              </a:lnSpc>
              <a:spcBef>
                <a:spcPts val="0"/>
              </a:spcBef>
              <a:buSzPts val="1000"/>
              <a:buFont typeface="Symbol"/>
              <a:buChar char=""/>
              <a:tabLst>
                <a:tab pos="457200" algn="l"/>
              </a:tabLst>
            </a:pPr>
            <a:r>
              <a:rPr lang="en-US" sz="2550" dirty="0">
                <a:latin typeface="Times New Roman" pitchFamily="18" charset="0"/>
                <a:ea typeface="Calibri"/>
                <a:cs typeface="Times New Roman" pitchFamily="18" charset="0"/>
              </a:rPr>
              <a:t>The two probes allow the current to pass through the soil, which gives the resistance value to measure the moisture value.</a:t>
            </a:r>
            <a:endParaRPr lang="en-US" sz="2550" b="1" dirty="0">
              <a:latin typeface="Times New Roman" pitchFamily="18" charset="0"/>
              <a:ea typeface="Calibri"/>
              <a:cs typeface="Times New Roman" pitchFamily="18" charset="0"/>
            </a:endParaRPr>
          </a:p>
          <a:p>
            <a:pPr marR="459740" lvl="0" algn="just">
              <a:lnSpc>
                <a:spcPct val="115000"/>
              </a:lnSpc>
              <a:spcBef>
                <a:spcPts val="0"/>
              </a:spcBef>
              <a:buSzPts val="1000"/>
              <a:buFont typeface="Symbol"/>
              <a:buChar char=""/>
              <a:tabLst>
                <a:tab pos="457200" algn="l"/>
              </a:tabLst>
            </a:pPr>
            <a:r>
              <a:rPr lang="en-US" sz="2550" dirty="0">
                <a:latin typeface="Times New Roman" pitchFamily="18" charset="0"/>
                <a:ea typeface="Calibri"/>
                <a:cs typeface="Times New Roman" pitchFamily="18" charset="0"/>
              </a:rPr>
              <a:t>When the sensor is inserted into the water, the resistance will decrease and get better conductivity between plates.</a:t>
            </a:r>
            <a:endParaRPr lang="en-US" sz="2550" b="1" dirty="0">
              <a:latin typeface="Times New Roman" pitchFamily="18" charset="0"/>
              <a:ea typeface="Calibri"/>
              <a:cs typeface="Times New Roman" pitchFamily="18" charset="0"/>
            </a:endParaRPr>
          </a:p>
          <a:p>
            <a:pPr marR="459740" lvl="0" algn="just">
              <a:lnSpc>
                <a:spcPct val="115000"/>
              </a:lnSpc>
              <a:spcBef>
                <a:spcPts val="0"/>
              </a:spcBef>
              <a:buSzPts val="1000"/>
              <a:buFont typeface="Symbol"/>
              <a:buChar char=""/>
              <a:tabLst>
                <a:tab pos="457200" algn="l"/>
              </a:tabLst>
            </a:pPr>
            <a:r>
              <a:rPr lang="en-US" sz="2550" dirty="0">
                <a:latin typeface="Times New Roman" pitchFamily="18" charset="0"/>
                <a:ea typeface="Calibri"/>
                <a:cs typeface="Times New Roman" pitchFamily="18" charset="0"/>
              </a:rPr>
              <a:t>Dry soil conducts electricity poorly, so when there is less water, then the soil will conduct less electricity, which means that there will be more resistance</a:t>
            </a:r>
            <a:r>
              <a:rPr lang="en-US" sz="2600" dirty="0">
                <a:latin typeface="Times New Roman" pitchFamily="18" charset="0"/>
                <a:ea typeface="Calibri"/>
                <a:cs typeface="Times New Roman" pitchFamily="18" charset="0"/>
              </a:rPr>
              <a:t>. </a:t>
            </a:r>
            <a:endParaRPr lang="en-US" sz="2600" b="1" dirty="0">
              <a:latin typeface="Times New Roman" pitchFamily="18" charset="0"/>
              <a:ea typeface="Calibri"/>
              <a:cs typeface="Times New Roman" pitchFamily="18" charset="0"/>
            </a:endParaRPr>
          </a:p>
          <a:p>
            <a:pPr marL="171450" marR="459740" algn="just">
              <a:lnSpc>
                <a:spcPct val="115000"/>
              </a:lnSpc>
              <a:spcBef>
                <a:spcPts val="0"/>
              </a:spcBef>
              <a:spcAft>
                <a:spcPts val="0"/>
              </a:spcAft>
            </a:pPr>
            <a:endParaRPr lang="en-US" sz="2600" b="1" dirty="0">
              <a:latin typeface="Times New Roman" pitchFamily="18" charset="0"/>
              <a:ea typeface="Calibri"/>
              <a:cs typeface="Times New Roman" pitchFamily="18" charset="0"/>
            </a:endParaRPr>
          </a:p>
          <a:p>
            <a:pPr marL="0" indent="0">
              <a:buNone/>
            </a:pPr>
            <a:endParaRPr lang="en-US" sz="2600" dirty="0">
              <a:latin typeface="Times New Roman" pitchFamily="18" charset="0"/>
              <a:cs typeface="Times New Roman" pitchFamily="18" charset="0"/>
            </a:endParaRPr>
          </a:p>
        </p:txBody>
      </p:sp>
    </p:spTree>
    <p:extLst>
      <p:ext uri="{BB962C8B-B14F-4D97-AF65-F5344CB8AC3E}">
        <p14:creationId xmlns:p14="http://schemas.microsoft.com/office/powerpoint/2010/main" val="197175057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63562"/>
          </a:xfrm>
          <a:solidFill>
            <a:schemeClr val="bg1"/>
          </a:solidFill>
        </p:spPr>
        <p:txBody>
          <a:bodyPr>
            <a:noAutofit/>
          </a:bodyPr>
          <a:lstStyle/>
          <a:p>
            <a:pPr marL="171450" marR="0">
              <a:lnSpc>
                <a:spcPct val="115000"/>
              </a:lnSpc>
              <a:spcBef>
                <a:spcPts val="0"/>
              </a:spcBef>
              <a:spcAft>
                <a:spcPts val="0"/>
              </a:spcAft>
            </a:pPr>
            <a:r>
              <a:rPr lang="en-US" sz="3200" b="1" dirty="0">
                <a:latin typeface="Times New Roman"/>
                <a:ea typeface="Calibri"/>
                <a:cs typeface="Times New Roman"/>
              </a:rPr>
              <a:t>Interfacing of soil moisture sensor with LPC </a:t>
            </a:r>
            <a:r>
              <a:rPr lang="en-US" sz="3200" b="1" dirty="0" smtClean="0">
                <a:latin typeface="Times New Roman"/>
                <a:ea typeface="Calibri"/>
                <a:cs typeface="Times New Roman"/>
              </a:rPr>
              <a:t>2148</a:t>
            </a:r>
            <a:endParaRPr lang="en-US" sz="3200" dirty="0"/>
          </a:p>
        </p:txBody>
      </p:sp>
      <p:sp>
        <p:nvSpPr>
          <p:cNvPr id="4" name="Footer Placeholder 3"/>
          <p:cNvSpPr>
            <a:spLocks noGrp="1"/>
          </p:cNvSpPr>
          <p:nvPr>
            <p:ph type="ftr" sz="quarter" idx="11"/>
          </p:nvPr>
        </p:nvSpPr>
        <p:spPr/>
        <p:txBody>
          <a:bodyPr/>
          <a:lstStyle/>
          <a:p>
            <a:r>
              <a:rPr lang="en-US" smtClean="0"/>
              <a:t>Prof. S. A. Shaikh</a:t>
            </a:r>
            <a:endParaRPr lang="en-US"/>
          </a:p>
        </p:txBody>
      </p:sp>
      <p:pic>
        <p:nvPicPr>
          <p:cNvPr id="5" name="Content Placeholder 4"/>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00" y="1066800"/>
            <a:ext cx="4495800" cy="3386326"/>
          </a:xfrm>
          <a:prstGeom prst="rect">
            <a:avLst/>
          </a:prstGeom>
          <a:noFill/>
          <a:ln>
            <a:noFill/>
          </a:ln>
        </p:spPr>
      </p:pic>
      <p:sp>
        <p:nvSpPr>
          <p:cNvPr id="6" name="Rectangle 5"/>
          <p:cNvSpPr/>
          <p:nvPr/>
        </p:nvSpPr>
        <p:spPr>
          <a:xfrm>
            <a:off x="1447800" y="695475"/>
            <a:ext cx="5687839" cy="490199"/>
          </a:xfrm>
          <a:prstGeom prst="rect">
            <a:avLst/>
          </a:prstGeom>
          <a:solidFill>
            <a:schemeClr val="bg1"/>
          </a:solidFill>
        </p:spPr>
        <p:txBody>
          <a:bodyPr wrap="none">
            <a:spAutoFit/>
          </a:bodyPr>
          <a:lstStyle/>
          <a:p>
            <a:pPr>
              <a:lnSpc>
                <a:spcPct val="115000"/>
              </a:lnSpc>
              <a:spcAft>
                <a:spcPts val="1500"/>
              </a:spcAft>
            </a:pPr>
            <a:r>
              <a:rPr lang="en-US" sz="2400" b="1" dirty="0">
                <a:solidFill>
                  <a:srgbClr val="333E48"/>
                </a:solidFill>
                <a:latin typeface="Times New Roman"/>
                <a:ea typeface="Times New Roman"/>
                <a:cs typeface="Times New Roman"/>
              </a:rPr>
              <a:t>Soil moisture sensor pin out configuration</a:t>
            </a:r>
            <a:endParaRPr lang="en-US" dirty="0">
              <a:ea typeface="Calibri"/>
              <a:cs typeface="Times New Roman"/>
            </a:endParaRPr>
          </a:p>
        </p:txBody>
      </p:sp>
      <p:graphicFrame>
        <p:nvGraphicFramePr>
          <p:cNvPr id="7" name="Table 6"/>
          <p:cNvGraphicFramePr>
            <a:graphicFrameLocks noGrp="1"/>
          </p:cNvGraphicFramePr>
          <p:nvPr>
            <p:extLst>
              <p:ext uri="{D42A27DB-BD31-4B8C-83A1-F6EECF244321}">
                <p14:modId xmlns:p14="http://schemas.microsoft.com/office/powerpoint/2010/main" val="985517597"/>
              </p:ext>
            </p:extLst>
          </p:nvPr>
        </p:nvGraphicFramePr>
        <p:xfrm>
          <a:off x="1295400" y="4800600"/>
          <a:ext cx="6096000" cy="1752600"/>
        </p:xfrm>
        <a:graphic>
          <a:graphicData uri="http://schemas.openxmlformats.org/drawingml/2006/table">
            <a:tbl>
              <a:tblPr firstRow="1" firstCol="1" bandRow="1"/>
              <a:tblGrid>
                <a:gridCol w="1282874">
                  <a:extLst>
                    <a:ext uri="{9D8B030D-6E8A-4147-A177-3AD203B41FA5}">
                      <a16:colId xmlns="" xmlns:a16="http://schemas.microsoft.com/office/drawing/2014/main" val="20000"/>
                    </a:ext>
                  </a:extLst>
                </a:gridCol>
                <a:gridCol w="4813126">
                  <a:extLst>
                    <a:ext uri="{9D8B030D-6E8A-4147-A177-3AD203B41FA5}">
                      <a16:colId xmlns="" xmlns:a16="http://schemas.microsoft.com/office/drawing/2014/main" val="20001"/>
                    </a:ext>
                  </a:extLst>
                </a:gridCol>
              </a:tblGrid>
              <a:tr h="350520">
                <a:tc>
                  <a:txBody>
                    <a:bodyPr/>
                    <a:lstStyle/>
                    <a:p>
                      <a:pPr marL="0" marR="0" algn="ctr">
                        <a:lnSpc>
                          <a:spcPts val="1650"/>
                        </a:lnSpc>
                        <a:spcBef>
                          <a:spcPts val="0"/>
                        </a:spcBef>
                        <a:spcAft>
                          <a:spcPts val="0"/>
                        </a:spcAft>
                      </a:pPr>
                      <a:r>
                        <a:rPr lang="en-US" sz="1600" b="1" dirty="0">
                          <a:solidFill>
                            <a:srgbClr val="333E48"/>
                          </a:solidFill>
                          <a:effectLst/>
                          <a:latin typeface="Times New Roman"/>
                          <a:ea typeface="Times New Roman"/>
                          <a:cs typeface="Times New Roman"/>
                        </a:rPr>
                        <a:t>Pin Name</a:t>
                      </a:r>
                      <a:endParaRPr lang="en-US" sz="1600" dirty="0">
                        <a:effectLst/>
                        <a:latin typeface="Calibri"/>
                        <a:ea typeface="Calibri"/>
                        <a:cs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ts val="1650"/>
                        </a:lnSpc>
                        <a:spcBef>
                          <a:spcPts val="0"/>
                        </a:spcBef>
                        <a:spcAft>
                          <a:spcPts val="0"/>
                        </a:spcAft>
                      </a:pPr>
                      <a:r>
                        <a:rPr lang="en-US" sz="1600" b="1">
                          <a:solidFill>
                            <a:srgbClr val="333E48"/>
                          </a:solidFill>
                          <a:effectLst/>
                          <a:latin typeface="Times New Roman"/>
                          <a:ea typeface="Times New Roman"/>
                          <a:cs typeface="Times New Roman"/>
                        </a:rPr>
                        <a:t>Description</a:t>
                      </a:r>
                      <a:endParaRPr lang="en-US" sz="1600">
                        <a:effectLst/>
                        <a:latin typeface="Calibri"/>
                        <a:ea typeface="Calibri"/>
                        <a:cs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00"/>
                  </a:ext>
                </a:extLst>
              </a:tr>
              <a:tr h="350520">
                <a:tc>
                  <a:txBody>
                    <a:bodyPr/>
                    <a:lstStyle/>
                    <a:p>
                      <a:pPr marL="0" marR="0" algn="ctr">
                        <a:lnSpc>
                          <a:spcPts val="1650"/>
                        </a:lnSpc>
                        <a:spcBef>
                          <a:spcPts val="0"/>
                        </a:spcBef>
                        <a:spcAft>
                          <a:spcPts val="0"/>
                        </a:spcAft>
                      </a:pPr>
                      <a:r>
                        <a:rPr lang="en-US" sz="1600" dirty="0">
                          <a:solidFill>
                            <a:srgbClr val="333E48"/>
                          </a:solidFill>
                          <a:effectLst/>
                          <a:latin typeface="Times New Roman"/>
                          <a:ea typeface="Times New Roman"/>
                          <a:cs typeface="Times New Roman"/>
                        </a:rPr>
                        <a:t>VCC      </a:t>
                      </a:r>
                      <a:endParaRPr lang="en-US" sz="1600" dirty="0">
                        <a:effectLst/>
                        <a:latin typeface="Calibri"/>
                        <a:ea typeface="Calibri"/>
                        <a:cs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ts val="1650"/>
                        </a:lnSpc>
                        <a:spcBef>
                          <a:spcPts val="0"/>
                        </a:spcBef>
                        <a:spcAft>
                          <a:spcPts val="0"/>
                        </a:spcAft>
                      </a:pPr>
                      <a:r>
                        <a:rPr lang="en-US" sz="1600" dirty="0">
                          <a:solidFill>
                            <a:srgbClr val="333E48"/>
                          </a:solidFill>
                          <a:effectLst/>
                          <a:latin typeface="Times New Roman"/>
                          <a:ea typeface="Times New Roman"/>
                          <a:cs typeface="Times New Roman"/>
                        </a:rPr>
                        <a:t>The VCC pin powers the module, typically with +5V</a:t>
                      </a:r>
                      <a:endParaRPr lang="en-US" sz="1600" dirty="0">
                        <a:effectLst/>
                        <a:latin typeface="Calibri"/>
                        <a:ea typeface="Calibri"/>
                        <a:cs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350520">
                <a:tc>
                  <a:txBody>
                    <a:bodyPr/>
                    <a:lstStyle/>
                    <a:p>
                      <a:pPr marL="0" marR="0" algn="ctr">
                        <a:lnSpc>
                          <a:spcPts val="1650"/>
                        </a:lnSpc>
                        <a:spcBef>
                          <a:spcPts val="0"/>
                        </a:spcBef>
                        <a:spcAft>
                          <a:spcPts val="0"/>
                        </a:spcAft>
                      </a:pPr>
                      <a:r>
                        <a:rPr lang="en-US" sz="1600" dirty="0" smtClean="0">
                          <a:solidFill>
                            <a:srgbClr val="333E48"/>
                          </a:solidFill>
                          <a:effectLst/>
                          <a:latin typeface="Times New Roman"/>
                          <a:ea typeface="Times New Roman"/>
                          <a:cs typeface="Times New Roman"/>
                        </a:rPr>
                        <a:t> GND</a:t>
                      </a:r>
                      <a:r>
                        <a:rPr lang="en-US" sz="1600" dirty="0">
                          <a:solidFill>
                            <a:srgbClr val="333E48"/>
                          </a:solidFill>
                          <a:effectLst/>
                          <a:latin typeface="Times New Roman"/>
                          <a:ea typeface="Times New Roman"/>
                          <a:cs typeface="Times New Roman"/>
                        </a:rPr>
                        <a:t> </a:t>
                      </a:r>
                      <a:endParaRPr lang="en-US" sz="1600" dirty="0">
                        <a:effectLst/>
                        <a:latin typeface="Calibri"/>
                        <a:ea typeface="Calibri"/>
                        <a:cs typeface="Times New Roman"/>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ts val="1650"/>
                        </a:lnSpc>
                        <a:spcBef>
                          <a:spcPts val="0"/>
                        </a:spcBef>
                        <a:spcAft>
                          <a:spcPts val="0"/>
                        </a:spcAft>
                      </a:pPr>
                      <a:r>
                        <a:rPr lang="en-US" sz="1600" dirty="0">
                          <a:solidFill>
                            <a:srgbClr val="333E48"/>
                          </a:solidFill>
                          <a:effectLst/>
                          <a:latin typeface="Times New Roman"/>
                          <a:ea typeface="Times New Roman"/>
                          <a:cs typeface="Times New Roman"/>
                        </a:rPr>
                        <a:t>Power Supply Ground</a:t>
                      </a:r>
                      <a:endParaRPr lang="en-US" sz="1600" dirty="0">
                        <a:effectLst/>
                        <a:latin typeface="Calibri"/>
                        <a:ea typeface="Calibri"/>
                        <a:cs typeface="Times New Roman"/>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02"/>
                  </a:ext>
                </a:extLst>
              </a:tr>
              <a:tr h="350520">
                <a:tc>
                  <a:txBody>
                    <a:bodyPr/>
                    <a:lstStyle/>
                    <a:p>
                      <a:pPr marL="0" marR="0" algn="ctr">
                        <a:lnSpc>
                          <a:spcPts val="1650"/>
                        </a:lnSpc>
                        <a:spcBef>
                          <a:spcPts val="0"/>
                        </a:spcBef>
                        <a:spcAft>
                          <a:spcPts val="0"/>
                        </a:spcAft>
                      </a:pPr>
                      <a:r>
                        <a:rPr lang="en-US" sz="1600" dirty="0">
                          <a:solidFill>
                            <a:srgbClr val="333E48"/>
                          </a:solidFill>
                          <a:effectLst/>
                          <a:latin typeface="Times New Roman"/>
                          <a:ea typeface="Times New Roman"/>
                          <a:cs typeface="Times New Roman"/>
                        </a:rPr>
                        <a:t>DO </a:t>
                      </a:r>
                      <a:endParaRPr lang="en-US" sz="1600" dirty="0">
                        <a:effectLst/>
                        <a:latin typeface="Calibri"/>
                        <a:ea typeface="Calibri"/>
                        <a:cs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ts val="1650"/>
                        </a:lnSpc>
                        <a:spcBef>
                          <a:spcPts val="0"/>
                        </a:spcBef>
                        <a:spcAft>
                          <a:spcPts val="0"/>
                        </a:spcAft>
                      </a:pPr>
                      <a:r>
                        <a:rPr lang="en-US" sz="1600" dirty="0">
                          <a:solidFill>
                            <a:srgbClr val="333E48"/>
                          </a:solidFill>
                          <a:effectLst/>
                          <a:latin typeface="Times New Roman"/>
                          <a:ea typeface="Times New Roman"/>
                          <a:cs typeface="Times New Roman"/>
                        </a:rPr>
                        <a:t>Digital Out Pin for Digital Output</a:t>
                      </a:r>
                      <a:endParaRPr lang="en-US" sz="1600" dirty="0">
                        <a:effectLst/>
                        <a:latin typeface="Calibri"/>
                        <a:ea typeface="Calibri"/>
                        <a:cs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350520">
                <a:tc>
                  <a:txBody>
                    <a:bodyPr/>
                    <a:lstStyle/>
                    <a:p>
                      <a:pPr marL="0" marR="0" algn="ctr">
                        <a:lnSpc>
                          <a:spcPts val="1650"/>
                        </a:lnSpc>
                        <a:spcBef>
                          <a:spcPts val="0"/>
                        </a:spcBef>
                        <a:spcAft>
                          <a:spcPts val="0"/>
                        </a:spcAft>
                      </a:pPr>
                      <a:r>
                        <a:rPr lang="en-US" sz="1600" dirty="0">
                          <a:solidFill>
                            <a:srgbClr val="333E48"/>
                          </a:solidFill>
                          <a:effectLst/>
                          <a:latin typeface="Times New Roman"/>
                          <a:ea typeface="Times New Roman"/>
                          <a:cs typeface="Times New Roman"/>
                        </a:rPr>
                        <a:t>AO</a:t>
                      </a:r>
                      <a:endParaRPr lang="en-US" sz="1600" dirty="0">
                        <a:effectLst/>
                        <a:latin typeface="Calibri"/>
                        <a:ea typeface="Calibri"/>
                        <a:cs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ts val="1650"/>
                        </a:lnSpc>
                        <a:spcBef>
                          <a:spcPts val="0"/>
                        </a:spcBef>
                        <a:spcAft>
                          <a:spcPts val="0"/>
                        </a:spcAft>
                      </a:pPr>
                      <a:r>
                        <a:rPr lang="en-US" sz="1600" dirty="0">
                          <a:solidFill>
                            <a:srgbClr val="333E48"/>
                          </a:solidFill>
                          <a:effectLst/>
                          <a:latin typeface="Times New Roman"/>
                          <a:ea typeface="Times New Roman"/>
                          <a:cs typeface="Times New Roman"/>
                        </a:rPr>
                        <a:t>Analog out Pin for Analog Output</a:t>
                      </a:r>
                      <a:endParaRPr lang="en-US" sz="1600" dirty="0">
                        <a:effectLst/>
                        <a:latin typeface="Calibri"/>
                        <a:ea typeface="Calibri"/>
                        <a:cs typeface="Times New Roman"/>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04"/>
                  </a:ext>
                </a:extLst>
              </a:tr>
            </a:tbl>
          </a:graphicData>
        </a:graphic>
      </p:graphicFrame>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5029200" y="1676400"/>
            <a:ext cx="4114800" cy="2362200"/>
          </a:xfrm>
          <a:prstGeom prst="rect">
            <a:avLst/>
          </a:prstGeom>
          <a:noFill/>
          <a:ln>
            <a:noFill/>
          </a:ln>
        </p:spPr>
      </p:pic>
    </p:spTree>
    <p:extLst>
      <p:ext uri="{BB962C8B-B14F-4D97-AF65-F5344CB8AC3E}">
        <p14:creationId xmlns:p14="http://schemas.microsoft.com/office/powerpoint/2010/main" val="321623803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61" y="76200"/>
            <a:ext cx="9144000" cy="563562"/>
          </a:xfrm>
          <a:solidFill>
            <a:schemeClr val="bg1"/>
          </a:solidFill>
        </p:spPr>
        <p:txBody>
          <a:bodyPr>
            <a:noAutofit/>
          </a:bodyPr>
          <a:lstStyle/>
          <a:p>
            <a:pPr marL="171450" marR="0">
              <a:lnSpc>
                <a:spcPct val="115000"/>
              </a:lnSpc>
              <a:spcBef>
                <a:spcPts val="0"/>
              </a:spcBef>
              <a:spcAft>
                <a:spcPts val="0"/>
              </a:spcAft>
            </a:pPr>
            <a:r>
              <a:rPr lang="en-US" sz="3200" b="1" dirty="0">
                <a:latin typeface="Times New Roman"/>
                <a:ea typeface="Calibri"/>
                <a:cs typeface="Times New Roman"/>
              </a:rPr>
              <a:t>Interfacing of soil moisture sensor with LPC </a:t>
            </a:r>
            <a:r>
              <a:rPr lang="en-US" sz="3200" b="1" dirty="0" smtClean="0">
                <a:latin typeface="Times New Roman"/>
                <a:ea typeface="Calibri"/>
                <a:cs typeface="Times New Roman"/>
              </a:rPr>
              <a:t>2148</a:t>
            </a:r>
            <a:endParaRPr lang="en-US" sz="3200" dirty="0"/>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914400"/>
            <a:ext cx="8382000"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581683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87362"/>
          </a:xfrm>
          <a:solidFill>
            <a:schemeClr val="bg1"/>
          </a:solidFill>
        </p:spPr>
        <p:txBody>
          <a:bodyPr>
            <a:noAutofit/>
          </a:bodyPr>
          <a:lstStyle/>
          <a:p>
            <a:r>
              <a:rPr lang="en-US" sz="3200" b="1" dirty="0">
                <a:latin typeface="Times New Roman"/>
                <a:ea typeface="Calibri"/>
                <a:cs typeface="Times New Roman"/>
              </a:rPr>
              <a:t>Program Using Digital output </a:t>
            </a:r>
            <a:r>
              <a:rPr lang="en-US" sz="3200" b="1" dirty="0" smtClean="0">
                <a:latin typeface="Times New Roman"/>
                <a:ea typeface="Calibri"/>
                <a:cs typeface="Times New Roman"/>
              </a:rPr>
              <a:t>D0</a:t>
            </a:r>
            <a:endParaRPr lang="en-US" sz="3200" dirty="0"/>
          </a:p>
        </p:txBody>
      </p:sp>
      <p:sp>
        <p:nvSpPr>
          <p:cNvPr id="3" name="Content Placeholder 2"/>
          <p:cNvSpPr>
            <a:spLocks noGrp="1"/>
          </p:cNvSpPr>
          <p:nvPr>
            <p:ph idx="1"/>
          </p:nvPr>
        </p:nvSpPr>
        <p:spPr>
          <a:xfrm>
            <a:off x="1981200" y="685800"/>
            <a:ext cx="4953000" cy="6096000"/>
          </a:xfrm>
          <a:solidFill>
            <a:schemeClr val="bg1"/>
          </a:solidFill>
        </p:spPr>
        <p:txBody>
          <a:bodyPr>
            <a:noAutofit/>
          </a:bodyPr>
          <a:lstStyle/>
          <a:p>
            <a:pPr marL="0" marR="0" indent="0">
              <a:lnSpc>
                <a:spcPct val="115000"/>
              </a:lnSpc>
              <a:spcBef>
                <a:spcPts val="0"/>
              </a:spcBef>
              <a:spcAft>
                <a:spcPts val="0"/>
              </a:spcAft>
              <a:buNone/>
            </a:pPr>
            <a:r>
              <a:rPr lang="en-US" sz="2800" dirty="0">
                <a:latin typeface="Times New Roman"/>
                <a:ea typeface="Calibri"/>
                <a:cs typeface="Times New Roman"/>
              </a:rPr>
              <a:t>#include&lt;lpc214x.h&gt;</a:t>
            </a:r>
            <a:br>
              <a:rPr lang="en-US" sz="2800" dirty="0">
                <a:latin typeface="Times New Roman"/>
                <a:ea typeface="Calibri"/>
                <a:cs typeface="Times New Roman"/>
              </a:rPr>
            </a:br>
            <a:r>
              <a:rPr lang="en-US" sz="2800" dirty="0" err="1">
                <a:latin typeface="Times New Roman"/>
                <a:ea typeface="Calibri"/>
                <a:cs typeface="Times New Roman"/>
              </a:rPr>
              <a:t>int</a:t>
            </a:r>
            <a:r>
              <a:rPr lang="en-US" sz="2800" dirty="0">
                <a:latin typeface="Times New Roman"/>
                <a:ea typeface="Calibri"/>
                <a:cs typeface="Times New Roman"/>
              </a:rPr>
              <a:t> main()</a:t>
            </a:r>
            <a:br>
              <a:rPr lang="en-US" sz="2800" dirty="0">
                <a:latin typeface="Times New Roman"/>
                <a:ea typeface="Calibri"/>
                <a:cs typeface="Times New Roman"/>
              </a:rPr>
            </a:br>
            <a:r>
              <a:rPr lang="en-US" sz="2800" dirty="0">
                <a:latin typeface="Times New Roman"/>
                <a:ea typeface="Calibri"/>
                <a:cs typeface="Times New Roman"/>
              </a:rPr>
              <a:t>{ </a:t>
            </a:r>
            <a:endParaRPr lang="en-US" sz="2800" b="1" dirty="0">
              <a:ea typeface="Calibri"/>
              <a:cs typeface="Times New Roman"/>
            </a:endParaRPr>
          </a:p>
          <a:p>
            <a:pPr marL="0" marR="0" indent="0">
              <a:lnSpc>
                <a:spcPct val="115000"/>
              </a:lnSpc>
              <a:spcBef>
                <a:spcPts val="0"/>
              </a:spcBef>
              <a:spcAft>
                <a:spcPts val="0"/>
              </a:spcAft>
              <a:buNone/>
            </a:pPr>
            <a:r>
              <a:rPr lang="en-US" sz="2800" dirty="0">
                <a:latin typeface="Times New Roman"/>
                <a:ea typeface="Calibri"/>
                <a:cs typeface="Times New Roman"/>
              </a:rPr>
              <a:t>PINSEL0=0X00000002;</a:t>
            </a:r>
            <a:endParaRPr lang="en-US" sz="2800" b="1" dirty="0">
              <a:ea typeface="Calibri"/>
              <a:cs typeface="Times New Roman"/>
            </a:endParaRPr>
          </a:p>
          <a:p>
            <a:pPr marL="0" marR="0" indent="0">
              <a:lnSpc>
                <a:spcPct val="115000"/>
              </a:lnSpc>
              <a:spcBef>
                <a:spcPts val="0"/>
              </a:spcBef>
              <a:spcAft>
                <a:spcPts val="0"/>
              </a:spcAft>
              <a:buNone/>
            </a:pPr>
            <a:r>
              <a:rPr lang="en-US" sz="2800" dirty="0">
                <a:latin typeface="Times New Roman"/>
                <a:ea typeface="Calibri"/>
                <a:cs typeface="Times New Roman"/>
              </a:rPr>
              <a:t>while(1)</a:t>
            </a:r>
            <a:endParaRPr lang="en-US" sz="2800" b="1" dirty="0">
              <a:ea typeface="Calibri"/>
              <a:cs typeface="Times New Roman"/>
            </a:endParaRPr>
          </a:p>
          <a:p>
            <a:pPr marL="0" marR="0" indent="0">
              <a:lnSpc>
                <a:spcPct val="115000"/>
              </a:lnSpc>
              <a:spcBef>
                <a:spcPts val="0"/>
              </a:spcBef>
              <a:spcAft>
                <a:spcPts val="0"/>
              </a:spcAft>
              <a:buNone/>
            </a:pPr>
            <a:r>
              <a:rPr lang="en-US" sz="2800" dirty="0">
                <a:latin typeface="Times New Roman"/>
                <a:ea typeface="Calibri"/>
                <a:cs typeface="Times New Roman"/>
              </a:rPr>
              <a:t>   {</a:t>
            </a:r>
            <a:endParaRPr lang="en-US" sz="2800" b="1" dirty="0">
              <a:ea typeface="Calibri"/>
              <a:cs typeface="Times New Roman"/>
            </a:endParaRPr>
          </a:p>
          <a:p>
            <a:pPr marL="0" marR="0" indent="0">
              <a:lnSpc>
                <a:spcPct val="115000"/>
              </a:lnSpc>
              <a:spcBef>
                <a:spcPts val="0"/>
              </a:spcBef>
              <a:spcAft>
                <a:spcPts val="0"/>
              </a:spcAft>
              <a:buNone/>
            </a:pPr>
            <a:r>
              <a:rPr lang="en-US" sz="2800" dirty="0" smtClean="0">
                <a:latin typeface="Times New Roman"/>
                <a:ea typeface="Calibri"/>
                <a:cs typeface="Times New Roman"/>
              </a:rPr>
              <a:t>if </a:t>
            </a:r>
            <a:r>
              <a:rPr lang="en-US" sz="2800" dirty="0">
                <a:latin typeface="Times New Roman"/>
                <a:ea typeface="Calibri"/>
                <a:cs typeface="Times New Roman"/>
              </a:rPr>
              <a:t>(P0.0 == 1)</a:t>
            </a:r>
            <a:endParaRPr lang="en-US" sz="2800" b="1" dirty="0">
              <a:ea typeface="Calibri"/>
              <a:cs typeface="Times New Roman"/>
            </a:endParaRPr>
          </a:p>
          <a:p>
            <a:pPr marL="0" marR="0" indent="0">
              <a:lnSpc>
                <a:spcPct val="115000"/>
              </a:lnSpc>
              <a:spcBef>
                <a:spcPts val="0"/>
              </a:spcBef>
              <a:spcAft>
                <a:spcPts val="0"/>
              </a:spcAft>
              <a:buNone/>
            </a:pPr>
            <a:r>
              <a:rPr lang="en-US" sz="2800" b="1" dirty="0">
                <a:latin typeface="Times New Roman"/>
                <a:ea typeface="Calibri"/>
                <a:cs typeface="Times New Roman"/>
              </a:rPr>
              <a:t>    </a:t>
            </a:r>
            <a:r>
              <a:rPr lang="en-US" sz="2800" dirty="0">
                <a:latin typeface="Times New Roman"/>
                <a:ea typeface="Calibri"/>
                <a:cs typeface="Times New Roman"/>
              </a:rPr>
              <a:t>IO0SET- 0x0000002</a:t>
            </a:r>
            <a:r>
              <a:rPr lang="en-US" sz="2800" b="1" dirty="0">
                <a:latin typeface="Times New Roman"/>
                <a:ea typeface="Calibri"/>
                <a:cs typeface="Times New Roman"/>
              </a:rPr>
              <a:t>;</a:t>
            </a:r>
            <a:endParaRPr lang="en-US" sz="2800" b="1" dirty="0">
              <a:ea typeface="Calibri"/>
              <a:cs typeface="Times New Roman"/>
            </a:endParaRPr>
          </a:p>
          <a:p>
            <a:pPr marL="0" marR="0" indent="0">
              <a:lnSpc>
                <a:spcPct val="115000"/>
              </a:lnSpc>
              <a:spcBef>
                <a:spcPts val="0"/>
              </a:spcBef>
              <a:spcAft>
                <a:spcPts val="0"/>
              </a:spcAft>
              <a:buNone/>
            </a:pPr>
            <a:r>
              <a:rPr lang="en-US" sz="2800" dirty="0">
                <a:latin typeface="Times New Roman"/>
                <a:ea typeface="Calibri"/>
                <a:cs typeface="Times New Roman"/>
              </a:rPr>
              <a:t>else</a:t>
            </a:r>
            <a:endParaRPr lang="en-US" sz="2800" b="1" dirty="0">
              <a:ea typeface="Calibri"/>
              <a:cs typeface="Times New Roman"/>
            </a:endParaRPr>
          </a:p>
          <a:p>
            <a:pPr marL="0" marR="0" indent="0">
              <a:lnSpc>
                <a:spcPct val="115000"/>
              </a:lnSpc>
              <a:spcBef>
                <a:spcPts val="0"/>
              </a:spcBef>
              <a:spcAft>
                <a:spcPts val="0"/>
              </a:spcAft>
              <a:buNone/>
            </a:pPr>
            <a:r>
              <a:rPr lang="en-US" sz="2800" b="1" dirty="0">
                <a:latin typeface="Times New Roman"/>
                <a:ea typeface="Calibri"/>
                <a:cs typeface="Times New Roman"/>
              </a:rPr>
              <a:t>    </a:t>
            </a:r>
            <a:r>
              <a:rPr lang="en-US" sz="2800" dirty="0">
                <a:latin typeface="Times New Roman"/>
                <a:ea typeface="Calibri"/>
                <a:cs typeface="Times New Roman"/>
              </a:rPr>
              <a:t>IO0SET- 0x0000000</a:t>
            </a:r>
            <a:r>
              <a:rPr lang="en-US" sz="2800" b="1" dirty="0">
                <a:latin typeface="Times New Roman"/>
                <a:ea typeface="Calibri"/>
                <a:cs typeface="Times New Roman"/>
              </a:rPr>
              <a:t>;</a:t>
            </a:r>
            <a:endParaRPr lang="en-US" sz="2800" b="1" dirty="0">
              <a:ea typeface="Calibri"/>
              <a:cs typeface="Times New Roman"/>
            </a:endParaRPr>
          </a:p>
          <a:p>
            <a:pPr marL="0" marR="0" indent="0">
              <a:lnSpc>
                <a:spcPct val="115000"/>
              </a:lnSpc>
              <a:spcBef>
                <a:spcPts val="0"/>
              </a:spcBef>
              <a:spcAft>
                <a:spcPts val="0"/>
              </a:spcAft>
              <a:buNone/>
            </a:pPr>
            <a:r>
              <a:rPr lang="en-US" sz="2800" b="1" dirty="0">
                <a:latin typeface="Times New Roman"/>
                <a:ea typeface="Calibri"/>
                <a:cs typeface="Times New Roman"/>
              </a:rPr>
              <a:t>     }</a:t>
            </a:r>
            <a:endParaRPr lang="en-US" sz="2800" b="1" dirty="0">
              <a:ea typeface="Calibri"/>
              <a:cs typeface="Times New Roman"/>
            </a:endParaRPr>
          </a:p>
          <a:p>
            <a:pPr marL="0" marR="0" indent="0">
              <a:lnSpc>
                <a:spcPct val="115000"/>
              </a:lnSpc>
              <a:spcBef>
                <a:spcPts val="0"/>
              </a:spcBef>
              <a:spcAft>
                <a:spcPts val="0"/>
              </a:spcAft>
              <a:buNone/>
            </a:pPr>
            <a:r>
              <a:rPr lang="en-US" sz="2800" b="1" dirty="0">
                <a:latin typeface="Times New Roman"/>
                <a:ea typeface="Calibri"/>
                <a:cs typeface="Times New Roman"/>
              </a:rPr>
              <a:t>}</a:t>
            </a:r>
            <a:endParaRPr lang="en-US" sz="2800" b="1" dirty="0">
              <a:ea typeface="Calibri"/>
              <a:cs typeface="Times New Roman"/>
            </a:endParaRPr>
          </a:p>
          <a:p>
            <a:pPr marL="0" marR="0" indent="0">
              <a:lnSpc>
                <a:spcPct val="115000"/>
              </a:lnSpc>
              <a:spcBef>
                <a:spcPts val="0"/>
              </a:spcBef>
              <a:spcAft>
                <a:spcPts val="0"/>
              </a:spcAft>
              <a:buNone/>
            </a:pPr>
            <a:endParaRPr lang="en-US" sz="2800" b="1" dirty="0">
              <a:ea typeface="Calibri"/>
              <a:cs typeface="Times New Roman"/>
            </a:endParaRPr>
          </a:p>
        </p:txBody>
      </p:sp>
    </p:spTree>
    <p:extLst>
      <p:ext uri="{BB962C8B-B14F-4D97-AF65-F5344CB8AC3E}">
        <p14:creationId xmlns:p14="http://schemas.microsoft.com/office/powerpoint/2010/main" val="3413682574"/>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381000"/>
          </a:xfrm>
        </p:spPr>
        <p:txBody>
          <a:bodyPr>
            <a:noAutofit/>
          </a:bodyPr>
          <a:lstStyle/>
          <a:p>
            <a:pPr marL="0" marR="0">
              <a:lnSpc>
                <a:spcPct val="115000"/>
              </a:lnSpc>
              <a:spcBef>
                <a:spcPts val="0"/>
              </a:spcBef>
              <a:spcAft>
                <a:spcPts val="0"/>
              </a:spcAft>
            </a:pPr>
            <a:r>
              <a:rPr lang="en-US" sz="3200" b="1" dirty="0">
                <a:latin typeface="Times New Roman"/>
                <a:ea typeface="Calibri"/>
                <a:cs typeface="Times New Roman"/>
              </a:rPr>
              <a:t>Program Using analog output A0</a:t>
            </a:r>
            <a:endParaRPr lang="en-US" sz="3200" b="1" dirty="0">
              <a:ea typeface="Calibri"/>
              <a:cs typeface="Times New Roman"/>
            </a:endParaRPr>
          </a:p>
        </p:txBody>
      </p:sp>
      <p:sp>
        <p:nvSpPr>
          <p:cNvPr id="3" name="Content Placeholder 2"/>
          <p:cNvSpPr>
            <a:spLocks noGrp="1"/>
          </p:cNvSpPr>
          <p:nvPr>
            <p:ph idx="1"/>
          </p:nvPr>
        </p:nvSpPr>
        <p:spPr>
          <a:xfrm>
            <a:off x="76200" y="381000"/>
            <a:ext cx="6781800" cy="6477000"/>
          </a:xfrm>
          <a:solidFill>
            <a:schemeClr val="bg1"/>
          </a:solidFill>
        </p:spPr>
        <p:txBody>
          <a:bodyPr>
            <a:noAutofit/>
          </a:bodyPr>
          <a:lstStyle/>
          <a:p>
            <a:pPr marL="0" marR="0" indent="0">
              <a:lnSpc>
                <a:spcPct val="115000"/>
              </a:lnSpc>
              <a:spcBef>
                <a:spcPts val="0"/>
              </a:spcBef>
              <a:spcAft>
                <a:spcPts val="0"/>
              </a:spcAft>
              <a:buNone/>
            </a:pPr>
            <a:r>
              <a:rPr lang="en-US" sz="1900" dirty="0">
                <a:latin typeface="Times New Roman" pitchFamily="18" charset="0"/>
                <a:ea typeface="Calibri"/>
                <a:cs typeface="Times New Roman" pitchFamily="18" charset="0"/>
              </a:rPr>
              <a:t>#include&lt;lpc214x.h&gt;</a:t>
            </a:r>
            <a:br>
              <a:rPr lang="en-US" sz="1900" dirty="0">
                <a:latin typeface="Times New Roman" pitchFamily="18" charset="0"/>
                <a:ea typeface="Calibri"/>
                <a:cs typeface="Times New Roman" pitchFamily="18" charset="0"/>
              </a:rPr>
            </a:br>
            <a:r>
              <a:rPr lang="en-US" sz="1900" dirty="0">
                <a:latin typeface="Times New Roman" pitchFamily="18" charset="0"/>
                <a:ea typeface="Calibri"/>
                <a:cs typeface="Times New Roman" pitchFamily="18" charset="0"/>
              </a:rPr>
              <a:t>void delay(void);</a:t>
            </a:r>
            <a:br>
              <a:rPr lang="en-US" sz="1900" dirty="0">
                <a:latin typeface="Times New Roman" pitchFamily="18" charset="0"/>
                <a:ea typeface="Calibri"/>
                <a:cs typeface="Times New Roman" pitchFamily="18" charset="0"/>
              </a:rPr>
            </a:br>
            <a:r>
              <a:rPr lang="en-US" sz="1900" dirty="0" err="1">
                <a:latin typeface="Times New Roman" pitchFamily="18" charset="0"/>
                <a:ea typeface="Calibri"/>
                <a:cs typeface="Times New Roman" pitchFamily="18" charset="0"/>
              </a:rPr>
              <a:t>int</a:t>
            </a:r>
            <a:r>
              <a:rPr lang="en-US" sz="1900" dirty="0">
                <a:latin typeface="Times New Roman" pitchFamily="18" charset="0"/>
                <a:ea typeface="Calibri"/>
                <a:cs typeface="Times New Roman" pitchFamily="18" charset="0"/>
              </a:rPr>
              <a:t> main()</a:t>
            </a:r>
            <a:br>
              <a:rPr lang="en-US" sz="1900" dirty="0">
                <a:latin typeface="Times New Roman" pitchFamily="18" charset="0"/>
                <a:ea typeface="Calibri"/>
                <a:cs typeface="Times New Roman" pitchFamily="18" charset="0"/>
              </a:rPr>
            </a:br>
            <a:r>
              <a:rPr lang="en-US" sz="1900" dirty="0">
                <a:latin typeface="Times New Roman" pitchFamily="18" charset="0"/>
                <a:ea typeface="Calibri"/>
                <a:cs typeface="Times New Roman" pitchFamily="18" charset="0"/>
              </a:rPr>
              <a:t>{</a:t>
            </a:r>
            <a:br>
              <a:rPr lang="en-US" sz="1900" dirty="0">
                <a:latin typeface="Times New Roman" pitchFamily="18" charset="0"/>
                <a:ea typeface="Calibri"/>
                <a:cs typeface="Times New Roman" pitchFamily="18" charset="0"/>
              </a:rPr>
            </a:br>
            <a:r>
              <a:rPr lang="en-US" sz="1900" dirty="0" err="1">
                <a:latin typeface="Times New Roman" pitchFamily="18" charset="0"/>
                <a:ea typeface="Calibri"/>
                <a:cs typeface="Times New Roman" pitchFamily="18" charset="0"/>
              </a:rPr>
              <a:t>int</a:t>
            </a:r>
            <a:r>
              <a:rPr lang="en-US" sz="1900" dirty="0">
                <a:latin typeface="Times New Roman" pitchFamily="18" charset="0"/>
                <a:ea typeface="Calibri"/>
                <a:cs typeface="Times New Roman" pitchFamily="18" charset="0"/>
              </a:rPr>
              <a:t> adcdata;</a:t>
            </a:r>
            <a:br>
              <a:rPr lang="en-US" sz="1900" dirty="0">
                <a:latin typeface="Times New Roman" pitchFamily="18" charset="0"/>
                <a:ea typeface="Calibri"/>
                <a:cs typeface="Times New Roman" pitchFamily="18" charset="0"/>
              </a:rPr>
            </a:br>
            <a:r>
              <a:rPr lang="en-US" sz="1900" dirty="0">
                <a:latin typeface="Times New Roman" pitchFamily="18" charset="0"/>
                <a:ea typeface="Calibri"/>
                <a:cs typeface="Times New Roman" pitchFamily="18" charset="0"/>
              </a:rPr>
              <a:t>float moisture</a:t>
            </a:r>
            <a:r>
              <a:rPr lang="en-US" sz="1900" dirty="0" smtClean="0">
                <a:latin typeface="Times New Roman" pitchFamily="18" charset="0"/>
                <a:ea typeface="Calibri"/>
                <a:cs typeface="Times New Roman" pitchFamily="18" charset="0"/>
              </a:rPr>
              <a:t>;</a:t>
            </a:r>
            <a:r>
              <a:rPr lang="en-US" sz="1900" dirty="0">
                <a:latin typeface="Times New Roman" pitchFamily="18" charset="0"/>
                <a:ea typeface="Calibri"/>
                <a:cs typeface="Times New Roman" pitchFamily="18" charset="0"/>
              </a:rPr>
              <a:t/>
            </a:r>
            <a:br>
              <a:rPr lang="en-US" sz="1900" dirty="0">
                <a:latin typeface="Times New Roman" pitchFamily="18" charset="0"/>
                <a:ea typeface="Calibri"/>
                <a:cs typeface="Times New Roman" pitchFamily="18" charset="0"/>
              </a:rPr>
            </a:br>
            <a:r>
              <a:rPr lang="en-US" sz="1900" dirty="0">
                <a:latin typeface="Times New Roman" pitchFamily="18" charset="0"/>
                <a:ea typeface="Calibri"/>
                <a:cs typeface="Times New Roman" pitchFamily="18" charset="0"/>
              </a:rPr>
              <a:t> PINSEL0=0X00000000;</a:t>
            </a:r>
            <a:br>
              <a:rPr lang="en-US" sz="1900" dirty="0">
                <a:latin typeface="Times New Roman" pitchFamily="18" charset="0"/>
                <a:ea typeface="Calibri"/>
                <a:cs typeface="Times New Roman" pitchFamily="18" charset="0"/>
              </a:rPr>
            </a:br>
            <a:r>
              <a:rPr lang="en-US" sz="1900" dirty="0">
                <a:latin typeface="Times New Roman" pitchFamily="18" charset="0"/>
                <a:ea typeface="Calibri"/>
                <a:cs typeface="Times New Roman" pitchFamily="18" charset="0"/>
              </a:rPr>
              <a:t> PINSEL1=0X01000000; //Select P0.28 pin function as Analog i/p</a:t>
            </a:r>
            <a:br>
              <a:rPr lang="en-US" sz="1900" dirty="0">
                <a:latin typeface="Times New Roman" pitchFamily="18" charset="0"/>
                <a:ea typeface="Calibri"/>
                <a:cs typeface="Times New Roman" pitchFamily="18" charset="0"/>
              </a:rPr>
            </a:br>
            <a:r>
              <a:rPr lang="en-US" sz="1900" dirty="0">
                <a:latin typeface="Times New Roman" pitchFamily="18" charset="0"/>
                <a:ea typeface="Calibri"/>
                <a:cs typeface="Times New Roman" pitchFamily="18" charset="0"/>
              </a:rPr>
              <a:t> AD0CR=0x00210402; ///CHANNEL1 OF ADC0, ad </a:t>
            </a:r>
            <a:r>
              <a:rPr lang="en-US" sz="1900" dirty="0" err="1">
                <a:latin typeface="Times New Roman" pitchFamily="18" charset="0"/>
                <a:ea typeface="Calibri"/>
                <a:cs typeface="Times New Roman" pitchFamily="18" charset="0"/>
              </a:rPr>
              <a:t>freq</a:t>
            </a:r>
            <a:r>
              <a:rPr lang="en-US" sz="1900" dirty="0">
                <a:latin typeface="Times New Roman" pitchFamily="18" charset="0"/>
                <a:ea typeface="Calibri"/>
                <a:cs typeface="Times New Roman" pitchFamily="18" charset="0"/>
              </a:rPr>
              <a:t>=3MHz,</a:t>
            </a:r>
            <a:br>
              <a:rPr lang="en-US" sz="1900" dirty="0">
                <a:latin typeface="Times New Roman" pitchFamily="18" charset="0"/>
                <a:ea typeface="Calibri"/>
                <a:cs typeface="Times New Roman" pitchFamily="18" charset="0"/>
              </a:rPr>
            </a:br>
            <a:r>
              <a:rPr lang="en-US" sz="1900" dirty="0">
                <a:latin typeface="Times New Roman" pitchFamily="18" charset="0"/>
                <a:ea typeface="Calibri"/>
                <a:cs typeface="Times New Roman" pitchFamily="18" charset="0"/>
              </a:rPr>
              <a:t>while(1)</a:t>
            </a:r>
            <a:br>
              <a:rPr lang="en-US" sz="1900" dirty="0">
                <a:latin typeface="Times New Roman" pitchFamily="18" charset="0"/>
                <a:ea typeface="Calibri"/>
                <a:cs typeface="Times New Roman" pitchFamily="18" charset="0"/>
              </a:rPr>
            </a:br>
            <a:r>
              <a:rPr lang="en-US" sz="1900" dirty="0">
                <a:latin typeface="Times New Roman" pitchFamily="18" charset="0"/>
                <a:ea typeface="Calibri"/>
                <a:cs typeface="Times New Roman" pitchFamily="18" charset="0"/>
              </a:rPr>
              <a:t> {</a:t>
            </a:r>
            <a:br>
              <a:rPr lang="en-US" sz="1900" dirty="0">
                <a:latin typeface="Times New Roman" pitchFamily="18" charset="0"/>
                <a:ea typeface="Calibri"/>
                <a:cs typeface="Times New Roman" pitchFamily="18" charset="0"/>
              </a:rPr>
            </a:br>
            <a:r>
              <a:rPr lang="en-US" sz="1900" dirty="0">
                <a:latin typeface="Times New Roman" pitchFamily="18" charset="0"/>
                <a:ea typeface="Calibri"/>
                <a:cs typeface="Times New Roman" pitchFamily="18" charset="0"/>
              </a:rPr>
              <a:t> if(AD0DR1 &amp; 0x80000000) ////EOC bit monitoring</a:t>
            </a:r>
            <a:br>
              <a:rPr lang="en-US" sz="1900" dirty="0">
                <a:latin typeface="Times New Roman" pitchFamily="18" charset="0"/>
                <a:ea typeface="Calibri"/>
                <a:cs typeface="Times New Roman" pitchFamily="18" charset="0"/>
              </a:rPr>
            </a:br>
            <a:r>
              <a:rPr lang="en-US" sz="1900" dirty="0">
                <a:latin typeface="Times New Roman" pitchFamily="18" charset="0"/>
                <a:ea typeface="Calibri"/>
                <a:cs typeface="Times New Roman" pitchFamily="18" charset="0"/>
              </a:rPr>
              <a:t> {</a:t>
            </a:r>
            <a:br>
              <a:rPr lang="en-US" sz="1900" dirty="0">
                <a:latin typeface="Times New Roman" pitchFamily="18" charset="0"/>
                <a:ea typeface="Calibri"/>
                <a:cs typeface="Times New Roman" pitchFamily="18" charset="0"/>
              </a:rPr>
            </a:br>
            <a:r>
              <a:rPr lang="en-US" sz="1900" dirty="0">
                <a:latin typeface="Times New Roman" pitchFamily="18" charset="0"/>
                <a:ea typeface="Calibri"/>
                <a:cs typeface="Times New Roman" pitchFamily="18" charset="0"/>
              </a:rPr>
              <a:t>    adcdata=(AD0DR1 &amp; 0x0000FFC0);</a:t>
            </a:r>
            <a:br>
              <a:rPr lang="en-US" sz="1900" dirty="0">
                <a:latin typeface="Times New Roman" pitchFamily="18" charset="0"/>
                <a:ea typeface="Calibri"/>
                <a:cs typeface="Times New Roman" pitchFamily="18" charset="0"/>
              </a:rPr>
            </a:br>
            <a:r>
              <a:rPr lang="en-US" sz="1900" dirty="0">
                <a:latin typeface="Times New Roman" pitchFamily="18" charset="0"/>
                <a:ea typeface="Calibri"/>
                <a:cs typeface="Times New Roman" pitchFamily="18" charset="0"/>
              </a:rPr>
              <a:t>   adcdata=adcdata&gt;&gt;6;   delay();</a:t>
            </a:r>
            <a:endParaRPr lang="en-US" sz="1900" b="1" dirty="0">
              <a:latin typeface="Times New Roman" pitchFamily="18" charset="0"/>
              <a:ea typeface="Calibri"/>
              <a:cs typeface="Times New Roman" pitchFamily="18" charset="0"/>
            </a:endParaRPr>
          </a:p>
          <a:p>
            <a:pPr marL="0" indent="0">
              <a:buNone/>
            </a:pPr>
            <a:r>
              <a:rPr lang="en-US" sz="1900" b="1" dirty="0" smtClean="0">
                <a:latin typeface="Times New Roman" pitchFamily="18" charset="0"/>
                <a:ea typeface="Calibri"/>
                <a:cs typeface="Times New Roman" pitchFamily="18" charset="0"/>
              </a:rPr>
              <a:t>   </a:t>
            </a:r>
            <a:r>
              <a:rPr lang="en-US" sz="1900" dirty="0" smtClean="0">
                <a:latin typeface="Times New Roman" pitchFamily="18" charset="0"/>
                <a:ea typeface="Calibri"/>
                <a:cs typeface="Times New Roman" pitchFamily="18" charset="0"/>
              </a:rPr>
              <a:t>moisture </a:t>
            </a:r>
            <a:r>
              <a:rPr lang="en-US" sz="1900" dirty="0">
                <a:latin typeface="Times New Roman" pitchFamily="18" charset="0"/>
                <a:ea typeface="Calibri"/>
                <a:cs typeface="Times New Roman" pitchFamily="18" charset="0"/>
              </a:rPr>
              <a:t>= (100 - ( (adcdata/1024.00) * 100 ) );</a:t>
            </a:r>
            <a:br>
              <a:rPr lang="en-US" sz="1900" dirty="0">
                <a:latin typeface="Times New Roman" pitchFamily="18" charset="0"/>
                <a:ea typeface="Calibri"/>
                <a:cs typeface="Times New Roman" pitchFamily="18" charset="0"/>
              </a:rPr>
            </a:br>
            <a:r>
              <a:rPr lang="en-US" sz="1900" b="1" dirty="0">
                <a:latin typeface="Times New Roman" pitchFamily="18" charset="0"/>
                <a:ea typeface="Calibri"/>
                <a:cs typeface="Times New Roman" pitchFamily="18" charset="0"/>
              </a:rPr>
              <a:t>  }   </a:t>
            </a:r>
            <a:br>
              <a:rPr lang="en-US" sz="1900" b="1" dirty="0">
                <a:latin typeface="Times New Roman" pitchFamily="18" charset="0"/>
                <a:ea typeface="Calibri"/>
                <a:cs typeface="Times New Roman" pitchFamily="18" charset="0"/>
              </a:rPr>
            </a:br>
            <a:r>
              <a:rPr lang="en-US" sz="1900" b="1" dirty="0">
                <a:latin typeface="Times New Roman" pitchFamily="18" charset="0"/>
                <a:ea typeface="Calibri"/>
                <a:cs typeface="Times New Roman" pitchFamily="18" charset="0"/>
              </a:rPr>
              <a:t> }</a:t>
            </a:r>
            <a:br>
              <a:rPr lang="en-US" sz="1900" b="1" dirty="0">
                <a:latin typeface="Times New Roman" pitchFamily="18" charset="0"/>
                <a:ea typeface="Calibri"/>
                <a:cs typeface="Times New Roman" pitchFamily="18" charset="0"/>
              </a:rPr>
            </a:br>
            <a:r>
              <a:rPr lang="en-US" sz="1900" b="1" dirty="0">
                <a:latin typeface="Times New Roman" pitchFamily="18" charset="0"/>
                <a:ea typeface="Calibri"/>
                <a:cs typeface="Times New Roman" pitchFamily="18" charset="0"/>
              </a:rPr>
              <a:t>}</a:t>
            </a:r>
            <a:r>
              <a:rPr lang="en-US" sz="1900" b="1" dirty="0">
                <a:latin typeface="Times New Roman"/>
                <a:ea typeface="Calibri"/>
              </a:rPr>
              <a:t/>
            </a:r>
            <a:br>
              <a:rPr lang="en-US" sz="1900" b="1" dirty="0">
                <a:latin typeface="Times New Roman"/>
                <a:ea typeface="Calibri"/>
              </a:rPr>
            </a:br>
            <a:endParaRPr lang="en-US" sz="1900" b="1" dirty="0">
              <a:ea typeface="Calibri"/>
              <a:cs typeface="Times New Roman"/>
            </a:endParaRPr>
          </a:p>
        </p:txBody>
      </p:sp>
      <p:sp>
        <p:nvSpPr>
          <p:cNvPr id="5" name="Rectangle 4"/>
          <p:cNvSpPr/>
          <p:nvPr/>
        </p:nvSpPr>
        <p:spPr>
          <a:xfrm>
            <a:off x="6600371" y="3797598"/>
            <a:ext cx="2438400" cy="2923877"/>
          </a:xfrm>
          <a:prstGeom prst="rect">
            <a:avLst/>
          </a:prstGeom>
          <a:solidFill>
            <a:schemeClr val="bg1"/>
          </a:solidFill>
        </p:spPr>
        <p:txBody>
          <a:bodyPr wrap="square">
            <a:spAutoFit/>
          </a:bodyPr>
          <a:lstStyle/>
          <a:p>
            <a:pPr marL="76200" marR="0">
              <a:lnSpc>
                <a:spcPct val="115000"/>
              </a:lnSpc>
              <a:spcBef>
                <a:spcPts val="0"/>
              </a:spcBef>
              <a:spcAft>
                <a:spcPts val="0"/>
              </a:spcAft>
            </a:pPr>
            <a:r>
              <a:rPr lang="en-US" sz="2000" dirty="0">
                <a:latin typeface="Times New Roman"/>
                <a:ea typeface="Calibri"/>
                <a:cs typeface="Times New Roman"/>
              </a:rPr>
              <a:t>void delay(void)</a:t>
            </a:r>
            <a:br>
              <a:rPr lang="en-US" sz="2000" dirty="0">
                <a:latin typeface="Times New Roman"/>
                <a:ea typeface="Calibri"/>
                <a:cs typeface="Times New Roman"/>
              </a:rPr>
            </a:br>
            <a:r>
              <a:rPr lang="en-US" sz="2000" dirty="0">
                <a:latin typeface="Times New Roman"/>
                <a:ea typeface="Calibri"/>
                <a:cs typeface="Times New Roman"/>
              </a:rPr>
              <a:t>{</a:t>
            </a:r>
            <a:br>
              <a:rPr lang="en-US" sz="2000" dirty="0">
                <a:latin typeface="Times New Roman"/>
                <a:ea typeface="Calibri"/>
                <a:cs typeface="Times New Roman"/>
              </a:rPr>
            </a:br>
            <a:r>
              <a:rPr lang="en-US" sz="2000" dirty="0" err="1">
                <a:latin typeface="Times New Roman"/>
                <a:ea typeface="Calibri"/>
                <a:cs typeface="Times New Roman"/>
              </a:rPr>
              <a:t>int</a:t>
            </a:r>
            <a:r>
              <a:rPr lang="en-US" sz="2000" dirty="0">
                <a:latin typeface="Times New Roman"/>
                <a:ea typeface="Calibri"/>
                <a:cs typeface="Times New Roman"/>
              </a:rPr>
              <a:t> </a:t>
            </a:r>
            <a:r>
              <a:rPr lang="en-US" sz="2000" dirty="0" err="1">
                <a:latin typeface="Times New Roman"/>
                <a:ea typeface="Calibri"/>
                <a:cs typeface="Times New Roman"/>
              </a:rPr>
              <a:t>i,j</a:t>
            </a:r>
            <a:r>
              <a:rPr lang="en-US" sz="2000" dirty="0">
                <a:latin typeface="Times New Roman"/>
                <a:ea typeface="Calibri"/>
                <a:cs typeface="Times New Roman"/>
              </a:rPr>
              <a:t>;</a:t>
            </a:r>
            <a:br>
              <a:rPr lang="en-US" sz="2000" dirty="0">
                <a:latin typeface="Times New Roman"/>
                <a:ea typeface="Calibri"/>
                <a:cs typeface="Times New Roman"/>
              </a:rPr>
            </a:br>
            <a:r>
              <a:rPr lang="en-US" sz="2000" dirty="0">
                <a:latin typeface="Times New Roman"/>
                <a:ea typeface="Calibri"/>
                <a:cs typeface="Times New Roman"/>
              </a:rPr>
              <a:t>for(i=0;i&lt;1000;i++)</a:t>
            </a:r>
            <a:br>
              <a:rPr lang="en-US" sz="2000" dirty="0">
                <a:latin typeface="Times New Roman"/>
                <a:ea typeface="Calibri"/>
                <a:cs typeface="Times New Roman"/>
              </a:rPr>
            </a:br>
            <a:r>
              <a:rPr lang="en-US" sz="2000" dirty="0">
                <a:latin typeface="Times New Roman"/>
                <a:ea typeface="Calibri"/>
                <a:cs typeface="Times New Roman"/>
              </a:rPr>
              <a:t>for(j=0;j&lt;10000;j++);</a:t>
            </a:r>
            <a:br>
              <a:rPr lang="en-US" sz="2000" dirty="0">
                <a:latin typeface="Times New Roman"/>
                <a:ea typeface="Calibri"/>
                <a:cs typeface="Times New Roman"/>
              </a:rPr>
            </a:br>
            <a:r>
              <a:rPr lang="en-US" sz="2000" dirty="0">
                <a:latin typeface="Times New Roman"/>
                <a:ea typeface="Calibri"/>
                <a:cs typeface="Times New Roman"/>
              </a:rPr>
              <a:t>}</a:t>
            </a:r>
            <a:endParaRPr lang="en-US" sz="2400" b="1" dirty="0">
              <a:ea typeface="Calibri"/>
              <a:cs typeface="Times New Roman"/>
            </a:endParaRPr>
          </a:p>
          <a:p>
            <a:pPr marL="171450" marR="0" algn="just">
              <a:lnSpc>
                <a:spcPct val="115000"/>
              </a:lnSpc>
              <a:spcBef>
                <a:spcPts val="0"/>
              </a:spcBef>
              <a:spcAft>
                <a:spcPts val="0"/>
              </a:spcAft>
            </a:pPr>
            <a:r>
              <a:rPr lang="en-US" sz="2000" dirty="0">
                <a:latin typeface="Times New Roman"/>
                <a:ea typeface="Calibri"/>
                <a:cs typeface="Times New Roman"/>
              </a:rPr>
              <a:t> </a:t>
            </a:r>
            <a:endParaRPr lang="en-US" sz="2400" b="1" dirty="0">
              <a:ea typeface="Calibri"/>
              <a:cs typeface="Times New Roman"/>
            </a:endParaRPr>
          </a:p>
        </p:txBody>
      </p:sp>
    </p:spTree>
    <p:extLst>
      <p:ext uri="{BB962C8B-B14F-4D97-AF65-F5344CB8AC3E}">
        <p14:creationId xmlns:p14="http://schemas.microsoft.com/office/powerpoint/2010/main" val="431136473"/>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solidFill>
            <a:schemeClr val="bg1"/>
          </a:solidFill>
        </p:spPr>
        <p:txBody>
          <a:bodyPr>
            <a:noAutofit/>
          </a:bodyPr>
          <a:lstStyle/>
          <a:p>
            <a:pPr marL="0" indent="0" algn="ctr">
              <a:buNone/>
            </a:pPr>
            <a:r>
              <a:rPr lang="en-US" sz="11500" b="1" i="1" dirty="0" smtClean="0">
                <a:solidFill>
                  <a:srgbClr val="FF0000"/>
                </a:solidFill>
              </a:rPr>
              <a:t>Thank You</a:t>
            </a:r>
          </a:p>
          <a:p>
            <a:pPr marL="0" indent="0" algn="ctr">
              <a:buNone/>
            </a:pPr>
            <a:r>
              <a:rPr lang="en-US" sz="11500" b="1" i="1" dirty="0" smtClean="0">
                <a:solidFill>
                  <a:srgbClr val="FF0000"/>
                </a:solidFill>
              </a:rPr>
              <a:t> ?</a:t>
            </a:r>
            <a:endParaRPr lang="en-US" sz="11500" b="1" i="1" dirty="0">
              <a:solidFill>
                <a:srgbClr val="FF0000"/>
              </a:solidFill>
            </a:endParaRPr>
          </a:p>
        </p:txBody>
      </p:sp>
    </p:spTree>
    <p:extLst>
      <p:ext uri="{BB962C8B-B14F-4D97-AF65-F5344CB8AC3E}">
        <p14:creationId xmlns:p14="http://schemas.microsoft.com/office/powerpoint/2010/main" val="46679957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Grid">
      <a:dk1>
        <a:sysClr val="windowText" lastClr="000000"/>
      </a:dk1>
      <a:lt1>
        <a:sysClr val="window" lastClr="FFFFFF"/>
      </a:lt1>
      <a:dk2>
        <a:srgbClr val="534949"/>
      </a:dk2>
      <a:lt2>
        <a:srgbClr val="CCD1B9"/>
      </a:lt2>
      <a:accent1>
        <a:srgbClr val="C66951"/>
      </a:accent1>
      <a:accent2>
        <a:srgbClr val="BF974D"/>
      </a:accent2>
      <a:accent3>
        <a:srgbClr val="928B70"/>
      </a:accent3>
      <a:accent4>
        <a:srgbClr val="87706B"/>
      </a:accent4>
      <a:accent5>
        <a:srgbClr val="94734E"/>
      </a:accent5>
      <a:accent6>
        <a:srgbClr val="6F777D"/>
      </a:accent6>
      <a:hlink>
        <a:srgbClr val="CC9900"/>
      </a:hlink>
      <a:folHlink>
        <a:srgbClr val="C0C0C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522849</TotalTime>
  <Words>4132</Words>
  <Application>Microsoft Office PowerPoint</Application>
  <PresentationFormat>On-screen Show (4:3)</PresentationFormat>
  <Paragraphs>782</Paragraphs>
  <Slides>74</Slides>
  <Notes>4</Notes>
  <HiddenSlides>0</HiddenSlides>
  <MMClips>0</MMClips>
  <ScaleCrop>false</ScaleCrop>
  <HeadingPairs>
    <vt:vector size="4" baseType="variant">
      <vt:variant>
        <vt:lpstr>Theme</vt:lpstr>
      </vt:variant>
      <vt:variant>
        <vt:i4>1</vt:i4>
      </vt:variant>
      <vt:variant>
        <vt:lpstr>Slide Titles</vt:lpstr>
      </vt:variant>
      <vt:variant>
        <vt:i4>74</vt:i4>
      </vt:variant>
    </vt:vector>
  </HeadingPairs>
  <TitlesOfParts>
    <vt:vector size="75" baseType="lpstr">
      <vt:lpstr>Office Theme</vt:lpstr>
      <vt:lpstr> UNIT III: ARM7 Based Microcontrollers LPC 2148 </vt:lpstr>
      <vt:lpstr>  Features of LPC2148:- </vt:lpstr>
      <vt:lpstr> Features of LPC2148  Cont… </vt:lpstr>
      <vt:lpstr>Architecture of LPC2148 (Block Diagram and Its Description):</vt:lpstr>
      <vt:lpstr>Architecture of LPC2148  Cont…..</vt:lpstr>
      <vt:lpstr>Architecture of LPC2148  Cont…..</vt:lpstr>
      <vt:lpstr>Architecture of LPC2148  Cont…..</vt:lpstr>
      <vt:lpstr>Architecture of LPC2148  Cont…..</vt:lpstr>
      <vt:lpstr> System Control block (PLL &amp; VPB Divider) </vt:lpstr>
      <vt:lpstr>PLL (Phased Lock Loop):   </vt:lpstr>
      <vt:lpstr>PLL Architecture</vt:lpstr>
      <vt:lpstr>PowerPoint Presentation</vt:lpstr>
      <vt:lpstr>PowerPoint Presentation</vt:lpstr>
      <vt:lpstr>PowerPoint Presentation</vt:lpstr>
      <vt:lpstr>PowerPoint Presentation</vt:lpstr>
      <vt:lpstr>PowerPoint Presentation</vt:lpstr>
      <vt:lpstr>PLL Programming flow chart</vt:lpstr>
      <vt:lpstr> VPB Divider: </vt:lpstr>
      <vt:lpstr>PowerPoint Presentation</vt:lpstr>
      <vt:lpstr>PowerPoint Presentation</vt:lpstr>
      <vt:lpstr> Memory map </vt:lpstr>
      <vt:lpstr>PowerPoint Presentation</vt:lpstr>
      <vt:lpstr>PowerPoint Presentation</vt:lpstr>
      <vt:lpstr>PowerPoint Presentation</vt:lpstr>
      <vt:lpstr> Pin Connect Block:  </vt:lpstr>
      <vt:lpstr>PowerPoint Presentation</vt:lpstr>
      <vt:lpstr>PowerPoint Presentation</vt:lpstr>
      <vt:lpstr>PowerPoint Presentation</vt:lpstr>
      <vt:lpstr>PowerPoint Presentation</vt:lpstr>
      <vt:lpstr> GPIO (General Purpose Input Output) :  </vt:lpstr>
      <vt:lpstr>PowerPoint Presentation</vt:lpstr>
      <vt:lpstr> IODIR </vt:lpstr>
      <vt:lpstr>PowerPoint Presentation</vt:lpstr>
      <vt:lpstr>PowerPoint Presentation</vt:lpstr>
      <vt:lpstr> Timer </vt:lpstr>
      <vt:lpstr>Block diagram of timer</vt:lpstr>
      <vt:lpstr>Timer  Cont….</vt:lpstr>
      <vt:lpstr>Timer  Cont….</vt:lpstr>
      <vt:lpstr>Timer  Cont….</vt:lpstr>
      <vt:lpstr>PowerPoint Presentation</vt:lpstr>
      <vt:lpstr>Timer  Cont….</vt:lpstr>
      <vt:lpstr> Timer  Cont…. </vt:lpstr>
      <vt:lpstr> Prescale Register Value Calculation </vt:lpstr>
      <vt:lpstr>Timer Programming Example 1   Microsecond delay using timer</vt:lpstr>
      <vt:lpstr>1   Millisecond delay using timer</vt:lpstr>
      <vt:lpstr>1   Second delay using timer</vt:lpstr>
      <vt:lpstr>Interfacing LEDs to ARM 7 Controller- (LPC2148 ):</vt:lpstr>
      <vt:lpstr>Interfacing LEDs to ARM 7 Controller (LPC2148)</vt:lpstr>
      <vt:lpstr> Program to Blink LED </vt:lpstr>
      <vt:lpstr> Program to Blink LED </vt:lpstr>
      <vt:lpstr> Program to Blink LED  Cont.. </vt:lpstr>
      <vt:lpstr>PowerPoint Presentation</vt:lpstr>
      <vt:lpstr>Interfacing LCD to ARM 7 Controller (LPC2148)</vt:lpstr>
      <vt:lpstr>PowerPoint Presentation</vt:lpstr>
      <vt:lpstr>PowerPoint Presentation</vt:lpstr>
      <vt:lpstr>PowerPoint Presentation</vt:lpstr>
      <vt:lpstr> Interfacing Diagram of LCD With LPC2148 </vt:lpstr>
      <vt:lpstr> Algorithm to display message on  LCD : </vt:lpstr>
      <vt:lpstr>Program to display message on LCD</vt:lpstr>
      <vt:lpstr>PowerPoint Presentation</vt:lpstr>
      <vt:lpstr>PowerPoint Presentation</vt:lpstr>
      <vt:lpstr>Working of Relay</vt:lpstr>
      <vt:lpstr>Interfacing of Relay with LPC 2148</vt:lpstr>
      <vt:lpstr>Program to turn Relay ON and Off</vt:lpstr>
      <vt:lpstr>Interfacing of Buzzer using Relay with LPC 2148</vt:lpstr>
      <vt:lpstr>Program to turn Buzzer ON and Off</vt:lpstr>
      <vt:lpstr>Interfacing Motion Sensor and Buzzer with LPC 2148</vt:lpstr>
      <vt:lpstr>Program to turn on buzzer in the presence of human</vt:lpstr>
      <vt:lpstr>Interfacing of soil moisture sensor with LPC 2148</vt:lpstr>
      <vt:lpstr>Interfacing of soil moisture sensor with LPC 2148</vt:lpstr>
      <vt:lpstr>Interfacing of soil moisture sensor with LPC 2148</vt:lpstr>
      <vt:lpstr>Program Using Digital output D0</vt:lpstr>
      <vt:lpstr>Program Using analog output A0</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Embedded Processor  (TE Electronics)   UNIT II: ARM7 Base Microcontrollers  </dc:title>
  <dc:creator>Shakil</dc:creator>
  <cp:lastModifiedBy>d g</cp:lastModifiedBy>
  <cp:revision>186</cp:revision>
  <dcterms:created xsi:type="dcterms:W3CDTF">2006-08-16T00:00:00Z</dcterms:created>
  <dcterms:modified xsi:type="dcterms:W3CDTF">2026-02-18T10:33:10Z</dcterms:modified>
</cp:coreProperties>
</file>